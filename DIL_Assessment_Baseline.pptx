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647"/>
  </p:normalViewPr>
  <p:slideViewPr>
    <p:cSldViewPr snapToGrid="0">
      <p:cViewPr varScale="1">
        <p:scale>
          <a:sx n="149" d="100"/>
          <a:sy n="149" d="100"/>
        </p:scale>
        <p:origin x="19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Control group</c:v>
          </c:tx>
          <c:spPr>
            <a:solidFill>
              <a:srgbClr val="007E87"/>
            </a:solidFill>
          </c:spPr>
          <c:invertIfNegative val="1"/>
          <c:dLbls>
            <c:spPr>
              <a:noFill/>
              <a:ln>
                <a:noFill/>
              </a:ln>
              <a:effectLst/>
            </c:spPr>
            <c:txPr>
              <a:bodyPr anchorCtr="1"/>
              <a:lstStyle/>
              <a:p>
                <a:pPr>
                  <a:defRPr sz="1650" b="1">
                    <a:solidFill>
                      <a:srgbClr val="12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A 2020</c:v>
                </c:pt>
                <c:pt idx="1">
                  <c:v>A 2022</c:v>
                </c:pt>
                <c:pt idx="2">
                  <c:v>B 2018</c:v>
                </c:pt>
              </c:strCache>
            </c:strRef>
          </c:cat>
          <c:val>
            <c:numRef>
              <c:f>'Chart Data'!$B$2:$B$4</c:f>
              <c:numCache>
                <c:formatCode>0%</c:formatCode>
                <c:ptCount val="3"/>
                <c:pt idx="0">
                  <c:v>0.53752181500872598</c:v>
                </c:pt>
                <c:pt idx="1">
                  <c:v>0.65384615384615397</c:v>
                </c:pt>
                <c:pt idx="2">
                  <c:v>0.40540540540540498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B1-8248-BC0C-9EA5E0A026B8}"/>
            </c:ext>
          </c:extLst>
        </c:ser>
        <c:ser>
          <c:idx val="1"/>
          <c:order val="1"/>
          <c:tx>
            <c:v>Treatment group</c:v>
          </c:tx>
          <c:spPr>
            <a:solidFill>
              <a:srgbClr val="122D45"/>
            </a:solidFill>
          </c:spPr>
          <c:invertIfNegative val="1"/>
          <c:dLbls>
            <c:spPr>
              <a:noFill/>
              <a:ln>
                <a:noFill/>
              </a:ln>
              <a:effectLst/>
            </c:spPr>
            <c:txPr>
              <a:bodyPr anchorCtr="1"/>
              <a:lstStyle/>
              <a:p>
                <a:pPr>
                  <a:defRPr sz="1650" b="1">
                    <a:solidFill>
                      <a:srgbClr val="12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A 2020</c:v>
                </c:pt>
                <c:pt idx="1">
                  <c:v>A 2022</c:v>
                </c:pt>
                <c:pt idx="2">
                  <c:v>B 2018</c:v>
                </c:pt>
              </c:strCache>
            </c:strRef>
          </c:cat>
          <c:val>
            <c:numRef>
              <c:f>'Chart Data'!$D$2:$D$4</c:f>
              <c:numCache>
                <c:formatCode>0%</c:formatCode>
                <c:ptCount val="3"/>
                <c:pt idx="0">
                  <c:v>0.69661016949152499</c:v>
                </c:pt>
                <c:pt idx="1">
                  <c:v>0.81379310344827605</c:v>
                </c:pt>
                <c:pt idx="2">
                  <c:v>0.59090909090909105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AB1-8248-BC0C-9EA5E0A026B8}"/>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E6EDF1"/>
            </a:solidFill>
          </a:ln>
        </c:spPr>
        <c:txPr>
          <a:bodyPr anchorCtr="1"/>
          <a:lstStyle/>
          <a:p>
            <a:pPr>
              <a:defRPr sz="1725">
                <a:solidFill>
                  <a:srgbClr val="122D45"/>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6EDF1"/>
              </a:solidFill>
            </a:ln>
          </c:spPr>
        </c:majorGridlines>
        <c:numFmt formatCode="0%" sourceLinked="1"/>
        <c:majorTickMark val="none"/>
        <c:minorTickMark val="none"/>
        <c:tickLblPos val="nextTo"/>
        <c:spPr>
          <a:ln w="0">
            <a:noFill/>
          </a:ln>
        </c:spPr>
        <c:txPr>
          <a:bodyPr anchorCtr="1"/>
          <a:lstStyle/>
          <a:p>
            <a:pPr>
              <a:defRPr sz="1500">
                <a:solidFill>
                  <a:srgbClr val="526272"/>
                </a:solidFill>
                <a:latin typeface="Arial"/>
                <a:ea typeface="Arial"/>
                <a:cs typeface="Arial"/>
              </a:defRPr>
            </a:pPr>
            <a:endParaRPr lang="en-US"/>
          </a:p>
        </c:txPr>
        <c:crossAx val="48650112"/>
        <c:crosses val="autoZero"/>
        <c:crossBetween val="between"/>
        <c:majorUnit val="0.2"/>
      </c:valAx>
      <c:spPr>
        <a:solidFill>
          <a:srgbClr val="FFFFFF"/>
        </a:solidFill>
        <a:ln w="0">
          <a:noFill/>
        </a:ln>
      </c:spPr>
    </c:plotArea>
    <c:legend>
      <c:legendPos val="b"/>
      <c:overlay val="0"/>
      <c:txPr>
        <a:bodyPr anchorCtr="1"/>
        <a:lstStyle/>
        <a:p>
          <a:pPr>
            <a:defRPr sz="1650">
              <a:solidFill>
                <a:srgbClr val="122D45"/>
              </a:solidFill>
              <a:latin typeface="Arial"/>
              <a:ea typeface="Arial"/>
              <a:cs typeface="Arial"/>
            </a:defRPr>
          </a:pPr>
          <a:endParaRPr lang="en-US"/>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15 main slides, approximately 15 minutes with concise narration, followed by nine appendix slides for questions. The primary policy question is how offering the government subsidy affects schooling, family formation and paid work among A2020 applicants. The lottery identifies an offer effect under valid random assignment and the stated measurement assumptions. The analysis retains the private-school attendance effect and evaluates its role as the first stage for a separate instrumental-variable exercise. Age at application defines exploratory baseline subgroups. Controls and fixed effects appear as additional appendix specifications while the pooled primary estimates remain unchanged.</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45 seconds. The supplied description specifies oversubscription lotteries for eligible low-income applicants. A2020 contains 1,176 applicants, 593 offered and 583 not offered the subsidy. A2022 has 277 applicants, 146 offered. B2018 has 165 applicants, 91 offered. The user identifies A2020 as the principal cohort after correspondence. This target change is explicit and is not represented as pre-registration. Matching is one to one for every applicant in these extracts. A2020 age changes mostly equal two or three years. A2022 and B2018 imply shorter and longer elapsed periods, respectively, but exact survey dates remain unobserved. Cross-cohort comparisons mix duration with application year and, for B2018, municipality. They cannot isolate a causal change in effects over time.</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45 seconds. Audit steps: inspect raw missing tokens and ranges, confirm key uniqueness, examine merge coverage, compare missingness by cohort and assignment, then cross-check age pairs, grade indicators, parental ages and work responses. Eleven age pairs decline. A2020 has one declining pair and 16 broader timing flags; A2022 has ten declines and 252 broader flags, while B2018 has no declines and 82 broader flags. The 350 outside-2-to-4 count is a screening concern, not 350 proven errors. It overlaps other flags. Exact dates are unavailable, so imposing a uniform three-year age increase or deleting every broad timing flag would be unjustified. School years since allocation above four occur for 176 applicants, while age-based duration flags are more common and can reflect inconsistent field definitions. The report lists all relevant records and checks. One respondent, ID100767, reports working=0 and hours_worked=4. Thirty-two workers report zero weekly hours, possibly because reference periods differ. Main outcomes retain reported values, including observed zero hours. Missing hours stay missing. Hours analyses cover all applicants with observed hours rather than conditioning on employment, which the offer may affect.</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45 seconds. The counterfactual question is whether the control group approximates the selected applicants' outcomes without the subsidy offer. Under the stated applicant lottery, assignment is independent of potential outcomes, so the within-A2020 selected-minus-control comparison identifies the intention-to-treat offer effect in expectation. This claim depends on correct implementation, consistency and no interference, and on the observed outcome sample supporting the comparison. The A2020 fixed-arm-count Mahalanobis permutation balance p-value is .6038, based on 9,999 draws. It tests baseline sex, mean-filled application age and socioeconomic stratum with their missingness indicators. Phone is constant in A2020 and contributes no variation. Neighborhood categories are not in this balance statistic. It does not reject joint balance, but neither a large p-value nor a small collection of baseline differences proves randomization. All 1,176 baseline IDs match the supplied follow-up extract. This record match is not proof that every original lottery applicant responded or that all items are observed. For current private attendance, 573 of583 controls and590 of593 selected applicants have observed values, leaving10 and3 missing respectively. Complete-case effects could be biased if outcome observation depends on assignment and potential outcomes. The table Ns on subsequent slides transparently show outcome-specific missingness. Household or school spillovers could also make one applicant's outcomes depend on others' offers. Exact follow-up dates remain unavailable, so timing is a measurement concern. Private attendance among control applicants is valid two-sided schooling uptake, not a violation of random assignment of the subsidy offer. It matters for interpreting schooling ATT versus IV LATE, which slide11 explains. The smaller B2018 cohort has balance concerns and remains a separate contextual check.</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55 seconds. These retain the original schooling outcomes as complementary results for the primary cohort. Treatment group means lottery-selected applicants and control group means nonselected applicants. Means use each observed outcome sample, and the p-value column reports the raw two-sided HC2/t test of a zero offer effect. Current enrollment +2.0764 pp, interval -2.1803 to +6.3332. Current private attendance +15.9088 pp, interval +10.3823 to +21.4354. Highest grade +0.1877 grades, interval +0.0793 to +0.2960. Grade repetitions -0.06455 counts, interval -0.11850 to -0.01059. Repetitions are counts per applicant, so the change is about 6.45 fewer repetitions per 100 applicants rather than a percentage-point change in a repetition indicator. The five policy outcomes and four complementary schooling outcomes form separate reported testing families. These families were chosen during this revision and were not preregistered. As a broader sensitivity check, Holm correction across all nine A2020 outcomes retains current private attendance (adjusted p less than .001) and highest grade completed (adjusted p=.00563), while grade repetitions no longer rejects zero (adjusted p=.13362). Thus the repetition finding depends on the reported family definition. Highest grade completed differs from years_in_school, which counts school years since allocation. Retain reported highest grade and check unresolved completion-flag contradictions. Private attendance uses all observed respondents, never only those currently enrolled, because enrollment itself may respond to the offer. These offer effects concern the policy under actual take-up and renewal patterns.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70 seconds. Primary analysis compares all observed outcomes between winners and non-winners in A2020. Treatment group means lottery-selected applicants and control group means nonselected applicants, regardless of actual receipt or school choice. Each mean uses that outcome-specific observed sample. The p-value column shows the raw two-sided HC2/t test of a zero lottery-offer coefficient. Offer effects: school years since allocation +0.0931, 95% interval -0.0143 to +0.2004. Marriage or cohabitation -0.8841 percentage points, interval -2.1808 to +0.4127. Parenthood -1.2644 pp, interval -3.2252 to +0.6965. Paid work -4.1334 pp, interval -8.4336 to +0.1668. Weekly work hours -1.4635, interval -2.7643 to -0.1626. Binary effects are percentage points, distinct from percentage changes. Hours include everyone with observed hours, including non-workers and observed zeros. School years, working and hours have N=1171; marriage and child have N=1169. No policy outcome requires observed private schooling for this ITT. The five new outcomes form one reported family for Holm correction. Their adjusted p-values are .2677, .3626, .3626, .2382 and .1375. Thus no effect rejects zero at familywise 5%. These exploratory priorities follow the user's revision and are not preregistered. The direction of lower work is compatible with more study time, but its welfare meaning remains unmeasured. Statistical imprecision cannot establish zero effect. The target is sampled applicants, not the whole municipality.</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55 seconds. This main slide answers the assessment's interest in whether the offer changes schooling differently for girls and boys. It reuses the same four schooling regressions shown with all nine outcomes in the appendix on slide20. The supplied male indicator defines Boy=1 and Girl=0. In the displayed interaction model, tau is the girls' offer effect, tau+delta is the boys' effect, and delta directly tests the difference. The enrollment effect is +6.4 percentage points for girls and -2.2pp for boys. The direct boys-minus-girls interaction has raw p=.048 and four-schooling-family Holm p=.192. The private-attendance effect is positive in both groups, about+18.4pp for girls and+13.5pp for boys; the direct difference p=.387 does not establish different responses. Highest-grade effects and repetition effects also do not differ clearly by sex. A significant coefficient in one group and an insignificant coefficient in the other is insufficient evidence of heterogeneity. These exploratory analyses use only a preassignment subgroup, preserve outcome-specific observation, and use HC2/t uncertainty. None of the four direct schooling interactions clears the Holm correction. The pooled cohort estimates remain the primary schooling results.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50 seconds. The user specified age groups 10–11, 12–13 and 14–18 years, using age_at_application only. These are baseline age groups, not grades. The study begins at grade-6 entry, and the data do not provide individual pre-lottery grade levels from which actual grade strata could be reconstructed. Group sizes are 215 (102 control, 113 selected), 634 (307 control, 327 selected), and 271 (141 control, 130 selected). Fifty-six applicants have missing application age (33 control, 23 selected). They remain in the pooled primary analyses and are unclassified for this age analysis. No follow-up grade or follow-up age determines a subgroup. Each displayed age-group estimate is the unadjusted selected-minus-control mean difference among observed outcomes in that group, with HC2 standard errors and a t reference using n-2 degrees of freedom. The Equality p column directly tests whether the three offer coefficients are equal, using an HC2 joint F test from a fully interacted age-group model. A significant coefficient in one age group and an insignificant coefficient in another does not establish different effects. These additional analyses are exploratory and were selected during revision. No reported age-equality test has raw p below .05. Holm adjustment uses five policy equality tests or four schooling equality tests as separate families; unreportable tests still count in the stated family size for that calculation. Marriage and parenthood have zero observed events in the youngest group, so we suppress degenerate HC2 intervals and p-values in that group, and also suppress the unstable joint age-equality inference for those two outcomes. Zero observed events does not establish no population effect. The header applicant counts refer to the full age group, while outcome-observed Ns vary. School years completed: observed N 10-11 215, 12-13 631, 14-18 270. Married or cohabiting: observed N 10-11 215, 12-13 630, 14-18 269. Has a child: observed N 10-11 215, 12-13 630, 14-18 269. Doing paid work: observed N 10-11 215, 12-13 631, 14-18 270. Weekly hours worked: observed N 10-11 215, 12-13 631, 14-18 270. School years completed refers to years since allocation, not lifetime attainment. Its raw age-equality p-value is .0771 and its five-policy-family Holm p-value is .3854. Working and hours equality p-values are .4763 and .2693, both Holm p=1. Marriage and parenthood joint p-values are not reported because the youngest group has no observed events. The full-cohort estimates on slide 5 remain the primary policy results.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45 seconds. Private attendance is both a policy result and the first stage for the proposed IV. The chart uses all observed private-status records in each cohort. It shows offered and no-offer levels, with the first-stage difference and a 95% interval directly below. A2020 no-offer private attendance is 53.75%, offered attendance 69.66%, a 15.91-pp increase. The robust F statistic is the square of the HC2 t statistic on selection in a regression of current private attendance on selection and an intercept. It describes first-stage relevance, not validity of exclusion or monotonicity. The all-observed-private-status first-stage F values shown here are approximately 31.9 in A2020, 9.1 in A2022 and 5.7 in B2018. Private-status missingness means the all-observed-D first stage on this slide differs slightly from IV first stages estimated on each Y,D,Z-complete sample. Every IV model uses its own common sample in both reduced form and first stage.</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60 seconds. Denominators include applicants who report grade-6 private entry and have observed current private status. A2020 selected applicants show 150 observed exits among 552 such histories (27.2%); controls show 208 among 498 (41.8%). These rates condition on grade-6 private entry, which occurs after assignment and may respond to it. Comparing the two conditional rates is descriptive and is not itself a causal effect of the offer on leaving. The report also supplies conditional transition frequencies, missing-history categories and applicant IDs. An exit from private attendance can mean attendance elsewhere or no current enrollment. No current enrollment can reflect school completion, so avoid automatically labeling it dropout. The grade-6 report is a retrospective start history rather than a pre-lottery private-school baseline. Private-school attendance can change across school years without violating monotonicity, because monotonicity compares D(1) with D(0) at the same follow-up, not D at grade 6 with D at follow-up. Neither an observed selected exit nor a positive first stage reveals individual compliance type.</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60 seconds. The requested ATT now concerns private-school uptake D, not receipt of the subsidy. Define Y(1) and Y(0) as potential outcomes under private attendance versus no private attendance, and ATT_D=E[Y(1)-Y(0)|D=1] among actual private-school attenders under the observed assignment regime. Z is the randomly allocated subsidy offer. This actual D=1 group differs from the hypothetical group that would attend if offered, D(1)=1. The observed private-attendance rates are 53.7522% among controls and69.6610% among selected applicants, based on each observed-D sample. Substantial control attendance shows two-sided schooling uptake. Under random assignment, relevance, exclusion, monotonicity, consistency and no interference, the unadjusted IV ratio identifies the mean private-school effect for compliers whose attendance responds to the offer. Under monotonicity, actual private-school attenders comprise always-attenders and selected compliers. The lottery does not reveal the counterfactual no-private-school outcomes of always-attenders, so their average treatment effect is not generally identified. LATE need not equal ATT for the combined actual-attender group. Equality would require an additional assumption, such as equal mean treatment effects for always-attenders and compliers. One-sided uptake D(0)=0 would also make actual attenders selected compliers, but that condition contradicts the observed control attendance in this dataset. No ATT number is claimed and no mixture weights are estimated. A direct regression of outcomes on actual private attendance would generally be confounded by selection, even when offer assignment is valid. Moreover, direct subsidy resource channels and earlier schooling trajectories threaten exclusion for binary current attendance. The strongest identified policy result remains the randomized offer effect. Methodological source: Angrist, Imbens and Rubin (1996), article and Rejoinder, especially pages469–470, https://www.math.mcgill.ca/dstephens/AngristIV1996-JASA-Combined.pdf.</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70 seconds. Estimate a Wald ratio of the offer effect on each outcome to the offer effect on private attendance, with both regressions restricted to exactly the same complete Y,D,Z sample. This is just-identified 2SLS with an intercept. Y=school years, work and hours have N=1162; marriage and child have N=1161. These differ from the primary ITT sample counts because D is missing for some applicants. The IV coefficients are +0.4967 school years, -6.6373 pp married/cohabiting, -9.0899 pp having a child, -24.8026 pp working, and -8.9765 hours per week. The intervals shown invert robust tests of Y-beta*D on selection using HC2 covariance and t reference, so they are weak-instrument-robust AR-type sets under the maintained instrument validity assumptions. They are approximate, not exact randomization intervals. A2020 sets are bounded. For hours, the AR p-value at zero is .03165, and Holm adjustment across five IV outcomes raises it to .15823. Baseline-adjusted current-private IV for hours has an AR set of approximately [-17.083, +0.025], including zero. The AR p-value column uses the same robust AR test that defines the displayed confidence sets, evaluated at a zero effect. These p-values are unadjusted. The IV ratios need substantially stronger assumptions than the lottery offer effect, as the next slide explains. Any conventional IV variance calculation must retain reduced-form/first-stage covariance. Never use the ordinary OLS standard error from a regression on fitted private attendance.</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60 seconds. Instrumental variables use random lottery selection Z to shift private attendance D and then relate that induced shift to an outcome Y. Besides randomized assignment and a nonzero first stage, the causal interpretation needs no interference, exclusion and monotonicity. Exclusion requires the offer to change the outcome only through the particular private-school treatment D. This is a demanding assumption: the subsidy changes household disposable resources, renewal incentives, quality or amount of private education, and earlier schooling pathways that a binary current-attendance measure does not capture. Work and weekly hours could respond directly to reduced schooling costs. Completed school years accumulate before the follow-up measure of current attendance. Even grade-6 private entry as an alternative treatment does not capture all later exposure or direct subsidy channels. Under the full assumptions, the Wald or just-identified 2SLS coefficient is a LATE for students whose private attendance responds to the offer. It is neither the private-school ATE for everyone nor generally the private-school ATT among all actual attenders. Observed dropout is a temporal transition and cannot reveal a person’s two attendance potential outcomes. Negative exit responses do not establish defiers.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50 seconds. Show the primary A2020 estimates alongside separate checks for A2022 and B2018. These are independent within-lottery offer comparisons with HC2/t confidence intervals. Age changes suggest different elapsed durations, but exact survey dates are absent. Differences across estimates cannot isolate a duration response because application year changes, and B2018 also changes municipality. The smaller check cohorts have less precision. A2022 records zero marriage/cohabitation and zero parenthood events among all observed respondents in both assignment groups. Its observed mean difference is zero, but robust standard errors collapse for a constant outcome. We omit ordinary confidence intervals and p-values rather than displaying [0,0] as if it established no population effect. A conditional randomization-based joint baseline test gives permutation p=.1162 for A2022 and p=.0152 for B2018. The B2018 difference warrants investigation of assignment and sample selection. A2020 has permutation p=.6038. The test uses 9,999 assignment permutations conditional on the observed arm counts of each cohort and a full-baseline Mahalanobis statistic. The asymptotic HC2 Wald statistic for A2022 is unreliable for this purpose because its sparse missing-age indicator perfectly predicts an assignment arm; do not report its extremely small p-value as firm evidence against the lottery. No test of equality across cohort treatment effects appears on this slide. The focused regression code reproduces the cohort-specific policy contrasts displayed on this slide.</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Approximate time: 50 seconds. Lead the policy interpretation with the user's five outcomes. Hours fall at the nominal 5% level, while school years, family formation and work estimates are imprecise. All five fail the reported familywise correction, and the evidence therefore remains exploratory. Lower work hours could reflect more study, lower labor supply because the subsidy frees resources, or other mechanisms. Without learning, earnings, costs and preferences, one cannot assert a welfare gain or recommend scale-up from these effects alone. The private-attendance result is stronger and remains useful for both policy description and instrument relevance. Exclusion and monotonicity remain distinct requirements. The private-school ATT is not generally identified because current private-school attenders include always-attenders and selected compliers. A2022 and B2018 contribute contextual checks but do not reveal clean short-versus-long-run effects. The issue register and sensitivity analyses make uncertainty about data handling explicit.</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 outcomes are user-prioritized policy measures. No field is silently redefined: years_in_school remains school years completed since allocation, not total lifetime schooling. The assessment's approximate three-year timing conflicts with some observed durations and needs clarification. Preserve raw values and report outcome-specific sensitivity checks. Binary variables use 0/1 values and linear mean differences, shown as percentage points. Work is any paid work at the survey and hours are weekly. Hours among only currently working respondents would condition on an outcome of the offer and answer a selected-subgroup question. Non-workers with observed zero hours remain in the total hours analysis. A missing outcome is not converted to zero. Main ITT estimates need only that outcome and assignment, while IV also needs the endogenous private-school measure. Missing counts across all cohorts are eight for years, working and hours, eleven for marriage, and twelve for child. No record attrition within these extracts should be confused with complete population follow-up or zero item missingness.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Record-level inspection grounds the cleaning rules. IDs100368 and100044 are unselected applicants; ID100203 is selected. ID100368 also reports six school years since allocation, which raises a duration concern. The derivative age_at_survey_clean masks follow-up age for decreasing-age pairs, but this does not establish which original age field is wrong. Raw baseline and follow-up ages remain. Follow-up age does not enter baseline adjustment. ID100203 reports private grade-6 and grade-7 entry but missing current private attendance, so its transition remains unknown rather than imputed from enrollment or prior private history. ID100767 is unselected and reports four hours despite working=0. The main outcome retains the reported value pending clarification, with explicit sensitivity alternatives. ID100031 is selected and remains enrolled outside private school. ID100062 is selected and reports a 1/0/1 private history. It is consistent with changes over time, but exact enrollment dates and completion histories are unobserved. Both records stay in the data. The linked registers list every issue record, including the larger timing review groups, rather than only these examples.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appendix compares point estimates under explicit alternative choices rather than interpreting changing p-values as separate discoveries. Baseline adjustment uses only pretreatment fields: sex, recorded phone, age and socioeconomic stratum with missingness indicators, as documented by the analysis. Declining-age exclusion removes the one A2020 chronological contradiction. The work-conflict check excludes ID100767, the A2020 non-worker reporting four hours. This table applies that one-record exclusion to each displayed outcome. The check preserves all other reported values. No hours value is recoded. The source audit also identifies grade conflicts, missing outcomes and years-in-school duration concerns. Broad age exclusions are not the primary analysis, because timing differs systematically across cohorts. Removing all questionable school-year observations can change the target population rather than recover an error-free randomized sample. The primary report and code state every sensitivity sample and retained original value.</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examples show how the hours result changes across treatment definitions and adjustment choices. The first three schooling measures have different substantive meanings. Current attendance, private grade-6 entry and private grade-7 entry are not interchangeable doses of private education and need separate exclusion assumptions. Their compliers can differ. Grade-6 entry has a weaker A2020 first stage, approximately six percentage points and robust F around 12.6. Grade-7 entry shifts by roughly 16.8 pp with F around 46.7. Conditional on validity, robust Anderson-Rubin sets address weak relevance. They do not address direct subsidy effects, exposure measurement error or violations of monotonicity. The all-observed-private-status first-stage F values on slide 9 are 9.1 in A2022 and 5.7 in B2018. The robust AR procedure permits unbounded or disjoint sets when required by the data. The displayed A2020 sets are bounded. The cohort policy table omits ordinary inference for A2022 marriage and child because no events occur. These confidence sets are asymptotic robust test inversions with a t reference, not exact randomization procedures.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Sex differences use a direct interaction or equivalent difference of the two sex-specific offer effects in A2020. Gender groups follow the supplied binary male field; girls are male=0 and boys male=1. A significant effect in one group and an insignificant effect in another does not itself establish a difference. Compare the effects directly using HC2 inference. The table shows separate Holm corrections for the five policy interactions and the four complementary schooling interactions. Full group-specific sample sizes and intervals are in the result tables. Girls and Boys cells pair their offer coefficient with its raw HC2/t p-value. Difference p directly tests the boys-minus-girls contrast, while Holm p adjusts those interaction tests within the reported family. These heterogeneous-effect analyses are exploratory and may have limited precision, particularly for rare marriage and parenthood events. No postassignment selection into school or work defines a subgroup. The appendix retains the original assessment interest in effects for girls and boys while the main narrative addresses the revised broad policy question.</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Unadjusted cohort-specific model: Y_i=alpha+tau*selected_i+e_i. An intercept and the lottery indicator produce the observed-mean difference. Applicant-level HC2 robust covariance uses the instrument-design leverage; unadjusted t degrees of freedom are n-2. Binary outcomes use a linear probability mean contrast. Only three lotteries are present, so treating the three lotteries as a cluster-asymptotic sample would not justify reliable conventional cluster inference. Assignment is described at the applicant lottery level, but implementation records remain important. The main joint balance test uses 9,999 fixed-arm-count assignment permutations within each cohort, with a Mahalanobis statistic and fixed full-baseline covariance. It gives p=.6038 for A2020, .1162 for A2022 and .0152 for B2018. Monte Carlo standard errors are approximately .0049, .0032 and .0012. This procedure assumes the stated applicant lottery and is a randomization-based simulation check; the HC2/t effect confidence intervals and robust AR sets are still asymptotic. Sparse cells can make the auxiliary HC2 joint Wald p-values unreliable, particularly the five missing baseline ages appearing only in A2022 controls. The earlier pooled p=.017 is not substituted for the primary-cohort permutation test. A balance rejection can occur by chance and does not by itself establish invalid randomization. Baseline adjustment is a sensitivity analysis, not proof of restored random assignment. The five-policy and four-schooling testing families were chosen during revision, not preregistered. A combined nine-outcome Holm check retains private attendance and highest grade completed, but does not retain grade repetitions at 5%. School years completed refers specifically to years since allocation, not lifetime schooling attainment. IV is just identified: beta=tau_Y/tau_D on a common complete Y,D,Z sample. Delta variance retains var(tau_Y), var(tau_D) and their covariance. The robust AR test at beta=b regresses Y-bD on assignment and tests a zero assignment coefficient. Invert this test over b to obtain a confidence set that can be bounded, unbounded or disjoint. Sources for the interpretation and inference: Angrist, Imbens and Rubin, https://www.nber.org/papers/t0136; Mikusheva, https://economics.mit.edu/sites/default/files/publications/thirdsubmission.pdf. These references support methodology only and supply no program-effect numbers. Reproduce every displayed numerical result with code/slide_regressions.md, which contains the same executable code as code/slide_regressions.R. The focused code reads the two raw study CSVs and writes results/slide_regressions/. Its outputs cover the displayed regressions, the baseline-age subgroups, additive controls and fixed-effects checks, descriptive audits, transition counts, selected record examples and nonregression permutation balance tests. It does not run the broader exploratory models from the earlier full-analysis pipeline.</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specified age groups 10–11, 12–13 and 14–18 years, using age_at_application only. These are baseline age groups, not grades. The study begins at grade-6 entry, and the data do not provide individual pre-lottery grade levels from which actual grade strata could be reconstructed. Group sizes are 215 (102 control, 113 selected), 634 (307 control, 327 selected), and 271 (141 control, 130 selected). Fifty-six applicants have missing application age (33 control, 23 selected). They remain in the pooled primary analyses and are unclassified for this age analysis. No follow-up grade or follow-up age determines a subgroup. Each displayed age-group estimate is the unadjusted selected-minus-control mean difference among observed outcomes in that group, with HC2 standard errors and a t reference using n-2 degrees of freedom. The Equality p column directly tests whether the three offer coefficients are equal, using an HC2 joint F test from a fully interacted age-group model. A significant coefficient in one age group and an insignificant coefficient in another does not establish different effects. These additional analyses are exploratory and were selected during revision. No reported age-equality test has raw p below .05. Holm adjustment uses five policy equality tests or four schooling equality tests as separate families; unreportable tests still count in the stated family size for that calculation. Marriage and parenthood have zero observed events in the youngest group, so we suppress degenerate HC2 intervals and p-values in that group, and also suppress the unstable joint age-equality inference for those two outcomes. Zero observed events does not establish no population effect. The header applicant counts refer to the full age group, while outcome-observed Ns vary. Enrolled in any school: observed N 10-11 215, 12-13 632, 14-18 267. Attending private school: observed N 10-11 213, 12-13 628, 14-18 268. Highest grade completed: observed N 10-11 215, 12-13 634, 14-18 271. Grade repetitions: observed N 10-11 215, 12-13 631, 14-18 270. The four complementary schooling age-equality tests form a separate Holm family, chosen during revision. Their raw p-values are .2673 for enrollment, .3057 for private attendance, .9565 for highest grade and .3043 for repetitions. All four adjusted p-values equal one. The private-attendance subgroup contrasts are exploratory first-stage heterogeneity descriptions. They do not estimate age-specific effects of private schooling, and no age-group IV estimates are shown. Highest grade is an outcome and is never used to define these subgroups. Grade repetitions are counts per applicant, not a binary indicator. Pooled results on slide 6 remain the main schooling comparison.</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additional A2020 specification, not a replacement for the pooled primary offer effects. Additive controls include baseline sex, baseline application age and its missingness indicator, plus socioeconomic-stratum and neighborhood categorical fixed effects. Missing categories keep applicants with missing SES or neighborhood. The script mean-fills missing application age and includes a separate missing-age indicator; it never substitutes survey age. The has_phone control is included in the requested design but is constant in A2020 and exactly collinear with the intercept, so the fit drops it automatically. This omission reflects lack of identifying variation rather than a decision based on the outcome. Fixed effects are indicators for the recorded baseline categories, not municipality or cohort effects: municipality and application cohort are constant in A2020. The controls are additive, without treatment interactions, and therefore differ from the interacted baseline-adjustment check on slide 18. Estimation retains all respondents with the relevant observed outcome and assignment, except that IV also requires observed private attendance. HC2 covariance uses leverage from the full design and t degrees of freedom equal n minus the full-rank design columns. Some category cells are sparse, with maximum leverage around 0.501, which warrants caution about finite-sample precision. Neither controls nor fixed effects correct bad assignment records or make an invalid instrument valid. The specification includes sex, application age plus its missingness indicator, SES-category indicators and neighborhood indicators. No postassignment schooling, work or current-aid variable enters the adjustment. The displayed coefficient is the adjusted lottery-offer contrast; it is not the simple difference of the raw means on slides 5 and 6. The raw means and pooled estimates remain unchanged. The five policy and four schooling coefficients form separate exploratory Holm families. The controlled weekly-hours effect is -1.2524 hours, raw p=.0460 and policy-family Holm p=.2300. None of the five controlled policy outcomes clears that correction. Current private attendance increases by 15.7238 percentage points with raw p below .001. Highest grade increases by .1606, raw p=.0030. Grade repetitions decline by .06185, raw p=.0263 and four-schooling-family Holm p=.0527. Thus the controlled repetition result does not pass that familywise 5% threshold. School years completed retains its definition of years since allocation. Point estimates here are regression-adjusted contrasts, not effects among actual subsidy recipients.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additional A2020 specification, not a replacement for the pooled primary offer effects. Additive controls include baseline sex, baseline application age and its missingness indicator, plus socioeconomic-stratum and neighborhood categorical fixed effects. Missing categories keep applicants with missing SES or neighborhood. The script mean-fills missing application age and includes a separate missing-age indicator; it never substitutes survey age. The has_phone control is included in the requested design but is constant in A2020 and exactly collinear with the intercept, so the fit drops it automatically. This omission reflects lack of identifying variation rather than a decision based on the outcome. Fixed effects are indicators for the recorded baseline categories, not municipality or cohort effects: municipality and application cohort are constant in A2020. The controls are additive, without treatment interactions, and therefore differ from the interacted baseline-adjustment check on slide 18. Estimation retains all respondents with the relevant observed outcome and assignment, except that IV also requires observed private attendance. HC2 covariance uses leverage from the full design and t degrees of freedom equal n minus the full-rank design columns. Some category cells are sparse, with maximum leverage around 0.501, which warrants caution about finite-sample precision. Neither controls nor fixed effects correct bad assignment records or make an invalid instrument valid. Instrument Z is lottery selection and endogenous treatment D is current private-school attendance. Every reduced form, first stage and AR test uses the identical outcome/private-attendance-complete sample and the identical exogenous baseline controls. The controlled Wald ratio equals the just-identified 2SLS coefficient. AR inference tests the selected coefficient in a regression of Y-beta*D on selection plus the same controls and fixed effects, then inverts the robust HC2/t test. The first-stage column shows its HC2 F statistic and raw p-value; each p-value is below .001. First-stage F is about 33.4 for school years, work and hours, and 34.0 for marriage and parenthood. Binary effect estimates and AR sets use percentage points. The hours IV is -7.5839, AR set [-15.9122,.2519], raw AR p=.0571 and five-IV-family Holm p=.2857. The other controlled IV AR sets also include zero, and no controlled IV outcome clears the five-test Holm correction. Adjustment can affect precision and point estimates but cannot establish the exclusion restriction: the subsidy can change disposable resources, renewal incentives and earlier schooling beyond binary current private attendance. These are conditional IV estimates under the same strong causal assumptions discussed on slide 13; a heterogeneous-effect interpretation additionally depends on how the covariate-adjusted instrument weights compliers. They should not be described as a population private-school ATE or the ATT among all actual private-school attenders.</a:t>
            </a:r>
          </a:p>
          <a:p>
            <a:endParaRPr/>
          </a:p>
          <a:p>
            <a:r>
              <a:t>Sources: DIL Applied Assessment, Canvas, accessed September 22, 2026. Supplied study_baseline.csv, study_followup.csv and data_dictionary.csv. All displayed numerical results come from results/slide_regressions/*.csv, generated from the two raw study CSVs by code/slide_regressions.R and its explanatory Markdown counterpart code/slide_regressions.md. The focused code reproduces the displayed regressions, descriptive audits, transitions, record examples and permutation balance checks. Main population: municipality A, 2020 applicants. Other lotteries appear separately as contextual checks. No external numerical data enter the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F98C3BA-FA4D-45F3-889C-81BF140A59D3}"/>
              </a:ext>
            </a:extLst>
          </p:cNvPr>
          <p:cNvSpPr>
            <a:spLocks noGrp="1"/>
          </p:cNvSpPr>
          <p:nvPr/>
        </p:nvSpPr>
        <p:spPr>
          <a:xfrm>
            <a:off x="685800" y="1428750"/>
            <a:ext cx="10668000" cy="1733550"/>
          </a:xfrm>
          <a:prstGeom prst="rect">
            <a:avLst/>
          </a:prstGeom>
          <a:noFill/>
          <a:ln w="0">
            <a:noFill/>
          </a:ln>
        </p:spPr>
        <p:txBody>
          <a:bodyPr anchor="ctr">
            <a:noAutofit/>
          </a:bodyPr>
          <a:lstStyle/>
          <a:p>
            <a:pPr>
              <a:defRPr sz="4500" b="1">
                <a:solidFill>
                  <a:srgbClr val="122D45"/>
                </a:solidFill>
                <a:latin typeface="Arial"/>
                <a:ea typeface="Arial"/>
                <a:cs typeface="Arial"/>
              </a:defRPr>
            </a:pPr>
            <a:r>
              <a:rPr sz="4500" b="1">
                <a:solidFill>
                  <a:srgbClr val="122D45"/>
                </a:solidFill>
                <a:latin typeface="Arial"/>
                <a:ea typeface="Arial"/>
                <a:cs typeface="Arial"/>
              </a:rPr>
              <a:t>School subsidies and</a:t>
            </a:r>
          </a:p>
          <a:p>
            <a:pPr>
              <a:defRPr sz="4500" b="1">
                <a:solidFill>
                  <a:srgbClr val="122D45"/>
                </a:solidFill>
                <a:latin typeface="Arial"/>
                <a:ea typeface="Arial"/>
                <a:cs typeface="Arial"/>
              </a:defRPr>
            </a:pPr>
            <a:r>
              <a:rPr sz="4500" b="1">
                <a:solidFill>
                  <a:srgbClr val="122D45"/>
                </a:solidFill>
                <a:latin typeface="Arial"/>
                <a:ea typeface="Arial"/>
                <a:cs typeface="Arial"/>
              </a:rPr>
              <a:t>youth outcomes</a:t>
            </a:r>
          </a:p>
        </p:txBody>
      </p:sp>
      <p:sp>
        <p:nvSpPr>
          <p:cNvPr id="2" name="Rectangle 1">
            <a:extLst>
              <a:ext uri="{FF2B5EF4-FFF2-40B4-BE49-F238E27FC236}">
                <a16:creationId xmlns:a16="http://schemas.microsoft.com/office/drawing/2014/main" id="{40AD8CFA-B5F9-4C14-9734-1CBCF22910C4}"/>
              </a:ext>
            </a:extLst>
          </p:cNvPr>
          <p:cNvSpPr>
            <a:spLocks noGrp="1"/>
          </p:cNvSpPr>
          <p:nvPr/>
        </p:nvSpPr>
        <p:spPr>
          <a:xfrm>
            <a:off x="685800" y="3619500"/>
            <a:ext cx="10477500" cy="1000125"/>
          </a:xfrm>
          <a:prstGeom prst="rect">
            <a:avLst/>
          </a:prstGeom>
          <a:noFill/>
          <a:ln w="0">
            <a:noFill/>
          </a:ln>
        </p:spPr>
        <p:txBody>
          <a:bodyPr anchor="ctr">
            <a:noAutofit/>
          </a:bodyPr>
          <a:lstStyle/>
          <a:p>
            <a:pPr>
              <a:defRPr sz="2400" b="0">
                <a:solidFill>
                  <a:srgbClr val="007E87"/>
                </a:solidFill>
                <a:latin typeface="Arial"/>
                <a:ea typeface="Arial"/>
                <a:cs typeface="Arial"/>
              </a:defRPr>
            </a:pPr>
            <a:r>
              <a:rPr sz="2400" b="0">
                <a:solidFill>
                  <a:srgbClr val="007E87"/>
                </a:solidFill>
                <a:latin typeface="Arial"/>
                <a:ea typeface="Arial"/>
                <a:cs typeface="Arial"/>
              </a:rPr>
              <a:t>Municipality A, 2020 cohort</a:t>
            </a:r>
          </a:p>
          <a:p>
            <a:pPr>
              <a:defRPr sz="2400" b="0">
                <a:solidFill>
                  <a:srgbClr val="007E87"/>
                </a:solidFill>
                <a:latin typeface="Arial"/>
                <a:ea typeface="Arial"/>
                <a:cs typeface="Arial"/>
              </a:defRPr>
            </a:pPr>
            <a:r>
              <a:rPr sz="2400" b="0">
                <a:solidFill>
                  <a:srgbClr val="007E87"/>
                </a:solidFill>
                <a:latin typeface="Arial"/>
                <a:ea typeface="Arial"/>
                <a:cs typeface="Arial"/>
              </a:rPr>
              <a:t>Separate checks in A2022 and B2018</a:t>
            </a:r>
          </a:p>
        </p:txBody>
      </p:sp>
      <p:sp>
        <p:nvSpPr>
          <p:cNvPr id="3" name="Rectangle 2">
            <a:extLst>
              <a:ext uri="{FF2B5EF4-FFF2-40B4-BE49-F238E27FC236}">
                <a16:creationId xmlns:a16="http://schemas.microsoft.com/office/drawing/2014/main" id="{DF769473-4173-4882-A1DA-DF3C30DFBC57}"/>
              </a:ext>
            </a:extLst>
          </p:cNvPr>
          <p:cNvSpPr>
            <a:spLocks noGrp="1"/>
          </p:cNvSpPr>
          <p:nvPr/>
        </p:nvSpPr>
        <p:spPr>
          <a:xfrm>
            <a:off x="685800" y="5286375"/>
            <a:ext cx="10429875" cy="742950"/>
          </a:xfrm>
          <a:prstGeom prst="rect">
            <a:avLst/>
          </a:prstGeom>
          <a:noFill/>
          <a:ln w="0">
            <a:noFill/>
          </a:ln>
        </p:spPr>
        <p:txBody>
          <a:bodyPr anchor="ctr">
            <a:noAutofit/>
          </a:bodyPr>
          <a:lstStyle/>
          <a:p>
            <a:pPr>
              <a:defRPr sz="1800" b="0">
                <a:solidFill>
                  <a:srgbClr val="526272"/>
                </a:solidFill>
                <a:latin typeface="Arial"/>
                <a:ea typeface="Arial"/>
                <a:cs typeface="Arial"/>
              </a:defRPr>
            </a:pPr>
            <a:r>
              <a:rPr sz="1800" b="0">
                <a:solidFill>
                  <a:srgbClr val="526272"/>
                </a:solidFill>
                <a:latin typeface="Arial"/>
                <a:ea typeface="Arial"/>
                <a:cs typeface="Arial"/>
              </a:rPr>
              <a:t>Development Innovation Lab applied assessment</a:t>
            </a:r>
          </a:p>
          <a:p>
            <a:pPr>
              <a:defRPr sz="1800" b="0">
                <a:solidFill>
                  <a:srgbClr val="526272"/>
                </a:solidFill>
                <a:latin typeface="Arial"/>
                <a:ea typeface="Arial"/>
                <a:cs typeface="Arial"/>
              </a:defRPr>
            </a:pPr>
            <a:r>
              <a:rPr sz="1800" b="0">
                <a:solidFill>
                  <a:srgbClr val="526272"/>
                </a:solidFill>
                <a:latin typeface="Arial"/>
                <a:ea typeface="Arial"/>
                <a:cs typeface="Arial"/>
              </a:rPr>
              <a:t>September 2026</a:t>
            </a:r>
          </a:p>
        </p:txBody>
      </p:sp>
    </p:spTree>
    <p:extLst>
      <p:ext uri="{BB962C8B-B14F-4D97-AF65-F5344CB8AC3E}">
        <p14:creationId xmlns:p14="http://schemas.microsoft.com/office/powerpoint/2010/main" val="506135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7D32FB-EB70-4E13-A3DF-EAB006C299E9}"/>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The program and the study population</a:t>
            </a:r>
          </a:p>
        </p:txBody>
      </p:sp>
      <p:sp>
        <p:nvSpPr>
          <p:cNvPr id="2" name="Rectangle 1">
            <a:extLst>
              <a:ext uri="{FF2B5EF4-FFF2-40B4-BE49-F238E27FC236}">
                <a16:creationId xmlns:a16="http://schemas.microsoft.com/office/drawing/2014/main" id="{6099609C-3C51-402A-B703-EC8258B592F6}"/>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Source: study design, baseline records and observed age changes.</a:t>
            </a:r>
          </a:p>
        </p:txBody>
      </p:sp>
      <p:sp>
        <p:nvSpPr>
          <p:cNvPr id="3" name="Rectangle 2">
            <a:extLst>
              <a:ext uri="{FF2B5EF4-FFF2-40B4-BE49-F238E27FC236}">
                <a16:creationId xmlns:a16="http://schemas.microsoft.com/office/drawing/2014/main" id="{AE23681E-267D-48A2-A1DA-C7786D7201B4}"/>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2</a:t>
            </a:r>
          </a:p>
        </p:txBody>
      </p:sp>
      <p:sp>
        <p:nvSpPr>
          <p:cNvPr id="4" name="Rectangle 3">
            <a:extLst>
              <a:ext uri="{FF2B5EF4-FFF2-40B4-BE49-F238E27FC236}">
                <a16:creationId xmlns:a16="http://schemas.microsoft.com/office/drawing/2014/main" id="{35C1D81B-F57C-4F0D-BD24-7A5B70BE1DC8}"/>
              </a:ext>
            </a:extLst>
          </p:cNvPr>
          <p:cNvSpPr>
            <a:spLocks noGrp="1"/>
          </p:cNvSpPr>
          <p:nvPr/>
        </p:nvSpPr>
        <p:spPr>
          <a:xfrm>
            <a:off x="609600" y="1381125"/>
            <a:ext cx="10972800" cy="819150"/>
          </a:xfrm>
          <a:prstGeom prst="rect">
            <a:avLst/>
          </a:prstGeom>
          <a:noFill/>
          <a:ln w="0">
            <a:noFill/>
          </a:ln>
        </p:spPr>
        <p:txBody>
          <a:bodyPr anchor="ctr">
            <a:noAutofit/>
          </a:bodyPr>
          <a:lstStyle/>
          <a:p>
            <a:pPr>
              <a:defRPr sz="2175" b="0">
                <a:solidFill>
                  <a:srgbClr val="122D45"/>
                </a:solidFill>
                <a:latin typeface="Arial"/>
                <a:ea typeface="Arial"/>
                <a:cs typeface="Arial"/>
              </a:defRPr>
            </a:pPr>
            <a:r>
              <a:rPr sz="2175" b="0">
                <a:solidFill>
                  <a:srgbClr val="122D45"/>
                </a:solidFill>
                <a:latin typeface="Arial"/>
                <a:ea typeface="Arial"/>
                <a:cs typeface="Arial"/>
              </a:rPr>
              <a:t>Government aid helps low-income students enter private secondary school in grade 6. Renewal depends on promotion.</a:t>
            </a:r>
          </a:p>
        </p:txBody>
      </p:sp>
      <p:graphicFrame>
        <p:nvGraphicFramePr>
          <p:cNvPr id="11" name="Table 10"/>
          <p:cNvGraphicFramePr/>
          <p:nvPr/>
        </p:nvGraphicFramePr>
        <p:xfrm>
          <a:off x="609600" y="2447925"/>
          <a:ext cx="10972800" cy="2552700"/>
        </p:xfrm>
        <a:graphic>
          <a:graphicData uri="http://schemas.openxmlformats.org/drawingml/2006/table">
            <a:tbl>
              <a:tblPr/>
              <a:tblGrid>
                <a:gridCol w="24003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3143250">
                  <a:extLst>
                    <a:ext uri="{9D8B030D-6E8A-4147-A177-3AD203B41FA5}">
                      <a16:colId xmlns:a16="http://schemas.microsoft.com/office/drawing/2014/main" val="20004"/>
                    </a:ext>
                  </a:extLst>
                </a:gridCol>
              </a:tblGrid>
              <a:tr h="638175">
                <a:tc>
                  <a:txBody>
                    <a:bodyPr/>
                    <a:lstStyle/>
                    <a:p>
                      <a:r>
                        <a:rPr sz="1800" b="1">
                          <a:solidFill>
                            <a:srgbClr val="FFFFFF"/>
                          </a:solidFill>
                          <a:latin typeface="Arial"/>
                          <a:ea typeface="Arial"/>
                          <a:cs typeface="Arial"/>
                        </a:rPr>
                        <a:t>Role</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Lottery</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Applicants</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Offers</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Typical age change</a:t>
                      </a:r>
                    </a:p>
                  </a:txBody>
                  <a:tcPr marL="133350" marR="114300" marT="95250" marB="95250" anchor="ctr">
                    <a:solidFill>
                      <a:srgbClr val="122D45"/>
                    </a:solidFill>
                  </a:tcPr>
                </a:tc>
                <a:extLst>
                  <a:ext uri="{0D108BD9-81ED-4DB2-BD59-A6C34878D82A}">
                    <a16:rowId xmlns:a16="http://schemas.microsoft.com/office/drawing/2014/main" val="10000"/>
                  </a:ext>
                </a:extLst>
              </a:tr>
              <a:tr h="638175">
                <a:tc>
                  <a:txBody>
                    <a:bodyPr/>
                    <a:lstStyle/>
                    <a:p>
                      <a:r>
                        <a:rPr sz="1800">
                          <a:solidFill>
                            <a:srgbClr val="122D45"/>
                          </a:solidFill>
                          <a:latin typeface="Arial"/>
                          <a:ea typeface="Arial"/>
                          <a:cs typeface="Arial"/>
                        </a:rPr>
                        <a:t>Primary</a:t>
                      </a:r>
                    </a:p>
                  </a:txBody>
                  <a:tcPr marL="133350" marR="114300" marT="95250" marB="95250" anchor="ctr">
                    <a:solidFill>
                      <a:srgbClr val="FFFFFF"/>
                    </a:solidFill>
                  </a:tcPr>
                </a:tc>
                <a:tc>
                  <a:txBody>
                    <a:bodyPr/>
                    <a:lstStyle/>
                    <a:p>
                      <a:r>
                        <a:rPr sz="1800">
                          <a:solidFill>
                            <a:srgbClr val="122D45"/>
                          </a:solidFill>
                          <a:latin typeface="Arial"/>
                          <a:ea typeface="Arial"/>
                          <a:cs typeface="Arial"/>
                        </a:rPr>
                        <a:t>A 2020</a:t>
                      </a:r>
                    </a:p>
                  </a:txBody>
                  <a:tcPr marL="133350" marR="114300" marT="95250" marB="95250" anchor="ctr">
                    <a:solidFill>
                      <a:srgbClr val="FFFFFF"/>
                    </a:solidFill>
                  </a:tcPr>
                </a:tc>
                <a:tc>
                  <a:txBody>
                    <a:bodyPr/>
                    <a:lstStyle/>
                    <a:p>
                      <a:r>
                        <a:rPr sz="1800">
                          <a:solidFill>
                            <a:srgbClr val="122D45"/>
                          </a:solidFill>
                          <a:latin typeface="Arial"/>
                          <a:ea typeface="Arial"/>
                          <a:cs typeface="Arial"/>
                        </a:rPr>
                        <a:t>1,176</a:t>
                      </a:r>
                    </a:p>
                  </a:txBody>
                  <a:tcPr marL="133350" marR="114300" marT="95250" marB="95250" anchor="ctr">
                    <a:solidFill>
                      <a:srgbClr val="FFFFFF"/>
                    </a:solidFill>
                  </a:tcPr>
                </a:tc>
                <a:tc>
                  <a:txBody>
                    <a:bodyPr/>
                    <a:lstStyle/>
                    <a:p>
                      <a:r>
                        <a:rPr sz="1800">
                          <a:solidFill>
                            <a:srgbClr val="122D45"/>
                          </a:solidFill>
                          <a:latin typeface="Arial"/>
                          <a:ea typeface="Arial"/>
                          <a:cs typeface="Arial"/>
                        </a:rPr>
                        <a:t>593</a:t>
                      </a:r>
                    </a:p>
                  </a:txBody>
                  <a:tcPr marL="133350" marR="114300" marT="95250" marB="95250" anchor="ctr">
                    <a:solidFill>
                      <a:srgbClr val="FFFFFF"/>
                    </a:solidFill>
                  </a:tcPr>
                </a:tc>
                <a:tc>
                  <a:txBody>
                    <a:bodyPr/>
                    <a:lstStyle/>
                    <a:p>
                      <a:r>
                        <a:rPr sz="1800">
                          <a:solidFill>
                            <a:srgbClr val="122D45"/>
                          </a:solidFill>
                          <a:latin typeface="Arial"/>
                          <a:ea typeface="Arial"/>
                          <a:cs typeface="Arial"/>
                        </a:rPr>
                        <a:t>+2 or +3 years</a:t>
                      </a:r>
                    </a:p>
                  </a:txBody>
                  <a:tcPr marL="133350" marR="114300" marT="95250" marB="95250" anchor="ctr">
                    <a:solidFill>
                      <a:srgbClr val="FFFFFF"/>
                    </a:solidFill>
                  </a:tcPr>
                </a:tc>
                <a:extLst>
                  <a:ext uri="{0D108BD9-81ED-4DB2-BD59-A6C34878D82A}">
                    <a16:rowId xmlns:a16="http://schemas.microsoft.com/office/drawing/2014/main" val="10001"/>
                  </a:ext>
                </a:extLst>
              </a:tr>
              <a:tr h="638175">
                <a:tc>
                  <a:txBody>
                    <a:bodyPr/>
                    <a:lstStyle/>
                    <a:p>
                      <a:r>
                        <a:rPr sz="1800">
                          <a:solidFill>
                            <a:srgbClr val="122D45"/>
                          </a:solidFill>
                          <a:latin typeface="Arial"/>
                          <a:ea typeface="Arial"/>
                          <a:cs typeface="Arial"/>
                        </a:rPr>
                        <a:t>Separate check</a:t>
                      </a:r>
                    </a:p>
                  </a:txBody>
                  <a:tcPr marL="133350" marR="114300" marT="95250" marB="95250" anchor="ctr">
                    <a:solidFill>
                      <a:srgbClr val="F0F4F6"/>
                    </a:solidFill>
                  </a:tcPr>
                </a:tc>
                <a:tc>
                  <a:txBody>
                    <a:bodyPr/>
                    <a:lstStyle/>
                    <a:p>
                      <a:r>
                        <a:rPr sz="1800">
                          <a:solidFill>
                            <a:srgbClr val="122D45"/>
                          </a:solidFill>
                          <a:latin typeface="Arial"/>
                          <a:ea typeface="Arial"/>
                          <a:cs typeface="Arial"/>
                        </a:rPr>
                        <a:t>A 2022</a:t>
                      </a:r>
                    </a:p>
                  </a:txBody>
                  <a:tcPr marL="133350" marR="114300" marT="95250" marB="95250" anchor="ctr">
                    <a:solidFill>
                      <a:srgbClr val="F0F4F6"/>
                    </a:solidFill>
                  </a:tcPr>
                </a:tc>
                <a:tc>
                  <a:txBody>
                    <a:bodyPr/>
                    <a:lstStyle/>
                    <a:p>
                      <a:r>
                        <a:rPr sz="1800">
                          <a:solidFill>
                            <a:srgbClr val="122D45"/>
                          </a:solidFill>
                          <a:latin typeface="Arial"/>
                          <a:ea typeface="Arial"/>
                          <a:cs typeface="Arial"/>
                        </a:rPr>
                        <a:t>277</a:t>
                      </a:r>
                    </a:p>
                  </a:txBody>
                  <a:tcPr marL="133350" marR="114300" marT="95250" marB="95250" anchor="ctr">
                    <a:solidFill>
                      <a:srgbClr val="F0F4F6"/>
                    </a:solidFill>
                  </a:tcPr>
                </a:tc>
                <a:tc>
                  <a:txBody>
                    <a:bodyPr/>
                    <a:lstStyle/>
                    <a:p>
                      <a:r>
                        <a:rPr sz="1800">
                          <a:solidFill>
                            <a:srgbClr val="122D45"/>
                          </a:solidFill>
                          <a:latin typeface="Arial"/>
                          <a:ea typeface="Arial"/>
                          <a:cs typeface="Arial"/>
                        </a:rPr>
                        <a:t>146</a:t>
                      </a:r>
                    </a:p>
                  </a:txBody>
                  <a:tcPr marL="133350" marR="114300" marT="95250" marB="95250" anchor="ctr">
                    <a:solidFill>
                      <a:srgbClr val="F0F4F6"/>
                    </a:solidFill>
                  </a:tcPr>
                </a:tc>
                <a:tc>
                  <a:txBody>
                    <a:bodyPr/>
                    <a:lstStyle/>
                    <a:p>
                      <a:r>
                        <a:rPr sz="1800">
                          <a:solidFill>
                            <a:srgbClr val="122D45"/>
                          </a:solidFill>
                          <a:latin typeface="Arial"/>
                          <a:ea typeface="Arial"/>
                          <a:cs typeface="Arial"/>
                        </a:rPr>
                        <a:t>0 or +1 year</a:t>
                      </a:r>
                    </a:p>
                  </a:txBody>
                  <a:tcPr marL="133350" marR="114300" marT="95250" marB="95250" anchor="ctr">
                    <a:solidFill>
                      <a:srgbClr val="F0F4F6"/>
                    </a:solidFill>
                  </a:tcPr>
                </a:tc>
                <a:extLst>
                  <a:ext uri="{0D108BD9-81ED-4DB2-BD59-A6C34878D82A}">
                    <a16:rowId xmlns:a16="http://schemas.microsoft.com/office/drawing/2014/main" val="10002"/>
                  </a:ext>
                </a:extLst>
              </a:tr>
              <a:tr h="638175">
                <a:tc>
                  <a:txBody>
                    <a:bodyPr/>
                    <a:lstStyle/>
                    <a:p>
                      <a:r>
                        <a:rPr sz="1800">
                          <a:solidFill>
                            <a:srgbClr val="122D45"/>
                          </a:solidFill>
                          <a:latin typeface="Arial"/>
                          <a:ea typeface="Arial"/>
                          <a:cs typeface="Arial"/>
                        </a:rPr>
                        <a:t>Separate check</a:t>
                      </a:r>
                    </a:p>
                  </a:txBody>
                  <a:tcPr marL="133350" marR="114300" marT="95250" marB="95250" anchor="ctr">
                    <a:solidFill>
                      <a:srgbClr val="FFFFFF"/>
                    </a:solidFill>
                  </a:tcPr>
                </a:tc>
                <a:tc>
                  <a:txBody>
                    <a:bodyPr/>
                    <a:lstStyle/>
                    <a:p>
                      <a:r>
                        <a:rPr sz="1800">
                          <a:solidFill>
                            <a:srgbClr val="122D45"/>
                          </a:solidFill>
                          <a:latin typeface="Arial"/>
                          <a:ea typeface="Arial"/>
                          <a:cs typeface="Arial"/>
                        </a:rPr>
                        <a:t>B 2018</a:t>
                      </a:r>
                    </a:p>
                  </a:txBody>
                  <a:tcPr marL="133350" marR="114300" marT="95250" marB="95250" anchor="ctr">
                    <a:solidFill>
                      <a:srgbClr val="FFFFFF"/>
                    </a:solidFill>
                  </a:tcPr>
                </a:tc>
                <a:tc>
                  <a:txBody>
                    <a:bodyPr/>
                    <a:lstStyle/>
                    <a:p>
                      <a:r>
                        <a:rPr sz="1800">
                          <a:solidFill>
                            <a:srgbClr val="122D45"/>
                          </a:solidFill>
                          <a:latin typeface="Arial"/>
                          <a:ea typeface="Arial"/>
                          <a:cs typeface="Arial"/>
                        </a:rPr>
                        <a:t>165</a:t>
                      </a:r>
                    </a:p>
                  </a:txBody>
                  <a:tcPr marL="133350" marR="114300" marT="95250" marB="95250" anchor="ctr">
                    <a:solidFill>
                      <a:srgbClr val="FFFFFF"/>
                    </a:solidFill>
                  </a:tcPr>
                </a:tc>
                <a:tc>
                  <a:txBody>
                    <a:bodyPr/>
                    <a:lstStyle/>
                    <a:p>
                      <a:r>
                        <a:rPr sz="1800">
                          <a:solidFill>
                            <a:srgbClr val="122D45"/>
                          </a:solidFill>
                          <a:latin typeface="Arial"/>
                          <a:ea typeface="Arial"/>
                          <a:cs typeface="Arial"/>
                        </a:rPr>
                        <a:t>91</a:t>
                      </a:r>
                    </a:p>
                  </a:txBody>
                  <a:tcPr marL="133350" marR="114300" marT="95250" marB="95250" anchor="ctr">
                    <a:solidFill>
                      <a:srgbClr val="FFFFFF"/>
                    </a:solidFill>
                  </a:tcPr>
                </a:tc>
                <a:tc>
                  <a:txBody>
                    <a:bodyPr/>
                    <a:lstStyle/>
                    <a:p>
                      <a:r>
                        <a:rPr sz="1800">
                          <a:solidFill>
                            <a:srgbClr val="122D45"/>
                          </a:solidFill>
                          <a:latin typeface="Arial"/>
                          <a:ea typeface="Arial"/>
                          <a:cs typeface="Arial"/>
                        </a:rPr>
                        <a:t>+4 or +5 years</a:t>
                      </a:r>
                    </a:p>
                  </a:txBody>
                  <a:tcPr marL="13335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FBAC4B67-7BC4-4DAF-9127-0C5BB875019D}"/>
              </a:ext>
            </a:extLst>
          </p:cNvPr>
          <p:cNvSpPr>
            <a:spLocks noGrp="1"/>
          </p:cNvSpPr>
          <p:nvPr/>
        </p:nvSpPr>
        <p:spPr>
          <a:xfrm>
            <a:off x="609600" y="5295900"/>
            <a:ext cx="10972800" cy="819150"/>
          </a:xfrm>
          <a:prstGeom prst="rect">
            <a:avLst/>
          </a:prstGeom>
          <a:noFill/>
          <a:ln w="0">
            <a:noFill/>
          </a:ln>
        </p:spPr>
        <p:txBody>
          <a:bodyPr anchor="ctr">
            <a:noAutofit/>
          </a:bodyPr>
          <a:lstStyle/>
          <a:p>
            <a:pPr>
              <a:defRPr sz="2025" b="1">
                <a:solidFill>
                  <a:srgbClr val="007E87"/>
                </a:solidFill>
                <a:latin typeface="Arial"/>
                <a:ea typeface="Arial"/>
                <a:cs typeface="Arial"/>
              </a:defRPr>
            </a:pPr>
            <a:r>
              <a:rPr sz="2025" b="1">
                <a:solidFill>
                  <a:srgbClr val="007E87"/>
                </a:solidFill>
                <a:latin typeface="Arial"/>
                <a:ea typeface="Arial"/>
                <a:cs typeface="Arial"/>
              </a:rPr>
              <a:t>Lottery winners and non-winners provide the comparison within each cohort. These results concern applicants, not all residents.</a:t>
            </a:r>
          </a:p>
        </p:txBody>
      </p:sp>
    </p:spTree>
    <p:extLst>
      <p:ext uri="{BB962C8B-B14F-4D97-AF65-F5344CB8AC3E}">
        <p14:creationId xmlns:p14="http://schemas.microsoft.com/office/powerpoint/2010/main" val="1379286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9E972DF-5452-426F-8287-31CF2317C600}"/>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dirty="0">
                <a:solidFill>
                  <a:srgbClr val="122D45"/>
                </a:solidFill>
                <a:latin typeface="Arial"/>
                <a:ea typeface="Arial"/>
                <a:cs typeface="Arial"/>
              </a:rPr>
              <a:t>Data checks</a:t>
            </a:r>
            <a:r>
              <a:rPr lang="en-US" sz="3150" b="1" dirty="0">
                <a:solidFill>
                  <a:srgbClr val="122D45"/>
                </a:solidFill>
                <a:latin typeface="Arial"/>
                <a:ea typeface="Arial"/>
                <a:cs typeface="Arial"/>
              </a:rPr>
              <a:t> (See </a:t>
            </a:r>
            <a:r>
              <a:rPr lang="en-US" sz="3150" b="1" dirty="0">
                <a:solidFill>
                  <a:srgbClr val="122D45"/>
                </a:solidFill>
                <a:latin typeface="Arial"/>
                <a:ea typeface="Arial"/>
                <a:cs typeface="Arial"/>
                <a:hlinkClick r:id="rId3" action="ppaction://hlinksldjump"/>
              </a:rPr>
              <a:t>Appendix 2</a:t>
            </a:r>
            <a:r>
              <a:rPr lang="en-US" sz="3150" b="1" dirty="0">
                <a:solidFill>
                  <a:srgbClr val="122D45"/>
                </a:solidFill>
                <a:latin typeface="Arial"/>
                <a:ea typeface="Arial"/>
                <a:cs typeface="Arial"/>
              </a:rPr>
              <a:t> for exact data anomalies)</a:t>
            </a:r>
            <a:endParaRPr sz="3150" b="1" dirty="0">
              <a:solidFill>
                <a:srgbClr val="122D45"/>
              </a:solidFill>
              <a:latin typeface="Arial"/>
              <a:ea typeface="Arial"/>
              <a:cs typeface="Arial"/>
            </a:endParaRPr>
          </a:p>
        </p:txBody>
      </p:sp>
      <p:sp>
        <p:nvSpPr>
          <p:cNvPr id="2" name="Rectangle 1">
            <a:extLst>
              <a:ext uri="{FF2B5EF4-FFF2-40B4-BE49-F238E27FC236}">
                <a16:creationId xmlns:a16="http://schemas.microsoft.com/office/drawing/2014/main" id="{31C4A72E-01A4-4964-80A1-9ACA15163F20}"/>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Counts refer to all 1,618 applicants. Records and original values remain in the issue register.</a:t>
            </a:r>
          </a:p>
        </p:txBody>
      </p:sp>
      <p:sp>
        <p:nvSpPr>
          <p:cNvPr id="3" name="Rectangle 2">
            <a:extLst>
              <a:ext uri="{FF2B5EF4-FFF2-40B4-BE49-F238E27FC236}">
                <a16:creationId xmlns:a16="http://schemas.microsoft.com/office/drawing/2014/main" id="{24BD732E-DAF2-4818-BE66-4129D95E2650}"/>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3</a:t>
            </a:r>
          </a:p>
        </p:txBody>
      </p:sp>
      <p:graphicFrame>
        <p:nvGraphicFramePr>
          <p:cNvPr id="9" name="Table 8"/>
          <p:cNvGraphicFramePr/>
          <p:nvPr/>
        </p:nvGraphicFramePr>
        <p:xfrm>
          <a:off x="609600" y="1485900"/>
          <a:ext cx="10972800" cy="3621405"/>
        </p:xfrm>
        <a:graphic>
          <a:graphicData uri="http://schemas.openxmlformats.org/drawingml/2006/table">
            <a:tbl>
              <a:tblPr/>
              <a:tblGrid>
                <a:gridCol w="261937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5353050">
                  <a:extLst>
                    <a:ext uri="{9D8B030D-6E8A-4147-A177-3AD203B41FA5}">
                      <a16:colId xmlns:a16="http://schemas.microsoft.com/office/drawing/2014/main" val="20002"/>
                    </a:ext>
                  </a:extLst>
                </a:gridCol>
              </a:tblGrid>
              <a:tr h="664845">
                <a:tc>
                  <a:txBody>
                    <a:bodyPr/>
                    <a:lstStyle/>
                    <a:p>
                      <a:r>
                        <a:rPr sz="1800" b="1">
                          <a:solidFill>
                            <a:srgbClr val="FFFFFF"/>
                          </a:solidFill>
                          <a:latin typeface="Arial"/>
                          <a:ea typeface="Arial"/>
                          <a:cs typeface="Arial"/>
                        </a:rPr>
                        <a:t>Check</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Finding</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Handling</a:t>
                      </a:r>
                    </a:p>
                  </a:txBody>
                  <a:tcPr marL="133350" marR="114300" marT="95250" marB="95250" anchor="ctr">
                    <a:solidFill>
                      <a:srgbClr val="122D45"/>
                    </a:solidFill>
                  </a:tcPr>
                </a:tc>
                <a:extLst>
                  <a:ext uri="{0D108BD9-81ED-4DB2-BD59-A6C34878D82A}">
                    <a16:rowId xmlns:a16="http://schemas.microsoft.com/office/drawing/2014/main" val="10000"/>
                  </a:ext>
                </a:extLst>
              </a:tr>
              <a:tr h="664845">
                <a:tc>
                  <a:txBody>
                    <a:bodyPr/>
                    <a:lstStyle/>
                    <a:p>
                      <a:r>
                        <a:rPr sz="1800">
                          <a:solidFill>
                            <a:srgbClr val="122D45"/>
                          </a:solidFill>
                          <a:latin typeface="Arial"/>
                          <a:ea typeface="Arial"/>
                          <a:cs typeface="Arial"/>
                        </a:rPr>
                        <a:t>IDs and joining</a:t>
                      </a:r>
                    </a:p>
                  </a:txBody>
                  <a:tcPr marL="133350" marR="114300" marT="95250" marB="95250" anchor="ctr">
                    <a:solidFill>
                      <a:srgbClr val="FFFFFF"/>
                    </a:solidFill>
                  </a:tcPr>
                </a:tc>
                <a:tc>
                  <a:txBody>
                    <a:bodyPr/>
                    <a:lstStyle/>
                    <a:p>
                      <a:r>
                        <a:rPr sz="1800">
                          <a:solidFill>
                            <a:srgbClr val="122D45"/>
                          </a:solidFill>
                          <a:latin typeface="Arial"/>
                          <a:ea typeface="Arial"/>
                          <a:cs typeface="Arial"/>
                        </a:rPr>
                        <a:t>1,618 unique matches</a:t>
                      </a:r>
                    </a:p>
                  </a:txBody>
                  <a:tcPr marL="133350" marR="114300" marT="95250" marB="95250" anchor="ctr">
                    <a:solidFill>
                      <a:srgbClr val="FFFFFF"/>
                    </a:solidFill>
                  </a:tcPr>
                </a:tc>
                <a:tc>
                  <a:txBody>
                    <a:bodyPr/>
                    <a:lstStyle/>
                    <a:p>
                      <a:r>
                        <a:rPr sz="1800">
                          <a:solidFill>
                            <a:srgbClr val="122D45"/>
                          </a:solidFill>
                          <a:latin typeface="Arial"/>
                          <a:ea typeface="Arial"/>
                          <a:cs typeface="Arial"/>
                        </a:rPr>
                        <a:t>Retain all applicants. Analyze each observed outcome.</a:t>
                      </a:r>
                    </a:p>
                  </a:txBody>
                  <a:tcPr marL="133350" marR="114300" marT="95250" marB="95250" anchor="ctr">
                    <a:solidFill>
                      <a:srgbClr val="FFFFFF"/>
                    </a:solidFill>
                  </a:tcPr>
                </a:tc>
                <a:extLst>
                  <a:ext uri="{0D108BD9-81ED-4DB2-BD59-A6C34878D82A}">
                    <a16:rowId xmlns:a16="http://schemas.microsoft.com/office/drawing/2014/main" val="10001"/>
                  </a:ext>
                </a:extLst>
              </a:tr>
              <a:tr h="664845">
                <a:tc>
                  <a:txBody>
                    <a:bodyPr/>
                    <a:lstStyle/>
                    <a:p>
                      <a:r>
                        <a:rPr sz="1800">
                          <a:solidFill>
                            <a:srgbClr val="122D45"/>
                          </a:solidFill>
                          <a:latin typeface="Arial"/>
                          <a:ea typeface="Arial"/>
                          <a:cs typeface="Arial"/>
                        </a:rPr>
                        <a:t>Age across surveys</a:t>
                      </a:r>
                    </a:p>
                  </a:txBody>
                  <a:tcPr marL="133350" marR="114300" marT="95250" marB="95250" anchor="ctr">
                    <a:solidFill>
                      <a:srgbClr val="F0F4F6"/>
                    </a:solidFill>
                  </a:tcPr>
                </a:tc>
                <a:tc>
                  <a:txBody>
                    <a:bodyPr/>
                    <a:lstStyle/>
                    <a:p>
                      <a:r>
                        <a:rPr sz="1800">
                          <a:solidFill>
                            <a:srgbClr val="122D45"/>
                          </a:solidFill>
                          <a:latin typeface="Arial"/>
                          <a:ea typeface="Arial"/>
                          <a:cs typeface="Arial"/>
                        </a:rPr>
                        <a:t>11 declines, 350 outside 2–4 years</a:t>
                      </a:r>
                    </a:p>
                  </a:txBody>
                  <a:tcPr marL="133350" marR="114300" marT="95250" marB="95250" anchor="ctr">
                    <a:solidFill>
                      <a:srgbClr val="F0F4F6"/>
                    </a:solidFill>
                  </a:tcPr>
                </a:tc>
                <a:tc>
                  <a:txBody>
                    <a:bodyPr/>
                    <a:lstStyle/>
                    <a:p>
                      <a:r>
                        <a:rPr sz="1800">
                          <a:solidFill>
                            <a:srgbClr val="122D45"/>
                          </a:solidFill>
                          <a:latin typeface="Arial"/>
                          <a:ea typeface="Arial"/>
                          <a:cs typeface="Arial"/>
                        </a:rPr>
                        <a:t>Flag. Keep outcomes. Test targeted exclusions.</a:t>
                      </a:r>
                    </a:p>
                  </a:txBody>
                  <a:tcPr marL="133350" marR="114300" marT="95250" marB="95250" anchor="ctr">
                    <a:solidFill>
                      <a:srgbClr val="F0F4F6"/>
                    </a:solidFill>
                  </a:tcPr>
                </a:tc>
                <a:extLst>
                  <a:ext uri="{0D108BD9-81ED-4DB2-BD59-A6C34878D82A}">
                    <a16:rowId xmlns:a16="http://schemas.microsoft.com/office/drawing/2014/main" val="10002"/>
                  </a:ext>
                </a:extLst>
              </a:tr>
              <a:tr h="664845">
                <a:tc>
                  <a:txBody>
                    <a:bodyPr/>
                    <a:lstStyle/>
                    <a:p>
                      <a:r>
                        <a:rPr sz="1800">
                          <a:solidFill>
                            <a:srgbClr val="122D45"/>
                          </a:solidFill>
                          <a:latin typeface="Arial"/>
                          <a:ea typeface="Arial"/>
                          <a:cs typeface="Arial"/>
                        </a:rPr>
                        <a:t>Schooling histories</a:t>
                      </a:r>
                    </a:p>
                  </a:txBody>
                  <a:tcPr marL="133350" marR="114300" marT="95250" marB="95250" anchor="ctr">
                    <a:solidFill>
                      <a:srgbClr val="FFFFFF"/>
                    </a:solidFill>
                  </a:tcPr>
                </a:tc>
                <a:tc>
                  <a:txBody>
                    <a:bodyPr/>
                    <a:lstStyle/>
                    <a:p>
                      <a:r>
                        <a:rPr sz="1800">
                          <a:solidFill>
                            <a:srgbClr val="122D45"/>
                          </a:solidFill>
                          <a:latin typeface="Arial"/>
                          <a:ea typeface="Arial"/>
                          <a:cs typeface="Arial"/>
                        </a:rPr>
                        <a:t>14 grade contradictions</a:t>
                      </a:r>
                    </a:p>
                  </a:txBody>
                  <a:tcPr marL="133350" marR="114300" marT="95250" marB="95250" anchor="ctr">
                    <a:solidFill>
                      <a:srgbClr val="FFFFFF"/>
                    </a:solidFill>
                  </a:tcPr>
                </a:tc>
                <a:tc>
                  <a:txBody>
                    <a:bodyPr/>
                    <a:lstStyle/>
                    <a:p>
                      <a:r>
                        <a:rPr sz="1800">
                          <a:solidFill>
                            <a:srgbClr val="122D45"/>
                          </a:solidFill>
                          <a:latin typeface="Arial"/>
                          <a:ea typeface="Arial"/>
                          <a:cs typeface="Arial"/>
                        </a:rPr>
                        <a:t>Keep reports. Check exclusion and timing concerns.</a:t>
                      </a:r>
                    </a:p>
                  </a:txBody>
                  <a:tcPr marL="133350" marR="114300" marT="95250" marB="95250" anchor="ctr">
                    <a:solidFill>
                      <a:srgbClr val="FFFFFF"/>
                    </a:solidFill>
                  </a:tcPr>
                </a:tc>
                <a:extLst>
                  <a:ext uri="{0D108BD9-81ED-4DB2-BD59-A6C34878D82A}">
                    <a16:rowId xmlns:a16="http://schemas.microsoft.com/office/drawing/2014/main" val="10003"/>
                  </a:ext>
                </a:extLst>
              </a:tr>
              <a:tr h="664845">
                <a:tc>
                  <a:txBody>
                    <a:bodyPr/>
                    <a:lstStyle/>
                    <a:p>
                      <a:r>
                        <a:rPr sz="1800">
                          <a:solidFill>
                            <a:srgbClr val="122D45"/>
                          </a:solidFill>
                          <a:latin typeface="Arial"/>
                          <a:ea typeface="Arial"/>
                          <a:cs typeface="Arial"/>
                        </a:rPr>
                        <a:t>Work and hours</a:t>
                      </a:r>
                    </a:p>
                  </a:txBody>
                  <a:tcPr marL="133350" marR="114300" marT="95250" marB="95250" anchor="ctr">
                    <a:solidFill>
                      <a:srgbClr val="F0F4F6"/>
                    </a:solidFill>
                  </a:tcPr>
                </a:tc>
                <a:tc>
                  <a:txBody>
                    <a:bodyPr/>
                    <a:lstStyle/>
                    <a:p>
                      <a:r>
                        <a:rPr sz="1800">
                          <a:solidFill>
                            <a:srgbClr val="122D45"/>
                          </a:solidFill>
                          <a:latin typeface="Arial"/>
                          <a:ea typeface="Arial"/>
                          <a:cs typeface="Arial"/>
                        </a:rPr>
                        <a:t>1 non-worker reports 4 hours</a:t>
                      </a:r>
                    </a:p>
                  </a:txBody>
                  <a:tcPr marL="133350" marR="114300" marT="95250" marB="95250" anchor="ctr">
                    <a:solidFill>
                      <a:srgbClr val="F0F4F6"/>
                    </a:solidFill>
                  </a:tcPr>
                </a:tc>
                <a:tc>
                  <a:txBody>
                    <a:bodyPr/>
                    <a:lstStyle/>
                    <a:p>
                      <a:r>
                        <a:rPr sz="1800">
                          <a:solidFill>
                            <a:srgbClr val="122D45"/>
                          </a:solidFill>
                          <a:latin typeface="Arial"/>
                          <a:ea typeface="Arial"/>
                          <a:cs typeface="Arial"/>
                        </a:rPr>
                        <a:t>Preserve and flag. Test exclusion of this record.</a:t>
                      </a:r>
                    </a:p>
                  </a:txBody>
                  <a:tcPr marL="133350" marR="114300" marT="95250" marB="95250" anchor="ctr">
                    <a:solidFill>
                      <a:srgbClr val="F0F4F6"/>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F3E165AA-EFD4-4291-B9F3-574B530AF767}"/>
              </a:ext>
            </a:extLst>
          </p:cNvPr>
          <p:cNvSpPr>
            <a:spLocks noGrp="1"/>
          </p:cNvSpPr>
          <p:nvPr/>
        </p:nvSpPr>
        <p:spPr>
          <a:xfrm>
            <a:off x="609600" y="5219700"/>
            <a:ext cx="10972800" cy="895350"/>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School-year totals also need review against the uncertain timeline. Outcome-specific missingness and sensitivity checks accompany every main result.</a:t>
            </a:r>
          </a:p>
        </p:txBody>
      </p:sp>
    </p:spTree>
    <p:extLst>
      <p:ext uri="{BB962C8B-B14F-4D97-AF65-F5344CB8AC3E}">
        <p14:creationId xmlns:p14="http://schemas.microsoft.com/office/powerpoint/2010/main" val="1339851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19845B8-9D16-4B88-8E2A-8159327BD9A5}"/>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Credibility of the control-group counterfactual</a:t>
            </a:r>
          </a:p>
        </p:txBody>
      </p:sp>
      <p:sp>
        <p:nvSpPr>
          <p:cNvPr id="2" name="Rectangle 1">
            <a:extLst>
              <a:ext uri="{FF2B5EF4-FFF2-40B4-BE49-F238E27FC236}">
                <a16:creationId xmlns:a16="http://schemas.microsoft.com/office/drawing/2014/main" id="{E0ECA26D-2B9A-4E3E-A1B7-9E2D81AC275F}"/>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The target is the effect of the lottery offer among applicants.</a:t>
            </a:r>
          </a:p>
        </p:txBody>
      </p:sp>
      <p:sp>
        <p:nvSpPr>
          <p:cNvPr id="3" name="Rectangle 2">
            <a:extLst>
              <a:ext uri="{FF2B5EF4-FFF2-40B4-BE49-F238E27FC236}">
                <a16:creationId xmlns:a16="http://schemas.microsoft.com/office/drawing/2014/main" id="{9D4B2331-B2A6-4D4F-B114-F557FCC43DA3}"/>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4</a:t>
            </a:r>
          </a:p>
        </p:txBody>
      </p:sp>
      <p:sp>
        <p:nvSpPr>
          <p:cNvPr id="4" name="Rectangle 3">
            <a:extLst>
              <a:ext uri="{FF2B5EF4-FFF2-40B4-BE49-F238E27FC236}">
                <a16:creationId xmlns:a16="http://schemas.microsoft.com/office/drawing/2014/main" id="{BD27EC95-CBA8-45F5-A72E-62EACD92C794}"/>
              </a:ext>
            </a:extLst>
          </p:cNvPr>
          <p:cNvSpPr>
            <a:spLocks noGrp="1"/>
          </p:cNvSpPr>
          <p:nvPr/>
        </p:nvSpPr>
        <p:spPr>
          <a:xfrm>
            <a:off x="609600" y="1381125"/>
            <a:ext cx="10972800" cy="657225"/>
          </a:xfrm>
          <a:prstGeom prst="rect">
            <a:avLst/>
          </a:prstGeom>
          <a:noFill/>
          <a:ln w="0">
            <a:noFill/>
          </a:ln>
        </p:spPr>
        <p:txBody>
          <a:bodyPr anchor="ctr">
            <a:noAutofit/>
          </a:bodyPr>
          <a:lstStyle/>
          <a:p>
            <a:pPr>
              <a:defRPr sz="2325" b="1">
                <a:solidFill>
                  <a:srgbClr val="007E87"/>
                </a:solidFill>
                <a:latin typeface="Arial"/>
                <a:ea typeface="Arial"/>
                <a:cs typeface="Arial"/>
              </a:defRPr>
            </a:pPr>
            <a:r>
              <a:rPr sz="2325" b="1">
                <a:solidFill>
                  <a:srgbClr val="007E87"/>
                </a:solidFill>
                <a:latin typeface="Arial"/>
                <a:ea typeface="Arial"/>
                <a:cs typeface="Arial"/>
              </a:rPr>
              <a:t>Yes, under the stated lottery design and valid follow-up.</a:t>
            </a:r>
          </a:p>
        </p:txBody>
      </p:sp>
      <p:sp>
        <p:nvSpPr>
          <p:cNvPr id="5" name="Rectangle 4">
            <a:extLst>
              <a:ext uri="{FF2B5EF4-FFF2-40B4-BE49-F238E27FC236}">
                <a16:creationId xmlns:a16="http://schemas.microsoft.com/office/drawing/2014/main" id="{5F2B179F-6ECB-4719-A5E4-A43DCC1246A8}"/>
              </a:ext>
            </a:extLst>
          </p:cNvPr>
          <p:cNvSpPr>
            <a:spLocks noGrp="1"/>
          </p:cNvSpPr>
          <p:nvPr/>
        </p:nvSpPr>
        <p:spPr>
          <a:xfrm>
            <a:off x="609600" y="2371725"/>
            <a:ext cx="2905125" cy="619125"/>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Random allocation</a:t>
            </a:r>
          </a:p>
        </p:txBody>
      </p:sp>
      <p:sp>
        <p:nvSpPr>
          <p:cNvPr id="6" name="Rectangle 5">
            <a:extLst>
              <a:ext uri="{FF2B5EF4-FFF2-40B4-BE49-F238E27FC236}">
                <a16:creationId xmlns:a16="http://schemas.microsoft.com/office/drawing/2014/main" id="{9498F69D-FEA7-4A2B-84E0-F2DF0216D171}"/>
              </a:ext>
            </a:extLst>
          </p:cNvPr>
          <p:cNvSpPr>
            <a:spLocks noGrp="1"/>
          </p:cNvSpPr>
          <p:nvPr/>
        </p:nvSpPr>
        <p:spPr>
          <a:xfrm>
            <a:off x="3667125" y="2228850"/>
            <a:ext cx="7915275" cy="923925"/>
          </a:xfrm>
          <a:prstGeom prst="rect">
            <a:avLst/>
          </a:prstGeom>
          <a:noFill/>
          <a:ln w="0">
            <a:noFill/>
          </a:ln>
        </p:spPr>
        <p:txBody>
          <a:bodyPr anchor="ctr">
            <a:noAutofit/>
          </a:bodyPr>
          <a:lstStyle/>
          <a:p>
            <a:pPr>
              <a:defRPr sz="2025" b="0">
                <a:solidFill>
                  <a:srgbClr val="122D45"/>
                </a:solidFill>
                <a:latin typeface="Arial"/>
                <a:ea typeface="Arial"/>
                <a:cs typeface="Arial"/>
              </a:defRPr>
            </a:pPr>
            <a:r>
              <a:rPr sz="2025" b="0">
                <a:solidFill>
                  <a:srgbClr val="122D45"/>
                </a:solidFill>
                <a:latin typeface="Arial"/>
                <a:ea typeface="Arial"/>
                <a:cs typeface="Arial"/>
              </a:rPr>
              <a:t>A valid lottery makes unselected applicants a credible comparison for what selected applicants would experience without an offer.</a:t>
            </a:r>
          </a:p>
        </p:txBody>
      </p:sp>
      <p:sp>
        <p:nvSpPr>
          <p:cNvPr id="7" name="Rectangle 6">
            <a:extLst>
              <a:ext uri="{FF2B5EF4-FFF2-40B4-BE49-F238E27FC236}">
                <a16:creationId xmlns:a16="http://schemas.microsoft.com/office/drawing/2014/main" id="{3238BFBA-5E98-4A49-A21D-5F2E5AE14ED3}"/>
              </a:ext>
            </a:extLst>
          </p:cNvPr>
          <p:cNvSpPr>
            <a:spLocks noGrp="1"/>
          </p:cNvSpPr>
          <p:nvPr/>
        </p:nvSpPr>
        <p:spPr>
          <a:xfrm>
            <a:off x="609600" y="3438525"/>
            <a:ext cx="2905125" cy="609600"/>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Baseline check</a:t>
            </a:r>
          </a:p>
        </p:txBody>
      </p:sp>
      <p:sp>
        <p:nvSpPr>
          <p:cNvPr id="8" name="Rectangle 7">
            <a:extLst>
              <a:ext uri="{FF2B5EF4-FFF2-40B4-BE49-F238E27FC236}">
                <a16:creationId xmlns:a16="http://schemas.microsoft.com/office/drawing/2014/main" id="{AA94863F-37BA-4577-AC17-B6F56B66DF53}"/>
              </a:ext>
            </a:extLst>
          </p:cNvPr>
          <p:cNvSpPr>
            <a:spLocks noGrp="1"/>
          </p:cNvSpPr>
          <p:nvPr/>
        </p:nvSpPr>
        <p:spPr>
          <a:xfrm>
            <a:off x="3667125" y="3324225"/>
            <a:ext cx="7915275" cy="828675"/>
          </a:xfrm>
          <a:prstGeom prst="rect">
            <a:avLst/>
          </a:prstGeom>
          <a:noFill/>
          <a:ln w="0">
            <a:noFill/>
          </a:ln>
        </p:spPr>
        <p:txBody>
          <a:bodyPr anchor="ctr">
            <a:noAutofit/>
          </a:bodyPr>
          <a:lstStyle/>
          <a:p>
            <a:pPr>
              <a:defRPr sz="2025" b="0">
                <a:solidFill>
                  <a:srgbClr val="122D45"/>
                </a:solidFill>
                <a:latin typeface="Arial"/>
                <a:ea typeface="Arial"/>
                <a:cs typeface="Arial"/>
              </a:defRPr>
            </a:pPr>
            <a:r>
              <a:rPr sz="2025" b="0">
                <a:solidFill>
                  <a:srgbClr val="122D45"/>
                </a:solidFill>
                <a:latin typeface="Arial"/>
                <a:ea typeface="Arial"/>
                <a:cs typeface="Arial"/>
              </a:rPr>
              <a:t>Balance p = .604 shows no evidence of imbalance in tested baseline characteristics. This cannot prove correct implementation.</a:t>
            </a:r>
          </a:p>
        </p:txBody>
      </p:sp>
      <p:sp>
        <p:nvSpPr>
          <p:cNvPr id="9" name="Rectangle 8">
            <a:extLst>
              <a:ext uri="{FF2B5EF4-FFF2-40B4-BE49-F238E27FC236}">
                <a16:creationId xmlns:a16="http://schemas.microsoft.com/office/drawing/2014/main" id="{50BA84D0-3BC2-4DDC-828D-C8A415C8485E}"/>
              </a:ext>
            </a:extLst>
          </p:cNvPr>
          <p:cNvSpPr>
            <a:spLocks noGrp="1"/>
          </p:cNvSpPr>
          <p:nvPr/>
        </p:nvSpPr>
        <p:spPr>
          <a:xfrm>
            <a:off x="609600" y="4476750"/>
            <a:ext cx="2905125" cy="619125"/>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Remaining limits</a:t>
            </a:r>
          </a:p>
        </p:txBody>
      </p:sp>
      <p:sp>
        <p:nvSpPr>
          <p:cNvPr id="10" name="Rectangle 9">
            <a:extLst>
              <a:ext uri="{FF2B5EF4-FFF2-40B4-BE49-F238E27FC236}">
                <a16:creationId xmlns:a16="http://schemas.microsoft.com/office/drawing/2014/main" id="{5D9B3769-CC32-46A0-AC49-D871A5CB4384}"/>
              </a:ext>
            </a:extLst>
          </p:cNvPr>
          <p:cNvSpPr>
            <a:spLocks noGrp="1"/>
          </p:cNvSpPr>
          <p:nvPr/>
        </p:nvSpPr>
        <p:spPr>
          <a:xfrm>
            <a:off x="3667125" y="4267200"/>
            <a:ext cx="7915275" cy="1133475"/>
          </a:xfrm>
          <a:prstGeom prst="rect">
            <a:avLst/>
          </a:prstGeom>
          <a:noFill/>
          <a:ln w="0">
            <a:noFill/>
          </a:ln>
        </p:spPr>
        <p:txBody>
          <a:bodyPr anchor="ctr">
            <a:noAutofit/>
          </a:bodyPr>
          <a:lstStyle/>
          <a:p>
            <a:pPr>
              <a:defRPr sz="2025" b="0">
                <a:solidFill>
                  <a:srgbClr val="122D45"/>
                </a:solidFill>
                <a:latin typeface="Arial"/>
                <a:ea typeface="Arial"/>
                <a:cs typeface="Arial"/>
              </a:defRPr>
            </a:pPr>
            <a:r>
              <a:rPr sz="2025" b="0">
                <a:solidFill>
                  <a:srgbClr val="122D45"/>
                </a:solidFill>
                <a:latin typeface="Arial"/>
                <a:ea typeface="Arial"/>
                <a:cs typeface="Arial"/>
              </a:rPr>
              <a:t>Private status is missing for 10/583 controls and 3/593 selected applicants. Selective observation, spillovers and uncertain timing remain concerns.</a:t>
            </a:r>
          </a:p>
        </p:txBody>
      </p:sp>
      <p:sp>
        <p:nvSpPr>
          <p:cNvPr id="11" name="Rectangle 10">
            <a:extLst>
              <a:ext uri="{FF2B5EF4-FFF2-40B4-BE49-F238E27FC236}">
                <a16:creationId xmlns:a16="http://schemas.microsoft.com/office/drawing/2014/main" id="{8F62B62E-433E-487A-B71E-7206A3697106}"/>
              </a:ext>
            </a:extLst>
          </p:cNvPr>
          <p:cNvSpPr>
            <a:spLocks noGrp="1"/>
          </p:cNvSpPr>
          <p:nvPr/>
        </p:nvSpPr>
        <p:spPr>
          <a:xfrm>
            <a:off x="609600" y="5638800"/>
            <a:ext cx="10972800" cy="495300"/>
          </a:xfrm>
          <a:prstGeom prst="rect">
            <a:avLst/>
          </a:prstGeom>
          <a:noFill/>
          <a:ln w="0">
            <a:noFill/>
          </a:ln>
        </p:spPr>
        <p:txBody>
          <a:bodyPr anchor="ctr">
            <a:noAutofit/>
          </a:bodyPr>
          <a:lstStyle/>
          <a:p>
            <a:pPr>
              <a:defRPr sz="1875" b="1">
                <a:solidFill>
                  <a:srgbClr val="007E87"/>
                </a:solidFill>
                <a:latin typeface="Arial"/>
                <a:ea typeface="Arial"/>
                <a:cs typeface="Arial"/>
              </a:defRPr>
            </a:pPr>
            <a:r>
              <a:rPr sz="1875" b="1">
                <a:solidFill>
                  <a:srgbClr val="007E87"/>
                </a:solidFill>
                <a:latin typeface="Arial"/>
                <a:ea typeface="Arial"/>
                <a:cs typeface="Arial"/>
              </a:rPr>
              <a:t>Control-group private schooling is compatible with a valid randomized offer comparison.</a:t>
            </a:r>
          </a:p>
        </p:txBody>
      </p:sp>
    </p:spTree>
    <p:extLst>
      <p:ext uri="{BB962C8B-B14F-4D97-AF65-F5344CB8AC3E}">
        <p14:creationId xmlns:p14="http://schemas.microsoft.com/office/powerpoint/2010/main" val="107618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8A0AAA-ED5C-4561-B277-F79F08698B09}"/>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School choice and progression in A2020</a:t>
            </a:r>
          </a:p>
        </p:txBody>
      </p:sp>
      <p:sp>
        <p:nvSpPr>
          <p:cNvPr id="2" name="Rectangle 1">
            <a:extLst>
              <a:ext uri="{FF2B5EF4-FFF2-40B4-BE49-F238E27FC236}">
                <a16:creationId xmlns:a16="http://schemas.microsoft.com/office/drawing/2014/main" id="{BB4D7EC2-C466-4196-9FC2-35B8EAD3831C}"/>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Treatment group = lottery selected. Control group = not selected. p = raw HC2/t p-value.</a:t>
            </a:r>
          </a:p>
        </p:txBody>
      </p:sp>
      <p:sp>
        <p:nvSpPr>
          <p:cNvPr id="3" name="Rectangle 2">
            <a:extLst>
              <a:ext uri="{FF2B5EF4-FFF2-40B4-BE49-F238E27FC236}">
                <a16:creationId xmlns:a16="http://schemas.microsoft.com/office/drawing/2014/main" id="{E3E87578-FB3C-4C26-BD04-883D8207ADCC}"/>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6</a:t>
            </a:r>
          </a:p>
        </p:txBody>
      </p:sp>
      <p:sp>
        <p:nvSpPr>
          <p:cNvPr id="4" name="Rectangle 3">
            <a:extLst>
              <a:ext uri="{FF2B5EF4-FFF2-40B4-BE49-F238E27FC236}">
                <a16:creationId xmlns:a16="http://schemas.microsoft.com/office/drawing/2014/main" id="{7118903C-B6BB-4F5D-8682-C7766F007797}"/>
              </a:ext>
            </a:extLst>
          </p:cNvPr>
          <p:cNvSpPr>
            <a:spLocks noGrp="1"/>
          </p:cNvSpPr>
          <p:nvPr/>
        </p:nvSpPr>
        <p:spPr>
          <a:xfrm>
            <a:off x="609600" y="1323975"/>
            <a:ext cx="10972800" cy="447675"/>
          </a:xfrm>
          <a:prstGeom prst="rect">
            <a:avLst/>
          </a:prstGeom>
          <a:noFill/>
          <a:ln w="0">
            <a:noFill/>
          </a:ln>
        </p:spPr>
        <p:txBody>
          <a:bodyPr anchor="ctr">
            <a:noAutofit/>
          </a:bodyPr>
          <a:lstStyle/>
          <a:p>
            <a:pPr>
              <a:defRPr sz="1800" b="0">
                <a:solidFill>
                  <a:srgbClr val="007E87"/>
                </a:solidFill>
                <a:latin typeface="Arial"/>
                <a:ea typeface="Arial"/>
                <a:cs typeface="Arial"/>
              </a:defRPr>
            </a:pPr>
            <a:r>
              <a:rPr sz="1800" b="0">
                <a:solidFill>
                  <a:srgbClr val="007E87"/>
                </a:solidFill>
                <a:latin typeface="Arial"/>
                <a:ea typeface="Arial"/>
                <a:cs typeface="Arial"/>
              </a:rPr>
              <a:t>Y = α + τZ + ε     Z = lottery selection. Reported effect = τ.</a:t>
            </a:r>
          </a:p>
        </p:txBody>
      </p:sp>
      <p:graphicFrame>
        <p:nvGraphicFramePr>
          <p:cNvPr id="11" name="Table 10"/>
          <p:cNvGraphicFramePr/>
          <p:nvPr/>
        </p:nvGraphicFramePr>
        <p:xfrm>
          <a:off x="609600" y="1857375"/>
          <a:ext cx="10972800" cy="3000375"/>
        </p:xfrm>
        <a:graphic>
          <a:graphicData uri="http://schemas.openxmlformats.org/drawingml/2006/table">
            <a:tbl>
              <a:tblPr/>
              <a:tblGrid>
                <a:gridCol w="242887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923925">
                  <a:extLst>
                    <a:ext uri="{9D8B030D-6E8A-4147-A177-3AD203B41FA5}">
                      <a16:colId xmlns:a16="http://schemas.microsoft.com/office/drawing/2014/main" val="20006"/>
                    </a:ext>
                  </a:extLst>
                </a:gridCol>
              </a:tblGrid>
              <a:tr h="600075">
                <a:tc>
                  <a:txBody>
                    <a:bodyPr/>
                    <a:lstStyle/>
                    <a:p>
                      <a:r>
                        <a:rPr sz="1575" b="1">
                          <a:solidFill>
                            <a:srgbClr val="FFFFFF"/>
                          </a:solidFill>
                          <a:latin typeface="Arial"/>
                          <a:ea typeface="Arial"/>
                          <a:cs typeface="Arial"/>
                        </a:rPr>
                        <a:t>Outcome</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Control group mean</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Treatment group mean</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Offer effect</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95% interval</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p-value</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N</a:t>
                      </a:r>
                    </a:p>
                  </a:txBody>
                  <a:tcPr marL="133350" marR="114300" marT="57150" marB="57150" anchor="ctr">
                    <a:solidFill>
                      <a:srgbClr val="122D45"/>
                    </a:solidFill>
                  </a:tcPr>
                </a:tc>
                <a:extLst>
                  <a:ext uri="{0D108BD9-81ED-4DB2-BD59-A6C34878D82A}">
                    <a16:rowId xmlns:a16="http://schemas.microsoft.com/office/drawing/2014/main" val="10000"/>
                  </a:ext>
                </a:extLst>
              </a:tr>
              <a:tr h="600075">
                <a:tc>
                  <a:txBody>
                    <a:bodyPr/>
                    <a:lstStyle/>
                    <a:p>
                      <a:r>
                        <a:rPr sz="1575">
                          <a:solidFill>
                            <a:srgbClr val="122D45"/>
                          </a:solidFill>
                          <a:latin typeface="Arial"/>
                          <a:ea typeface="Arial"/>
                          <a:cs typeface="Arial"/>
                        </a:rPr>
                        <a:t>Enrolled in any school</a:t>
                      </a:r>
                    </a:p>
                  </a:txBody>
                  <a:tcPr marL="133350" marR="114300" marT="57150" marB="57150" anchor="ctr">
                    <a:solidFill>
                      <a:srgbClr val="FFFFFF"/>
                    </a:solidFill>
                  </a:tcPr>
                </a:tc>
                <a:tc>
                  <a:txBody>
                    <a:bodyPr/>
                    <a:lstStyle/>
                    <a:p>
                      <a:r>
                        <a:rPr sz="1575">
                          <a:solidFill>
                            <a:srgbClr val="122D45"/>
                          </a:solidFill>
                          <a:latin typeface="Arial"/>
                          <a:ea typeface="Arial"/>
                          <a:cs typeface="Arial"/>
                        </a:rPr>
                        <a:t>82.5%</a:t>
                      </a:r>
                    </a:p>
                  </a:txBody>
                  <a:tcPr marL="133350" marR="114300" marT="57150" marB="57150" anchor="ctr">
                    <a:solidFill>
                      <a:srgbClr val="FFFFFF"/>
                    </a:solidFill>
                  </a:tcPr>
                </a:tc>
                <a:tc>
                  <a:txBody>
                    <a:bodyPr/>
                    <a:lstStyle/>
                    <a:p>
                      <a:r>
                        <a:rPr sz="1575">
                          <a:solidFill>
                            <a:srgbClr val="122D45"/>
                          </a:solidFill>
                          <a:latin typeface="Arial"/>
                          <a:ea typeface="Arial"/>
                          <a:cs typeface="Arial"/>
                        </a:rPr>
                        <a:t>84.6%</a:t>
                      </a:r>
                    </a:p>
                  </a:txBody>
                  <a:tcPr marL="133350" marR="114300" marT="57150" marB="57150" anchor="ctr">
                    <a:solidFill>
                      <a:srgbClr val="FFFFFF"/>
                    </a:solidFill>
                  </a:tcPr>
                </a:tc>
                <a:tc>
                  <a:txBody>
                    <a:bodyPr/>
                    <a:lstStyle/>
                    <a:p>
                      <a:r>
                        <a:rPr sz="1575">
                          <a:solidFill>
                            <a:srgbClr val="122D45"/>
                          </a:solidFill>
                          <a:latin typeface="Arial"/>
                          <a:ea typeface="Arial"/>
                          <a:cs typeface="Arial"/>
                        </a:rPr>
                        <a:t>+2.1 pp</a:t>
                      </a:r>
                    </a:p>
                  </a:txBody>
                  <a:tcPr marL="133350" marR="114300" marT="57150" marB="57150" anchor="ctr">
                    <a:solidFill>
                      <a:srgbClr val="FFFFFF"/>
                    </a:solidFill>
                  </a:tcPr>
                </a:tc>
                <a:tc>
                  <a:txBody>
                    <a:bodyPr/>
                    <a:lstStyle/>
                    <a:p>
                      <a:r>
                        <a:rPr sz="1575">
                          <a:solidFill>
                            <a:srgbClr val="122D45"/>
                          </a:solidFill>
                          <a:latin typeface="Arial"/>
                          <a:ea typeface="Arial"/>
                          <a:cs typeface="Arial"/>
                        </a:rPr>
                        <a:t>[−2.2, 6.3]</a:t>
                      </a:r>
                    </a:p>
                  </a:txBody>
                  <a:tcPr marL="133350" marR="114300" marT="57150" marB="57150" anchor="ctr">
                    <a:solidFill>
                      <a:srgbClr val="FFFFFF"/>
                    </a:solidFill>
                  </a:tcPr>
                </a:tc>
                <a:tc>
                  <a:txBody>
                    <a:bodyPr/>
                    <a:lstStyle/>
                    <a:p>
                      <a:r>
                        <a:rPr sz="1575">
                          <a:solidFill>
                            <a:srgbClr val="122D45"/>
                          </a:solidFill>
                          <a:latin typeface="Arial"/>
                          <a:ea typeface="Arial"/>
                          <a:cs typeface="Arial"/>
                        </a:rPr>
                        <a:t>0.339</a:t>
                      </a:r>
                    </a:p>
                  </a:txBody>
                  <a:tcPr marL="133350" marR="114300" marT="57150" marB="57150" anchor="ctr">
                    <a:solidFill>
                      <a:srgbClr val="FFFFFF"/>
                    </a:solidFill>
                  </a:tcPr>
                </a:tc>
                <a:tc>
                  <a:txBody>
                    <a:bodyPr/>
                    <a:lstStyle/>
                    <a:p>
                      <a:r>
                        <a:rPr sz="1575">
                          <a:solidFill>
                            <a:srgbClr val="122D45"/>
                          </a:solidFill>
                          <a:latin typeface="Arial"/>
                          <a:ea typeface="Arial"/>
                          <a:cs typeface="Arial"/>
                        </a:rPr>
                        <a:t>1,169</a:t>
                      </a:r>
                    </a:p>
                  </a:txBody>
                  <a:tcPr marL="133350" marR="114300" marT="57150" marB="57150" anchor="ctr">
                    <a:solidFill>
                      <a:srgbClr val="FFFFFF"/>
                    </a:solidFill>
                  </a:tcPr>
                </a:tc>
                <a:extLst>
                  <a:ext uri="{0D108BD9-81ED-4DB2-BD59-A6C34878D82A}">
                    <a16:rowId xmlns:a16="http://schemas.microsoft.com/office/drawing/2014/main" val="10001"/>
                  </a:ext>
                </a:extLst>
              </a:tr>
              <a:tr h="600075">
                <a:tc>
                  <a:txBody>
                    <a:bodyPr/>
                    <a:lstStyle/>
                    <a:p>
                      <a:r>
                        <a:rPr sz="1575">
                          <a:solidFill>
                            <a:srgbClr val="122D45"/>
                          </a:solidFill>
                          <a:latin typeface="Arial"/>
                          <a:ea typeface="Arial"/>
                          <a:cs typeface="Arial"/>
                        </a:rPr>
                        <a:t>Attending private school</a:t>
                      </a:r>
                    </a:p>
                  </a:txBody>
                  <a:tcPr marL="133350" marR="114300" marT="57150" marB="57150" anchor="ctr">
                    <a:solidFill>
                      <a:srgbClr val="F0F4F6"/>
                    </a:solidFill>
                  </a:tcPr>
                </a:tc>
                <a:tc>
                  <a:txBody>
                    <a:bodyPr/>
                    <a:lstStyle/>
                    <a:p>
                      <a:r>
                        <a:rPr sz="1575">
                          <a:solidFill>
                            <a:srgbClr val="122D45"/>
                          </a:solidFill>
                          <a:latin typeface="Arial"/>
                          <a:ea typeface="Arial"/>
                          <a:cs typeface="Arial"/>
                        </a:rPr>
                        <a:t>53.8%</a:t>
                      </a:r>
                    </a:p>
                  </a:txBody>
                  <a:tcPr marL="133350" marR="114300" marT="57150" marB="57150" anchor="ctr">
                    <a:solidFill>
                      <a:srgbClr val="F0F4F6"/>
                    </a:solidFill>
                  </a:tcPr>
                </a:tc>
                <a:tc>
                  <a:txBody>
                    <a:bodyPr/>
                    <a:lstStyle/>
                    <a:p>
                      <a:r>
                        <a:rPr sz="1575">
                          <a:solidFill>
                            <a:srgbClr val="122D45"/>
                          </a:solidFill>
                          <a:latin typeface="Arial"/>
                          <a:ea typeface="Arial"/>
                          <a:cs typeface="Arial"/>
                        </a:rPr>
                        <a:t>69.7%</a:t>
                      </a:r>
                    </a:p>
                  </a:txBody>
                  <a:tcPr marL="133350" marR="114300" marT="57150" marB="57150" anchor="ctr">
                    <a:solidFill>
                      <a:srgbClr val="F0F4F6"/>
                    </a:solidFill>
                  </a:tcPr>
                </a:tc>
                <a:tc>
                  <a:txBody>
                    <a:bodyPr/>
                    <a:lstStyle/>
                    <a:p>
                      <a:r>
                        <a:rPr sz="1575">
                          <a:solidFill>
                            <a:srgbClr val="122D45"/>
                          </a:solidFill>
                          <a:latin typeface="Arial"/>
                          <a:ea typeface="Arial"/>
                          <a:cs typeface="Arial"/>
                        </a:rPr>
                        <a:t>+15.9 pp</a:t>
                      </a:r>
                    </a:p>
                  </a:txBody>
                  <a:tcPr marL="133350" marR="114300" marT="57150" marB="57150" anchor="ctr">
                    <a:solidFill>
                      <a:srgbClr val="F0F4F6"/>
                    </a:solidFill>
                  </a:tcPr>
                </a:tc>
                <a:tc>
                  <a:txBody>
                    <a:bodyPr/>
                    <a:lstStyle/>
                    <a:p>
                      <a:r>
                        <a:rPr sz="1575">
                          <a:solidFill>
                            <a:srgbClr val="122D45"/>
                          </a:solidFill>
                          <a:latin typeface="Arial"/>
                          <a:ea typeface="Arial"/>
                          <a:cs typeface="Arial"/>
                        </a:rPr>
                        <a:t>[10.4, 21.4]</a:t>
                      </a:r>
                    </a:p>
                  </a:txBody>
                  <a:tcPr marL="133350" marR="114300" marT="57150" marB="57150" anchor="ctr">
                    <a:solidFill>
                      <a:srgbClr val="F0F4F6"/>
                    </a:solidFill>
                  </a:tcPr>
                </a:tc>
                <a:tc>
                  <a:txBody>
                    <a:bodyPr/>
                    <a:lstStyle/>
                    <a:p>
                      <a:r>
                        <a:rPr sz="1575">
                          <a:solidFill>
                            <a:srgbClr val="122D45"/>
                          </a:solidFill>
                          <a:latin typeface="Arial"/>
                          <a:ea typeface="Arial"/>
                          <a:cs typeface="Arial"/>
                        </a:rPr>
                        <a:t>&lt;.001</a:t>
                      </a:r>
                    </a:p>
                  </a:txBody>
                  <a:tcPr marL="133350" marR="114300" marT="57150" marB="57150" anchor="ctr">
                    <a:solidFill>
                      <a:srgbClr val="F0F4F6"/>
                    </a:solidFill>
                  </a:tcPr>
                </a:tc>
                <a:tc>
                  <a:txBody>
                    <a:bodyPr/>
                    <a:lstStyle/>
                    <a:p>
                      <a:r>
                        <a:rPr sz="1575">
                          <a:solidFill>
                            <a:srgbClr val="122D45"/>
                          </a:solidFill>
                          <a:latin typeface="Arial"/>
                          <a:ea typeface="Arial"/>
                          <a:cs typeface="Arial"/>
                        </a:rPr>
                        <a:t>1,163</a:t>
                      </a:r>
                    </a:p>
                  </a:txBody>
                  <a:tcPr marL="133350" marR="114300" marT="57150" marB="57150" anchor="ctr">
                    <a:solidFill>
                      <a:srgbClr val="F0F4F6"/>
                    </a:solidFill>
                  </a:tcPr>
                </a:tc>
                <a:extLst>
                  <a:ext uri="{0D108BD9-81ED-4DB2-BD59-A6C34878D82A}">
                    <a16:rowId xmlns:a16="http://schemas.microsoft.com/office/drawing/2014/main" val="10002"/>
                  </a:ext>
                </a:extLst>
              </a:tr>
              <a:tr h="600075">
                <a:tc>
                  <a:txBody>
                    <a:bodyPr/>
                    <a:lstStyle/>
                    <a:p>
                      <a:r>
                        <a:rPr sz="1575">
                          <a:solidFill>
                            <a:srgbClr val="122D45"/>
                          </a:solidFill>
                          <a:latin typeface="Arial"/>
                          <a:ea typeface="Arial"/>
                          <a:cs typeface="Arial"/>
                        </a:rPr>
                        <a:t>Highest grade completed</a:t>
                      </a:r>
                    </a:p>
                  </a:txBody>
                  <a:tcPr marL="133350" marR="114300" marT="57150" marB="57150" anchor="ctr">
                    <a:solidFill>
                      <a:srgbClr val="FFFFFF"/>
                    </a:solidFill>
                  </a:tcPr>
                </a:tc>
                <a:tc>
                  <a:txBody>
                    <a:bodyPr/>
                    <a:lstStyle/>
                    <a:p>
                      <a:r>
                        <a:rPr sz="1575">
                          <a:solidFill>
                            <a:srgbClr val="122D45"/>
                          </a:solidFill>
                          <a:latin typeface="Arial"/>
                          <a:ea typeface="Arial"/>
                          <a:cs typeface="Arial"/>
                        </a:rPr>
                        <a:t>7.472</a:t>
                      </a:r>
                    </a:p>
                  </a:txBody>
                  <a:tcPr marL="133350" marR="114300" marT="57150" marB="57150" anchor="ctr">
                    <a:solidFill>
                      <a:srgbClr val="FFFFFF"/>
                    </a:solidFill>
                  </a:tcPr>
                </a:tc>
                <a:tc>
                  <a:txBody>
                    <a:bodyPr/>
                    <a:lstStyle/>
                    <a:p>
                      <a:r>
                        <a:rPr sz="1575">
                          <a:solidFill>
                            <a:srgbClr val="122D45"/>
                          </a:solidFill>
                          <a:latin typeface="Arial"/>
                          <a:ea typeface="Arial"/>
                          <a:cs typeface="Arial"/>
                        </a:rPr>
                        <a:t>7.659</a:t>
                      </a:r>
                    </a:p>
                  </a:txBody>
                  <a:tcPr marL="133350" marR="114300" marT="57150" marB="57150" anchor="ctr">
                    <a:solidFill>
                      <a:srgbClr val="FFFFFF"/>
                    </a:solidFill>
                  </a:tcPr>
                </a:tc>
                <a:tc>
                  <a:txBody>
                    <a:bodyPr/>
                    <a:lstStyle/>
                    <a:p>
                      <a:r>
                        <a:rPr sz="1575">
                          <a:solidFill>
                            <a:srgbClr val="122D45"/>
                          </a:solidFill>
                          <a:latin typeface="Arial"/>
                          <a:ea typeface="Arial"/>
                          <a:cs typeface="Arial"/>
                        </a:rPr>
                        <a:t>+0.188</a:t>
                      </a:r>
                    </a:p>
                  </a:txBody>
                  <a:tcPr marL="133350" marR="114300" marT="57150" marB="57150" anchor="ctr">
                    <a:solidFill>
                      <a:srgbClr val="FFFFFF"/>
                    </a:solidFill>
                  </a:tcPr>
                </a:tc>
                <a:tc>
                  <a:txBody>
                    <a:bodyPr/>
                    <a:lstStyle/>
                    <a:p>
                      <a:r>
                        <a:rPr sz="1575">
                          <a:solidFill>
                            <a:srgbClr val="122D45"/>
                          </a:solidFill>
                          <a:latin typeface="Arial"/>
                          <a:ea typeface="Arial"/>
                          <a:cs typeface="Arial"/>
                        </a:rPr>
                        <a:t>[0.079, 0.296]</a:t>
                      </a:r>
                    </a:p>
                  </a:txBody>
                  <a:tcPr marL="133350" marR="114300" marT="57150" marB="57150" anchor="ctr">
                    <a:solidFill>
                      <a:srgbClr val="FFFFFF"/>
                    </a:solidFill>
                  </a:tcPr>
                </a:tc>
                <a:tc>
                  <a:txBody>
                    <a:bodyPr/>
                    <a:lstStyle/>
                    <a:p>
                      <a:r>
                        <a:rPr sz="1575">
                          <a:solidFill>
                            <a:srgbClr val="122D45"/>
                          </a:solidFill>
                          <a:latin typeface="Arial"/>
                          <a:ea typeface="Arial"/>
                          <a:cs typeface="Arial"/>
                        </a:rPr>
                        <a:t>&lt;.001</a:t>
                      </a:r>
                    </a:p>
                  </a:txBody>
                  <a:tcPr marL="133350" marR="114300" marT="57150" marB="57150" anchor="ctr">
                    <a:solidFill>
                      <a:srgbClr val="FFFFFF"/>
                    </a:solidFill>
                  </a:tcPr>
                </a:tc>
                <a:tc>
                  <a:txBody>
                    <a:bodyPr/>
                    <a:lstStyle/>
                    <a:p>
                      <a:r>
                        <a:rPr sz="1575">
                          <a:solidFill>
                            <a:srgbClr val="122D45"/>
                          </a:solidFill>
                          <a:latin typeface="Arial"/>
                          <a:ea typeface="Arial"/>
                          <a:cs typeface="Arial"/>
                        </a:rPr>
                        <a:t>1,176</a:t>
                      </a:r>
                    </a:p>
                  </a:txBody>
                  <a:tcPr marL="133350" marR="114300" marT="57150" marB="57150" anchor="ctr">
                    <a:solidFill>
                      <a:srgbClr val="FFFFFF"/>
                    </a:solidFill>
                  </a:tcPr>
                </a:tc>
                <a:extLst>
                  <a:ext uri="{0D108BD9-81ED-4DB2-BD59-A6C34878D82A}">
                    <a16:rowId xmlns:a16="http://schemas.microsoft.com/office/drawing/2014/main" val="10003"/>
                  </a:ext>
                </a:extLst>
              </a:tr>
              <a:tr h="600075">
                <a:tc>
                  <a:txBody>
                    <a:bodyPr/>
                    <a:lstStyle/>
                    <a:p>
                      <a:r>
                        <a:rPr sz="1575">
                          <a:solidFill>
                            <a:srgbClr val="122D45"/>
                          </a:solidFill>
                          <a:latin typeface="Arial"/>
                          <a:ea typeface="Arial"/>
                          <a:cs typeface="Arial"/>
                        </a:rPr>
                        <a:t>Grade repetitions</a:t>
                      </a:r>
                    </a:p>
                  </a:txBody>
                  <a:tcPr marL="133350" marR="114300" marT="57150" marB="57150" anchor="ctr">
                    <a:solidFill>
                      <a:srgbClr val="F0F4F6"/>
                    </a:solidFill>
                  </a:tcPr>
                </a:tc>
                <a:tc>
                  <a:txBody>
                    <a:bodyPr/>
                    <a:lstStyle/>
                    <a:p>
                      <a:r>
                        <a:rPr sz="1575">
                          <a:solidFill>
                            <a:srgbClr val="122D45"/>
                          </a:solidFill>
                          <a:latin typeface="Arial"/>
                          <a:ea typeface="Arial"/>
                          <a:cs typeface="Arial"/>
                        </a:rPr>
                        <a:t>0.247</a:t>
                      </a:r>
                    </a:p>
                  </a:txBody>
                  <a:tcPr marL="133350" marR="114300" marT="57150" marB="57150" anchor="ctr">
                    <a:solidFill>
                      <a:srgbClr val="F0F4F6"/>
                    </a:solidFill>
                  </a:tcPr>
                </a:tc>
                <a:tc>
                  <a:txBody>
                    <a:bodyPr/>
                    <a:lstStyle/>
                    <a:p>
                      <a:r>
                        <a:rPr sz="1575">
                          <a:solidFill>
                            <a:srgbClr val="122D45"/>
                          </a:solidFill>
                          <a:latin typeface="Arial"/>
                          <a:ea typeface="Arial"/>
                          <a:cs typeface="Arial"/>
                        </a:rPr>
                        <a:t>0.182</a:t>
                      </a:r>
                    </a:p>
                  </a:txBody>
                  <a:tcPr marL="133350" marR="114300" marT="57150" marB="57150" anchor="ctr">
                    <a:solidFill>
                      <a:srgbClr val="F0F4F6"/>
                    </a:solidFill>
                  </a:tcPr>
                </a:tc>
                <a:tc>
                  <a:txBody>
                    <a:bodyPr/>
                    <a:lstStyle/>
                    <a:p>
                      <a:r>
                        <a:rPr sz="1575">
                          <a:solidFill>
                            <a:srgbClr val="122D45"/>
                          </a:solidFill>
                          <a:latin typeface="Arial"/>
                          <a:ea typeface="Arial"/>
                          <a:cs typeface="Arial"/>
                        </a:rPr>
                        <a:t>−0.065</a:t>
                      </a:r>
                    </a:p>
                  </a:txBody>
                  <a:tcPr marL="133350" marR="114300" marT="57150" marB="57150" anchor="ctr">
                    <a:solidFill>
                      <a:srgbClr val="F0F4F6"/>
                    </a:solidFill>
                  </a:tcPr>
                </a:tc>
                <a:tc>
                  <a:txBody>
                    <a:bodyPr/>
                    <a:lstStyle/>
                    <a:p>
                      <a:r>
                        <a:rPr sz="1575">
                          <a:solidFill>
                            <a:srgbClr val="122D45"/>
                          </a:solidFill>
                          <a:latin typeface="Arial"/>
                          <a:ea typeface="Arial"/>
                          <a:cs typeface="Arial"/>
                        </a:rPr>
                        <a:t>[−0.119, −0.011]</a:t>
                      </a:r>
                    </a:p>
                  </a:txBody>
                  <a:tcPr marL="133350" marR="114300" marT="57150" marB="57150" anchor="ctr">
                    <a:solidFill>
                      <a:srgbClr val="F0F4F6"/>
                    </a:solidFill>
                  </a:tcPr>
                </a:tc>
                <a:tc>
                  <a:txBody>
                    <a:bodyPr/>
                    <a:lstStyle/>
                    <a:p>
                      <a:r>
                        <a:rPr sz="1575">
                          <a:solidFill>
                            <a:srgbClr val="122D45"/>
                          </a:solidFill>
                          <a:latin typeface="Arial"/>
                          <a:ea typeface="Arial"/>
                          <a:cs typeface="Arial"/>
                        </a:rPr>
                        <a:t>0.019</a:t>
                      </a:r>
                    </a:p>
                  </a:txBody>
                  <a:tcPr marL="133350" marR="114300" marT="57150" marB="57150" anchor="ctr">
                    <a:solidFill>
                      <a:srgbClr val="F0F4F6"/>
                    </a:solidFill>
                  </a:tcPr>
                </a:tc>
                <a:tc>
                  <a:txBody>
                    <a:bodyPr/>
                    <a:lstStyle/>
                    <a:p>
                      <a:r>
                        <a:rPr sz="1575">
                          <a:solidFill>
                            <a:srgbClr val="122D45"/>
                          </a:solidFill>
                          <a:latin typeface="Arial"/>
                          <a:ea typeface="Arial"/>
                          <a:cs typeface="Arial"/>
                        </a:rPr>
                        <a:t>1,171</a:t>
                      </a:r>
                    </a:p>
                  </a:txBody>
                  <a:tcPr marL="133350" marR="114300" marT="57150" marB="57150" anchor="ctr">
                    <a:solidFill>
                      <a:srgbClr val="F0F4F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342A0A9E-DF33-4715-A4AC-90FAA210E71E}"/>
              </a:ext>
            </a:extLst>
          </p:cNvPr>
          <p:cNvSpPr>
            <a:spLocks noGrp="1"/>
          </p:cNvSpPr>
          <p:nvPr/>
        </p:nvSpPr>
        <p:spPr>
          <a:xfrm>
            <a:off x="609600" y="5105400"/>
            <a:ext cx="10972800" cy="952500"/>
          </a:xfrm>
          <a:prstGeom prst="rect">
            <a:avLst/>
          </a:prstGeom>
          <a:noFill/>
          <a:ln w="0">
            <a:noFill/>
          </a:ln>
        </p:spPr>
        <p:txBody>
          <a:bodyPr anchor="ctr">
            <a:noAutofit/>
          </a:bodyPr>
          <a:lstStyle/>
          <a:p>
            <a:pPr>
              <a:defRPr sz="2175" b="1">
                <a:solidFill>
                  <a:srgbClr val="007E87"/>
                </a:solidFill>
                <a:latin typeface="Arial"/>
                <a:ea typeface="Arial"/>
                <a:cs typeface="Arial"/>
              </a:defRPr>
            </a:pPr>
            <a:r>
              <a:rPr sz="2175" b="1">
                <a:solidFill>
                  <a:srgbClr val="007E87"/>
                </a:solidFill>
                <a:latin typeface="Arial"/>
                <a:ea typeface="Arial"/>
                <a:cs typeface="Arial"/>
              </a:rPr>
              <a:t>Private attendance rises by 15.9 percentage points. Highest grade increases and grade repetitions decline. Overall enrollment remains uncertain.</a:t>
            </a:r>
          </a:p>
        </p:txBody>
      </p:sp>
    </p:spTree>
    <p:extLst>
      <p:ext uri="{BB962C8B-B14F-4D97-AF65-F5344CB8AC3E}">
        <p14:creationId xmlns:p14="http://schemas.microsoft.com/office/powerpoint/2010/main" val="1273726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8607497-4B75-42D3-8FAA-CF2419828D1C}"/>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Five policy outcomes in A2020</a:t>
            </a:r>
          </a:p>
        </p:txBody>
      </p:sp>
      <p:sp>
        <p:nvSpPr>
          <p:cNvPr id="2" name="Rectangle 1">
            <a:extLst>
              <a:ext uri="{FF2B5EF4-FFF2-40B4-BE49-F238E27FC236}">
                <a16:creationId xmlns:a16="http://schemas.microsoft.com/office/drawing/2014/main" id="{582A846B-1F15-4FEF-8DB2-180A01154556}"/>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Treatment group = lottery selected. Control group = not selected. p = raw HC2/t p-value.</a:t>
            </a:r>
          </a:p>
        </p:txBody>
      </p:sp>
      <p:sp>
        <p:nvSpPr>
          <p:cNvPr id="3" name="Rectangle 2">
            <a:extLst>
              <a:ext uri="{FF2B5EF4-FFF2-40B4-BE49-F238E27FC236}">
                <a16:creationId xmlns:a16="http://schemas.microsoft.com/office/drawing/2014/main" id="{F4AB34F0-CEEE-439A-8A20-CEB29728149E}"/>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5</a:t>
            </a:r>
          </a:p>
        </p:txBody>
      </p:sp>
      <p:sp>
        <p:nvSpPr>
          <p:cNvPr id="4" name="Rectangle 3">
            <a:extLst>
              <a:ext uri="{FF2B5EF4-FFF2-40B4-BE49-F238E27FC236}">
                <a16:creationId xmlns:a16="http://schemas.microsoft.com/office/drawing/2014/main" id="{39B76AFA-1E01-446A-A60B-F6C1D052A5EF}"/>
              </a:ext>
            </a:extLst>
          </p:cNvPr>
          <p:cNvSpPr>
            <a:spLocks noGrp="1"/>
          </p:cNvSpPr>
          <p:nvPr/>
        </p:nvSpPr>
        <p:spPr>
          <a:xfrm>
            <a:off x="609600" y="1323975"/>
            <a:ext cx="10972800" cy="447675"/>
          </a:xfrm>
          <a:prstGeom prst="rect">
            <a:avLst/>
          </a:prstGeom>
          <a:noFill/>
          <a:ln w="0">
            <a:noFill/>
          </a:ln>
        </p:spPr>
        <p:txBody>
          <a:bodyPr anchor="ctr">
            <a:noAutofit/>
          </a:bodyPr>
          <a:lstStyle/>
          <a:p>
            <a:pPr>
              <a:defRPr sz="1800" b="0">
                <a:solidFill>
                  <a:srgbClr val="007E87"/>
                </a:solidFill>
                <a:latin typeface="Arial"/>
                <a:ea typeface="Arial"/>
                <a:cs typeface="Arial"/>
              </a:defRPr>
            </a:pPr>
            <a:r>
              <a:rPr sz="1800" b="0">
                <a:solidFill>
                  <a:srgbClr val="007E87"/>
                </a:solidFill>
                <a:latin typeface="Arial"/>
                <a:ea typeface="Arial"/>
                <a:cs typeface="Arial"/>
              </a:rPr>
              <a:t>Y = α + τZ + ε     Z = lottery selection. Reported effect = τ.</a:t>
            </a:r>
          </a:p>
        </p:txBody>
      </p:sp>
      <p:graphicFrame>
        <p:nvGraphicFramePr>
          <p:cNvPr id="11" name="Table 10"/>
          <p:cNvGraphicFramePr/>
          <p:nvPr/>
        </p:nvGraphicFramePr>
        <p:xfrm>
          <a:off x="609600" y="1857375"/>
          <a:ext cx="10972800" cy="3371850"/>
        </p:xfrm>
        <a:graphic>
          <a:graphicData uri="http://schemas.openxmlformats.org/drawingml/2006/table">
            <a:tbl>
              <a:tblPr/>
              <a:tblGrid>
                <a:gridCol w="242887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923925">
                  <a:extLst>
                    <a:ext uri="{9D8B030D-6E8A-4147-A177-3AD203B41FA5}">
                      <a16:colId xmlns:a16="http://schemas.microsoft.com/office/drawing/2014/main" val="20006"/>
                    </a:ext>
                  </a:extLst>
                </a:gridCol>
              </a:tblGrid>
              <a:tr h="561975">
                <a:tc>
                  <a:txBody>
                    <a:bodyPr/>
                    <a:lstStyle/>
                    <a:p>
                      <a:r>
                        <a:rPr sz="1575" b="1">
                          <a:solidFill>
                            <a:srgbClr val="FFFFFF"/>
                          </a:solidFill>
                          <a:latin typeface="Arial"/>
                          <a:ea typeface="Arial"/>
                          <a:cs typeface="Arial"/>
                        </a:rPr>
                        <a:t>Outcome</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Control group mean</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Treatment group mean</a:t>
                      </a:r>
                    </a:p>
                  </a:txBody>
                  <a:tcPr marL="133350" marR="114300" marT="38100" marB="38100" anchor="ctr">
                    <a:solidFill>
                      <a:srgbClr val="122D45"/>
                    </a:solidFill>
                  </a:tcPr>
                </a:tc>
                <a:tc>
                  <a:txBody>
                    <a:bodyPr/>
                    <a:lstStyle/>
                    <a:p>
                      <a:r>
                        <a:rPr sz="1575" b="1" dirty="0">
                          <a:solidFill>
                            <a:srgbClr val="FFFFFF"/>
                          </a:solidFill>
                          <a:latin typeface="Arial"/>
                          <a:ea typeface="Arial"/>
                          <a:cs typeface="Arial"/>
                        </a:rPr>
                        <a:t>Offer effect</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95% interval</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p-value</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N</a:t>
                      </a:r>
                    </a:p>
                  </a:txBody>
                  <a:tcPr marL="133350" marR="114300" marT="38100" marB="38100" anchor="ctr">
                    <a:solidFill>
                      <a:srgbClr val="122D45"/>
                    </a:solidFill>
                  </a:tcPr>
                </a:tc>
                <a:extLst>
                  <a:ext uri="{0D108BD9-81ED-4DB2-BD59-A6C34878D82A}">
                    <a16:rowId xmlns:a16="http://schemas.microsoft.com/office/drawing/2014/main" val="10000"/>
                  </a:ext>
                </a:extLst>
              </a:tr>
              <a:tr h="561975">
                <a:tc>
                  <a:txBody>
                    <a:bodyPr/>
                    <a:lstStyle/>
                    <a:p>
                      <a:r>
                        <a:rPr sz="1575">
                          <a:solidFill>
                            <a:srgbClr val="122D45"/>
                          </a:solidFill>
                          <a:latin typeface="Arial"/>
                          <a:ea typeface="Arial"/>
                          <a:cs typeface="Arial"/>
                        </a:rPr>
                        <a:t>School years completed</a:t>
                      </a:r>
                    </a:p>
                  </a:txBody>
                  <a:tcPr marL="133350" marR="114300" marT="38100" marB="38100" anchor="ctr">
                    <a:solidFill>
                      <a:srgbClr val="FFFFFF"/>
                    </a:solidFill>
                  </a:tcPr>
                </a:tc>
                <a:tc>
                  <a:txBody>
                    <a:bodyPr/>
                    <a:lstStyle/>
                    <a:p>
                      <a:r>
                        <a:rPr sz="1575">
                          <a:solidFill>
                            <a:srgbClr val="122D45"/>
                          </a:solidFill>
                          <a:latin typeface="Arial"/>
                          <a:ea typeface="Arial"/>
                          <a:cs typeface="Arial"/>
                        </a:rPr>
                        <a:t>3.608</a:t>
                      </a:r>
                    </a:p>
                  </a:txBody>
                  <a:tcPr marL="133350" marR="114300" marT="38100" marB="38100" anchor="ctr">
                    <a:solidFill>
                      <a:srgbClr val="FFFFFF"/>
                    </a:solidFill>
                  </a:tcPr>
                </a:tc>
                <a:tc>
                  <a:txBody>
                    <a:bodyPr/>
                    <a:lstStyle/>
                    <a:p>
                      <a:r>
                        <a:rPr sz="1575">
                          <a:solidFill>
                            <a:srgbClr val="122D45"/>
                          </a:solidFill>
                          <a:latin typeface="Arial"/>
                          <a:ea typeface="Arial"/>
                          <a:cs typeface="Arial"/>
                        </a:rPr>
                        <a:t>3.701</a:t>
                      </a:r>
                    </a:p>
                  </a:txBody>
                  <a:tcPr marL="133350" marR="114300" marT="38100" marB="38100" anchor="ctr">
                    <a:solidFill>
                      <a:srgbClr val="FFFFFF"/>
                    </a:solidFill>
                  </a:tcPr>
                </a:tc>
                <a:tc>
                  <a:txBody>
                    <a:bodyPr/>
                    <a:lstStyle/>
                    <a:p>
                      <a:r>
                        <a:rPr sz="1575" dirty="0">
                          <a:solidFill>
                            <a:srgbClr val="122D45"/>
                          </a:solidFill>
                          <a:latin typeface="Arial"/>
                          <a:ea typeface="Arial"/>
                          <a:cs typeface="Arial"/>
                        </a:rPr>
                        <a:t>+0.093</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[−0.014, 0.200]</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0.089</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1,171</a:t>
                      </a:r>
                    </a:p>
                  </a:txBody>
                  <a:tcPr marL="133350" marR="114300" marT="38100" marB="38100" anchor="ctr">
                    <a:solidFill>
                      <a:srgbClr val="FFFFFF"/>
                    </a:solidFill>
                  </a:tcPr>
                </a:tc>
                <a:extLst>
                  <a:ext uri="{0D108BD9-81ED-4DB2-BD59-A6C34878D82A}">
                    <a16:rowId xmlns:a16="http://schemas.microsoft.com/office/drawing/2014/main" val="10001"/>
                  </a:ext>
                </a:extLst>
              </a:tr>
              <a:tr h="561975">
                <a:tc>
                  <a:txBody>
                    <a:bodyPr/>
                    <a:lstStyle/>
                    <a:p>
                      <a:r>
                        <a:rPr sz="1575">
                          <a:solidFill>
                            <a:srgbClr val="122D45"/>
                          </a:solidFill>
                          <a:latin typeface="Arial"/>
                          <a:ea typeface="Arial"/>
                          <a:cs typeface="Arial"/>
                        </a:rPr>
                        <a:t>Married or cohabiting</a:t>
                      </a:r>
                    </a:p>
                  </a:txBody>
                  <a:tcPr marL="133350" marR="114300" marT="38100" marB="38100" anchor="ctr">
                    <a:solidFill>
                      <a:srgbClr val="F0F4F6"/>
                    </a:solidFill>
                  </a:tcPr>
                </a:tc>
                <a:tc>
                  <a:txBody>
                    <a:bodyPr/>
                    <a:lstStyle/>
                    <a:p>
                      <a:r>
                        <a:rPr sz="1575" dirty="0">
                          <a:solidFill>
                            <a:srgbClr val="122D45"/>
                          </a:solidFill>
                          <a:latin typeface="Arial"/>
                          <a:ea typeface="Arial"/>
                          <a:cs typeface="Arial"/>
                        </a:rPr>
                        <a:t>1.7%</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0.8%</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−0.9 pp</a:t>
                      </a:r>
                    </a:p>
                  </a:txBody>
                  <a:tcPr marL="133350" marR="114300" marT="38100" marB="38100" anchor="ctr">
                    <a:solidFill>
                      <a:srgbClr val="F0F4F6"/>
                    </a:solidFill>
                  </a:tcPr>
                </a:tc>
                <a:tc>
                  <a:txBody>
                    <a:bodyPr/>
                    <a:lstStyle/>
                    <a:p>
                      <a:r>
                        <a:rPr sz="1575">
                          <a:solidFill>
                            <a:srgbClr val="122D45"/>
                          </a:solidFill>
                          <a:latin typeface="Arial"/>
                          <a:ea typeface="Arial"/>
                          <a:cs typeface="Arial"/>
                        </a:rPr>
                        <a:t>[−2.2, 0.4]</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0.181</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1,169</a:t>
                      </a:r>
                    </a:p>
                  </a:txBody>
                  <a:tcPr marL="133350" marR="114300" marT="38100" marB="38100" anchor="ctr">
                    <a:solidFill>
                      <a:srgbClr val="F0F4F6"/>
                    </a:solidFill>
                  </a:tcPr>
                </a:tc>
                <a:extLst>
                  <a:ext uri="{0D108BD9-81ED-4DB2-BD59-A6C34878D82A}">
                    <a16:rowId xmlns:a16="http://schemas.microsoft.com/office/drawing/2014/main" val="10002"/>
                  </a:ext>
                </a:extLst>
              </a:tr>
              <a:tr h="561975">
                <a:tc>
                  <a:txBody>
                    <a:bodyPr/>
                    <a:lstStyle/>
                    <a:p>
                      <a:r>
                        <a:rPr sz="1575">
                          <a:solidFill>
                            <a:srgbClr val="122D45"/>
                          </a:solidFill>
                          <a:latin typeface="Arial"/>
                          <a:ea typeface="Arial"/>
                          <a:cs typeface="Arial"/>
                        </a:rPr>
                        <a:t>Has a child</a:t>
                      </a:r>
                    </a:p>
                  </a:txBody>
                  <a:tcPr marL="133350" marR="114300" marT="38100" marB="38100" anchor="ctr">
                    <a:solidFill>
                      <a:srgbClr val="FFFFFF"/>
                    </a:solidFill>
                  </a:tcPr>
                </a:tc>
                <a:tc>
                  <a:txBody>
                    <a:bodyPr/>
                    <a:lstStyle/>
                    <a:p>
                      <a:r>
                        <a:rPr sz="1575" dirty="0">
                          <a:solidFill>
                            <a:srgbClr val="122D45"/>
                          </a:solidFill>
                          <a:latin typeface="Arial"/>
                          <a:ea typeface="Arial"/>
                          <a:cs typeface="Arial"/>
                        </a:rPr>
                        <a:t>3.6%</a:t>
                      </a:r>
                    </a:p>
                  </a:txBody>
                  <a:tcPr marL="133350" marR="114300" marT="38100" marB="38100" anchor="ctr">
                    <a:solidFill>
                      <a:srgbClr val="FFFFFF"/>
                    </a:solidFill>
                  </a:tcPr>
                </a:tc>
                <a:tc>
                  <a:txBody>
                    <a:bodyPr/>
                    <a:lstStyle/>
                    <a:p>
                      <a:r>
                        <a:rPr sz="1575">
                          <a:solidFill>
                            <a:srgbClr val="122D45"/>
                          </a:solidFill>
                          <a:latin typeface="Arial"/>
                          <a:ea typeface="Arial"/>
                          <a:cs typeface="Arial"/>
                        </a:rPr>
                        <a:t>2.4%</a:t>
                      </a:r>
                    </a:p>
                  </a:txBody>
                  <a:tcPr marL="133350" marR="114300" marT="38100" marB="38100" anchor="ctr">
                    <a:solidFill>
                      <a:srgbClr val="FFFFFF"/>
                    </a:solidFill>
                  </a:tcPr>
                </a:tc>
                <a:tc>
                  <a:txBody>
                    <a:bodyPr/>
                    <a:lstStyle/>
                    <a:p>
                      <a:r>
                        <a:rPr sz="1575" dirty="0">
                          <a:solidFill>
                            <a:srgbClr val="122D45"/>
                          </a:solidFill>
                          <a:latin typeface="Arial"/>
                          <a:ea typeface="Arial"/>
                          <a:cs typeface="Arial"/>
                        </a:rPr>
                        <a:t>−1.3 pp</a:t>
                      </a:r>
                    </a:p>
                  </a:txBody>
                  <a:tcPr marL="133350" marR="114300" marT="38100" marB="38100" anchor="ctr">
                    <a:solidFill>
                      <a:srgbClr val="FFFFFF"/>
                    </a:solidFill>
                  </a:tcPr>
                </a:tc>
                <a:tc>
                  <a:txBody>
                    <a:bodyPr/>
                    <a:lstStyle/>
                    <a:p>
                      <a:r>
                        <a:rPr sz="1575">
                          <a:solidFill>
                            <a:srgbClr val="122D45"/>
                          </a:solidFill>
                          <a:latin typeface="Arial"/>
                          <a:ea typeface="Arial"/>
                          <a:cs typeface="Arial"/>
                        </a:rPr>
                        <a:t>[−3.2, 0.7]</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0.206</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1,169</a:t>
                      </a:r>
                    </a:p>
                  </a:txBody>
                  <a:tcPr marL="133350" marR="114300" marT="38100" marB="38100" anchor="ctr">
                    <a:solidFill>
                      <a:srgbClr val="FFFFFF"/>
                    </a:solidFill>
                  </a:tcPr>
                </a:tc>
                <a:extLst>
                  <a:ext uri="{0D108BD9-81ED-4DB2-BD59-A6C34878D82A}">
                    <a16:rowId xmlns:a16="http://schemas.microsoft.com/office/drawing/2014/main" val="10003"/>
                  </a:ext>
                </a:extLst>
              </a:tr>
              <a:tr h="561975">
                <a:tc>
                  <a:txBody>
                    <a:bodyPr/>
                    <a:lstStyle/>
                    <a:p>
                      <a:r>
                        <a:rPr sz="1575">
                          <a:solidFill>
                            <a:srgbClr val="122D45"/>
                          </a:solidFill>
                          <a:latin typeface="Arial"/>
                          <a:ea typeface="Arial"/>
                          <a:cs typeface="Arial"/>
                        </a:rPr>
                        <a:t>Doing paid work</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19.0%</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14.9%</a:t>
                      </a:r>
                    </a:p>
                  </a:txBody>
                  <a:tcPr marL="133350" marR="114300" marT="38100" marB="38100" anchor="ctr">
                    <a:solidFill>
                      <a:srgbClr val="F0F4F6"/>
                    </a:solidFill>
                  </a:tcPr>
                </a:tc>
                <a:tc>
                  <a:txBody>
                    <a:bodyPr/>
                    <a:lstStyle/>
                    <a:p>
                      <a:r>
                        <a:rPr sz="1575">
                          <a:solidFill>
                            <a:srgbClr val="122D45"/>
                          </a:solidFill>
                          <a:latin typeface="Arial"/>
                          <a:ea typeface="Arial"/>
                          <a:cs typeface="Arial"/>
                        </a:rPr>
                        <a:t>−4.1 pp</a:t>
                      </a:r>
                    </a:p>
                  </a:txBody>
                  <a:tcPr marL="133350" marR="114300" marT="38100" marB="38100" anchor="ctr">
                    <a:solidFill>
                      <a:srgbClr val="F0F4F6"/>
                    </a:solidFill>
                  </a:tcPr>
                </a:tc>
                <a:tc>
                  <a:txBody>
                    <a:bodyPr/>
                    <a:lstStyle/>
                    <a:p>
                      <a:r>
                        <a:rPr sz="1575">
                          <a:solidFill>
                            <a:srgbClr val="122D45"/>
                          </a:solidFill>
                          <a:latin typeface="Arial"/>
                          <a:ea typeface="Arial"/>
                          <a:cs typeface="Arial"/>
                        </a:rPr>
                        <a:t>[−8.4, 0.2]</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0.060</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1,171</a:t>
                      </a:r>
                    </a:p>
                  </a:txBody>
                  <a:tcPr marL="133350" marR="114300" marT="38100" marB="38100" anchor="ctr">
                    <a:solidFill>
                      <a:srgbClr val="F0F4F6"/>
                    </a:solidFill>
                  </a:tcPr>
                </a:tc>
                <a:extLst>
                  <a:ext uri="{0D108BD9-81ED-4DB2-BD59-A6C34878D82A}">
                    <a16:rowId xmlns:a16="http://schemas.microsoft.com/office/drawing/2014/main" val="10004"/>
                  </a:ext>
                </a:extLst>
              </a:tr>
              <a:tr h="561975">
                <a:tc>
                  <a:txBody>
                    <a:bodyPr/>
                    <a:lstStyle/>
                    <a:p>
                      <a:r>
                        <a:rPr sz="1575">
                          <a:solidFill>
                            <a:srgbClr val="122D45"/>
                          </a:solidFill>
                          <a:latin typeface="Arial"/>
                          <a:ea typeface="Arial"/>
                          <a:cs typeface="Arial"/>
                        </a:rPr>
                        <a:t>Weekly hours worked</a:t>
                      </a:r>
                    </a:p>
                  </a:txBody>
                  <a:tcPr marL="133350" marR="114300" marT="38100" marB="38100" anchor="ctr">
                    <a:solidFill>
                      <a:srgbClr val="FFFFFF"/>
                    </a:solidFill>
                  </a:tcPr>
                </a:tc>
                <a:tc>
                  <a:txBody>
                    <a:bodyPr/>
                    <a:lstStyle/>
                    <a:p>
                      <a:r>
                        <a:rPr sz="1575">
                          <a:solidFill>
                            <a:srgbClr val="122D45"/>
                          </a:solidFill>
                          <a:latin typeface="Arial"/>
                          <a:ea typeface="Arial"/>
                          <a:cs typeface="Arial"/>
                        </a:rPr>
                        <a:t>4.95</a:t>
                      </a:r>
                    </a:p>
                  </a:txBody>
                  <a:tcPr marL="133350" marR="114300" marT="38100" marB="38100" anchor="ctr">
                    <a:solidFill>
                      <a:srgbClr val="FFFFFF"/>
                    </a:solidFill>
                  </a:tcPr>
                </a:tc>
                <a:tc>
                  <a:txBody>
                    <a:bodyPr/>
                    <a:lstStyle/>
                    <a:p>
                      <a:r>
                        <a:rPr sz="1575">
                          <a:solidFill>
                            <a:srgbClr val="122D45"/>
                          </a:solidFill>
                          <a:latin typeface="Arial"/>
                          <a:ea typeface="Arial"/>
                          <a:cs typeface="Arial"/>
                        </a:rPr>
                        <a:t>3.49</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−1.46</a:t>
                      </a:r>
                    </a:p>
                  </a:txBody>
                  <a:tcPr marL="133350" marR="114300" marT="38100" marB="38100" anchor="ctr">
                    <a:solidFill>
                      <a:srgbClr val="FFFFFF"/>
                    </a:solidFill>
                  </a:tcPr>
                </a:tc>
                <a:tc>
                  <a:txBody>
                    <a:bodyPr/>
                    <a:lstStyle/>
                    <a:p>
                      <a:r>
                        <a:rPr sz="1575">
                          <a:solidFill>
                            <a:srgbClr val="122D45"/>
                          </a:solidFill>
                          <a:latin typeface="Arial"/>
                          <a:ea typeface="Arial"/>
                          <a:cs typeface="Arial"/>
                        </a:rPr>
                        <a:t>[−2.76, −0.16]</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0.027</a:t>
                      </a:r>
                    </a:p>
                  </a:txBody>
                  <a:tcPr marL="133350" marR="114300" marT="38100" marB="38100" anchor="ctr">
                    <a:solidFill>
                      <a:srgbClr val="FFFFFF"/>
                    </a:solidFill>
                  </a:tcPr>
                </a:tc>
                <a:tc>
                  <a:txBody>
                    <a:bodyPr/>
                    <a:lstStyle/>
                    <a:p>
                      <a:r>
                        <a:rPr sz="1575" dirty="0">
                          <a:solidFill>
                            <a:srgbClr val="122D45"/>
                          </a:solidFill>
                          <a:latin typeface="Arial"/>
                          <a:ea typeface="Arial"/>
                          <a:cs typeface="Arial"/>
                        </a:rPr>
                        <a:t>1,171</a:t>
                      </a:r>
                    </a:p>
                  </a:txBody>
                  <a:tcPr marL="133350" marR="114300"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A6EB8FC3-BCB9-42A6-89BC-612AF0B97952}"/>
              </a:ext>
            </a:extLst>
          </p:cNvPr>
          <p:cNvSpPr>
            <a:spLocks noGrp="1"/>
          </p:cNvSpPr>
          <p:nvPr/>
        </p:nvSpPr>
        <p:spPr>
          <a:xfrm>
            <a:off x="609600" y="5353050"/>
            <a:ext cx="10972800" cy="781050"/>
          </a:xfrm>
          <a:prstGeom prst="rect">
            <a:avLst/>
          </a:prstGeom>
          <a:noFill/>
          <a:ln w="0">
            <a:noFill/>
          </a:ln>
        </p:spPr>
        <p:txBody>
          <a:bodyPr anchor="ctr">
            <a:noAutofit/>
          </a:bodyPr>
          <a:lstStyle/>
          <a:p>
            <a:pPr>
              <a:defRPr sz="2025" b="1">
                <a:solidFill>
                  <a:srgbClr val="007E87"/>
                </a:solidFill>
                <a:latin typeface="Arial"/>
                <a:ea typeface="Arial"/>
                <a:cs typeface="Arial"/>
              </a:defRPr>
            </a:pPr>
            <a:r>
              <a:rPr sz="2025" b="1">
                <a:solidFill>
                  <a:srgbClr val="007E87"/>
                </a:solidFill>
                <a:latin typeface="Arial"/>
                <a:ea typeface="Arial"/>
                <a:cs typeface="Arial"/>
              </a:rPr>
              <a:t>Weekly work hours fall by 1.46 on average. Its nominal p-value is .027, but none of the five outcomes passes the Holm correction.</a:t>
            </a:r>
          </a:p>
        </p:txBody>
      </p:sp>
    </p:spTree>
    <p:extLst>
      <p:ext uri="{BB962C8B-B14F-4D97-AF65-F5344CB8AC3E}">
        <p14:creationId xmlns:p14="http://schemas.microsoft.com/office/powerpoint/2010/main" val="35108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26A252-4424-48C8-9B84-1DD335676E8A}"/>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Schooling effects for girls and boys</a:t>
            </a:r>
          </a:p>
        </p:txBody>
      </p:sp>
      <p:sp>
        <p:nvSpPr>
          <p:cNvPr id="2" name="Rectangle 1">
            <a:extLst>
              <a:ext uri="{FF2B5EF4-FFF2-40B4-BE49-F238E27FC236}">
                <a16:creationId xmlns:a16="http://schemas.microsoft.com/office/drawing/2014/main" id="{52E76CBD-3DEF-4F2A-A8FE-1F734C7E51D0}"/>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Raw HC2/t p-values unless marked Holm. Difference = boys minus girls. Binary effects use pp.</a:t>
            </a:r>
          </a:p>
        </p:txBody>
      </p:sp>
      <p:sp>
        <p:nvSpPr>
          <p:cNvPr id="3" name="Rectangle 2">
            <a:extLst>
              <a:ext uri="{FF2B5EF4-FFF2-40B4-BE49-F238E27FC236}">
                <a16:creationId xmlns:a16="http://schemas.microsoft.com/office/drawing/2014/main" id="{B3CAE85F-F8A5-49AA-BB90-6AED0F262200}"/>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7</a:t>
            </a:r>
          </a:p>
        </p:txBody>
      </p:sp>
      <p:sp>
        <p:nvSpPr>
          <p:cNvPr id="4" name="Rectangle 3">
            <a:extLst>
              <a:ext uri="{FF2B5EF4-FFF2-40B4-BE49-F238E27FC236}">
                <a16:creationId xmlns:a16="http://schemas.microsoft.com/office/drawing/2014/main" id="{8BDBAF65-7E6B-45BF-BA1F-C7D962FC9104}"/>
              </a:ext>
            </a:extLst>
          </p:cNvPr>
          <p:cNvSpPr>
            <a:spLocks noGrp="1"/>
          </p:cNvSpPr>
          <p:nvPr/>
        </p:nvSpPr>
        <p:spPr>
          <a:xfrm>
            <a:off x="609600" y="1323975"/>
            <a:ext cx="10972800" cy="466725"/>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Y = α + τZ + γBoy + δ(Z × Boy) + ε     Girls: τ. Boys: τ + δ. Difference: δ.</a:t>
            </a:r>
          </a:p>
        </p:txBody>
      </p:sp>
      <p:graphicFrame>
        <p:nvGraphicFramePr>
          <p:cNvPr id="11" name="Table 10"/>
          <p:cNvGraphicFramePr/>
          <p:nvPr/>
        </p:nvGraphicFramePr>
        <p:xfrm>
          <a:off x="609600" y="1943100"/>
          <a:ext cx="10972800" cy="2990850"/>
        </p:xfrm>
        <a:graphic>
          <a:graphicData uri="http://schemas.openxmlformats.org/drawingml/2006/table">
            <a:tbl>
              <a:tblPr/>
              <a:tblGrid>
                <a:gridCol w="314325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598170">
                <a:tc>
                  <a:txBody>
                    <a:bodyPr/>
                    <a:lstStyle/>
                    <a:p>
                      <a:r>
                        <a:rPr sz="1650" b="1">
                          <a:solidFill>
                            <a:srgbClr val="FFFFFF"/>
                          </a:solidFill>
                          <a:latin typeface="Arial"/>
                          <a:ea typeface="Arial"/>
                          <a:cs typeface="Arial"/>
                        </a:rPr>
                        <a:t>Outcome</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Girls effect (p)</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Boys effect (p)</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Difference p</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Holm p</a:t>
                      </a:r>
                    </a:p>
                  </a:txBody>
                  <a:tcPr marL="133350" marR="114300" marT="57150" marB="57150" anchor="ctr">
                    <a:solidFill>
                      <a:srgbClr val="122D45"/>
                    </a:solidFill>
                  </a:tcPr>
                </a:tc>
                <a:extLst>
                  <a:ext uri="{0D108BD9-81ED-4DB2-BD59-A6C34878D82A}">
                    <a16:rowId xmlns:a16="http://schemas.microsoft.com/office/drawing/2014/main" val="10000"/>
                  </a:ext>
                </a:extLst>
              </a:tr>
              <a:tr h="598170">
                <a:tc>
                  <a:txBody>
                    <a:bodyPr/>
                    <a:lstStyle/>
                    <a:p>
                      <a:r>
                        <a:rPr sz="1650">
                          <a:solidFill>
                            <a:srgbClr val="122D45"/>
                          </a:solidFill>
                          <a:latin typeface="Arial"/>
                          <a:ea typeface="Arial"/>
                          <a:cs typeface="Arial"/>
                        </a:rPr>
                        <a:t>Enrolled in any school</a:t>
                      </a:r>
                    </a:p>
                  </a:txBody>
                  <a:tcPr marL="133350" marR="114300" marT="57150" marB="57150" anchor="ctr">
                    <a:solidFill>
                      <a:srgbClr val="FFFFFF"/>
                    </a:solidFill>
                  </a:tcPr>
                </a:tc>
                <a:tc>
                  <a:txBody>
                    <a:bodyPr/>
                    <a:lstStyle/>
                    <a:p>
                      <a:r>
                        <a:rPr sz="1650">
                          <a:solidFill>
                            <a:srgbClr val="122D45"/>
                          </a:solidFill>
                          <a:latin typeface="Arial"/>
                          <a:ea typeface="Arial"/>
                          <a:cs typeface="Arial"/>
                        </a:rPr>
                        <a:t>+6.4 (p=0.033)</a:t>
                      </a:r>
                    </a:p>
                  </a:txBody>
                  <a:tcPr marL="133350" marR="114300" marT="57150" marB="57150" anchor="ctr">
                    <a:solidFill>
                      <a:srgbClr val="FFFFFF"/>
                    </a:solidFill>
                  </a:tcPr>
                </a:tc>
                <a:tc>
                  <a:txBody>
                    <a:bodyPr/>
                    <a:lstStyle/>
                    <a:p>
                      <a:r>
                        <a:rPr sz="1650">
                          <a:solidFill>
                            <a:srgbClr val="122D45"/>
                          </a:solidFill>
                          <a:latin typeface="Arial"/>
                          <a:ea typeface="Arial"/>
                          <a:cs typeface="Arial"/>
                        </a:rPr>
                        <a:t>−2.2 (p=0.484)</a:t>
                      </a:r>
                    </a:p>
                  </a:txBody>
                  <a:tcPr marL="133350" marR="114300" marT="57150" marB="57150" anchor="ctr">
                    <a:solidFill>
                      <a:srgbClr val="FFFFFF"/>
                    </a:solidFill>
                  </a:tcPr>
                </a:tc>
                <a:tc>
                  <a:txBody>
                    <a:bodyPr/>
                    <a:lstStyle/>
                    <a:p>
                      <a:r>
                        <a:rPr sz="1650">
                          <a:solidFill>
                            <a:srgbClr val="122D45"/>
                          </a:solidFill>
                          <a:latin typeface="Arial"/>
                          <a:ea typeface="Arial"/>
                          <a:cs typeface="Arial"/>
                        </a:rPr>
                        <a:t>0.048</a:t>
                      </a:r>
                    </a:p>
                  </a:txBody>
                  <a:tcPr marL="133350" marR="114300" marT="57150" marB="57150" anchor="ctr">
                    <a:solidFill>
                      <a:srgbClr val="FFFFFF"/>
                    </a:solidFill>
                  </a:tcPr>
                </a:tc>
                <a:tc>
                  <a:txBody>
                    <a:bodyPr/>
                    <a:lstStyle/>
                    <a:p>
                      <a:r>
                        <a:rPr sz="1650">
                          <a:solidFill>
                            <a:srgbClr val="122D45"/>
                          </a:solidFill>
                          <a:latin typeface="Arial"/>
                          <a:ea typeface="Arial"/>
                          <a:cs typeface="Arial"/>
                        </a:rPr>
                        <a:t>0.192</a:t>
                      </a:r>
                    </a:p>
                  </a:txBody>
                  <a:tcPr marL="133350" marR="114300" marT="57150" marB="57150" anchor="ctr">
                    <a:solidFill>
                      <a:srgbClr val="FFFFFF"/>
                    </a:solidFill>
                  </a:tcPr>
                </a:tc>
                <a:extLst>
                  <a:ext uri="{0D108BD9-81ED-4DB2-BD59-A6C34878D82A}">
                    <a16:rowId xmlns:a16="http://schemas.microsoft.com/office/drawing/2014/main" val="10001"/>
                  </a:ext>
                </a:extLst>
              </a:tr>
              <a:tr h="598170">
                <a:tc>
                  <a:txBody>
                    <a:bodyPr/>
                    <a:lstStyle/>
                    <a:p>
                      <a:r>
                        <a:rPr sz="1650">
                          <a:solidFill>
                            <a:srgbClr val="122D45"/>
                          </a:solidFill>
                          <a:latin typeface="Arial"/>
                          <a:ea typeface="Arial"/>
                          <a:cs typeface="Arial"/>
                        </a:rPr>
                        <a:t>Attending private school</a:t>
                      </a:r>
                    </a:p>
                  </a:txBody>
                  <a:tcPr marL="133350" marR="114300" marT="57150" marB="57150" anchor="ctr">
                    <a:solidFill>
                      <a:srgbClr val="F0F4F6"/>
                    </a:solidFill>
                  </a:tcPr>
                </a:tc>
                <a:tc>
                  <a:txBody>
                    <a:bodyPr/>
                    <a:lstStyle/>
                    <a:p>
                      <a:r>
                        <a:rPr sz="1650">
                          <a:solidFill>
                            <a:srgbClr val="122D45"/>
                          </a:solidFill>
                          <a:latin typeface="Arial"/>
                          <a:ea typeface="Arial"/>
                          <a:cs typeface="Arial"/>
                        </a:rPr>
                        <a:t>+18.4 (p&lt;.001)</a:t>
                      </a:r>
                    </a:p>
                  </a:txBody>
                  <a:tcPr marL="133350" marR="114300" marT="57150" marB="57150" anchor="ctr">
                    <a:solidFill>
                      <a:srgbClr val="F0F4F6"/>
                    </a:solidFill>
                  </a:tcPr>
                </a:tc>
                <a:tc>
                  <a:txBody>
                    <a:bodyPr/>
                    <a:lstStyle/>
                    <a:p>
                      <a:r>
                        <a:rPr sz="1650">
                          <a:solidFill>
                            <a:srgbClr val="122D45"/>
                          </a:solidFill>
                          <a:latin typeface="Arial"/>
                          <a:ea typeface="Arial"/>
                          <a:cs typeface="Arial"/>
                        </a:rPr>
                        <a:t>+13.5 (p&lt;.001)</a:t>
                      </a:r>
                    </a:p>
                  </a:txBody>
                  <a:tcPr marL="133350" marR="114300" marT="57150" marB="57150" anchor="ctr">
                    <a:solidFill>
                      <a:srgbClr val="F0F4F6"/>
                    </a:solidFill>
                  </a:tcPr>
                </a:tc>
                <a:tc>
                  <a:txBody>
                    <a:bodyPr/>
                    <a:lstStyle/>
                    <a:p>
                      <a:r>
                        <a:rPr sz="1650">
                          <a:solidFill>
                            <a:srgbClr val="122D45"/>
                          </a:solidFill>
                          <a:latin typeface="Arial"/>
                          <a:ea typeface="Arial"/>
                          <a:cs typeface="Arial"/>
                        </a:rPr>
                        <a:t>0.387</a:t>
                      </a:r>
                    </a:p>
                  </a:txBody>
                  <a:tcPr marL="133350" marR="114300" marT="57150" marB="57150" anchor="ctr">
                    <a:solidFill>
                      <a:srgbClr val="F0F4F6"/>
                    </a:solidFill>
                  </a:tcPr>
                </a:tc>
                <a:tc>
                  <a:txBody>
                    <a:bodyPr/>
                    <a:lstStyle/>
                    <a:p>
                      <a:r>
                        <a:rPr sz="1650">
                          <a:solidFill>
                            <a:srgbClr val="122D45"/>
                          </a:solidFill>
                          <a:latin typeface="Arial"/>
                          <a:ea typeface="Arial"/>
                          <a:cs typeface="Arial"/>
                        </a:rPr>
                        <a:t>1.000</a:t>
                      </a:r>
                    </a:p>
                  </a:txBody>
                  <a:tcPr marL="133350" marR="114300" marT="57150" marB="57150" anchor="ctr">
                    <a:solidFill>
                      <a:srgbClr val="F0F4F6"/>
                    </a:solidFill>
                  </a:tcPr>
                </a:tc>
                <a:extLst>
                  <a:ext uri="{0D108BD9-81ED-4DB2-BD59-A6C34878D82A}">
                    <a16:rowId xmlns:a16="http://schemas.microsoft.com/office/drawing/2014/main" val="10002"/>
                  </a:ext>
                </a:extLst>
              </a:tr>
              <a:tr h="598170">
                <a:tc>
                  <a:txBody>
                    <a:bodyPr/>
                    <a:lstStyle/>
                    <a:p>
                      <a:r>
                        <a:rPr sz="1650">
                          <a:solidFill>
                            <a:srgbClr val="122D45"/>
                          </a:solidFill>
                          <a:latin typeface="Arial"/>
                          <a:ea typeface="Arial"/>
                          <a:cs typeface="Arial"/>
                        </a:rPr>
                        <a:t>Highest grade completed</a:t>
                      </a:r>
                    </a:p>
                  </a:txBody>
                  <a:tcPr marL="133350" marR="114300" marT="57150" marB="57150" anchor="ctr">
                    <a:solidFill>
                      <a:srgbClr val="FFFFFF"/>
                    </a:solidFill>
                  </a:tcPr>
                </a:tc>
                <a:tc>
                  <a:txBody>
                    <a:bodyPr/>
                    <a:lstStyle/>
                    <a:p>
                      <a:r>
                        <a:rPr sz="1650">
                          <a:solidFill>
                            <a:srgbClr val="122D45"/>
                          </a:solidFill>
                          <a:latin typeface="Arial"/>
                          <a:ea typeface="Arial"/>
                          <a:cs typeface="Arial"/>
                        </a:rPr>
                        <a:t>+0.206 (p=0.004)</a:t>
                      </a:r>
                    </a:p>
                  </a:txBody>
                  <a:tcPr marL="133350" marR="114300" marT="57150" marB="57150" anchor="ctr">
                    <a:solidFill>
                      <a:srgbClr val="FFFFFF"/>
                    </a:solidFill>
                  </a:tcPr>
                </a:tc>
                <a:tc>
                  <a:txBody>
                    <a:bodyPr/>
                    <a:lstStyle/>
                    <a:p>
                      <a:r>
                        <a:rPr sz="1650">
                          <a:solidFill>
                            <a:srgbClr val="122D45"/>
                          </a:solidFill>
                          <a:latin typeface="Arial"/>
                          <a:ea typeface="Arial"/>
                          <a:cs typeface="Arial"/>
                        </a:rPr>
                        <a:t>+0.170 (p=0.042)</a:t>
                      </a:r>
                    </a:p>
                  </a:txBody>
                  <a:tcPr marL="133350" marR="114300" marT="57150" marB="57150" anchor="ctr">
                    <a:solidFill>
                      <a:srgbClr val="FFFFFF"/>
                    </a:solidFill>
                  </a:tcPr>
                </a:tc>
                <a:tc>
                  <a:txBody>
                    <a:bodyPr/>
                    <a:lstStyle/>
                    <a:p>
                      <a:r>
                        <a:rPr sz="1650">
                          <a:solidFill>
                            <a:srgbClr val="122D45"/>
                          </a:solidFill>
                          <a:latin typeface="Arial"/>
                          <a:ea typeface="Arial"/>
                          <a:cs typeface="Arial"/>
                        </a:rPr>
                        <a:t>0.744</a:t>
                      </a:r>
                    </a:p>
                  </a:txBody>
                  <a:tcPr marL="133350" marR="114300" marT="57150" marB="57150" anchor="ctr">
                    <a:solidFill>
                      <a:srgbClr val="FFFFFF"/>
                    </a:solidFill>
                  </a:tcPr>
                </a:tc>
                <a:tc>
                  <a:txBody>
                    <a:bodyPr/>
                    <a:lstStyle/>
                    <a:p>
                      <a:r>
                        <a:rPr sz="1650">
                          <a:solidFill>
                            <a:srgbClr val="122D45"/>
                          </a:solidFill>
                          <a:latin typeface="Arial"/>
                          <a:ea typeface="Arial"/>
                          <a:cs typeface="Arial"/>
                        </a:rPr>
                        <a:t>1.000</a:t>
                      </a:r>
                    </a:p>
                  </a:txBody>
                  <a:tcPr marL="133350" marR="114300" marT="57150" marB="57150" anchor="ctr">
                    <a:solidFill>
                      <a:srgbClr val="FFFFFF"/>
                    </a:solidFill>
                  </a:tcPr>
                </a:tc>
                <a:extLst>
                  <a:ext uri="{0D108BD9-81ED-4DB2-BD59-A6C34878D82A}">
                    <a16:rowId xmlns:a16="http://schemas.microsoft.com/office/drawing/2014/main" val="10003"/>
                  </a:ext>
                </a:extLst>
              </a:tr>
              <a:tr h="598170">
                <a:tc>
                  <a:txBody>
                    <a:bodyPr/>
                    <a:lstStyle/>
                    <a:p>
                      <a:r>
                        <a:rPr sz="1650">
                          <a:solidFill>
                            <a:srgbClr val="122D45"/>
                          </a:solidFill>
                          <a:latin typeface="Arial"/>
                          <a:ea typeface="Arial"/>
                          <a:cs typeface="Arial"/>
                        </a:rPr>
                        <a:t>Grade repetitions</a:t>
                      </a:r>
                    </a:p>
                  </a:txBody>
                  <a:tcPr marL="133350" marR="114300" marT="57150" marB="57150" anchor="ctr">
                    <a:solidFill>
                      <a:srgbClr val="F0F4F6"/>
                    </a:solidFill>
                  </a:tcPr>
                </a:tc>
                <a:tc>
                  <a:txBody>
                    <a:bodyPr/>
                    <a:lstStyle/>
                    <a:p>
                      <a:r>
                        <a:rPr sz="1650">
                          <a:solidFill>
                            <a:srgbClr val="122D45"/>
                          </a:solidFill>
                          <a:latin typeface="Arial"/>
                          <a:ea typeface="Arial"/>
                          <a:cs typeface="Arial"/>
                        </a:rPr>
                        <a:t>−0.040 (p=0.264)</a:t>
                      </a:r>
                    </a:p>
                  </a:txBody>
                  <a:tcPr marL="133350" marR="114300" marT="57150" marB="57150" anchor="ctr">
                    <a:solidFill>
                      <a:srgbClr val="F0F4F6"/>
                    </a:solidFill>
                  </a:tcPr>
                </a:tc>
                <a:tc>
                  <a:txBody>
                    <a:bodyPr/>
                    <a:lstStyle/>
                    <a:p>
                      <a:r>
                        <a:rPr sz="1650">
                          <a:solidFill>
                            <a:srgbClr val="122D45"/>
                          </a:solidFill>
                          <a:latin typeface="Arial"/>
                          <a:ea typeface="Arial"/>
                          <a:cs typeface="Arial"/>
                        </a:rPr>
                        <a:t>−0.090 (p=0.032)</a:t>
                      </a:r>
                    </a:p>
                  </a:txBody>
                  <a:tcPr marL="133350" marR="114300" marT="57150" marB="57150" anchor="ctr">
                    <a:solidFill>
                      <a:srgbClr val="F0F4F6"/>
                    </a:solidFill>
                  </a:tcPr>
                </a:tc>
                <a:tc>
                  <a:txBody>
                    <a:bodyPr/>
                    <a:lstStyle/>
                    <a:p>
                      <a:r>
                        <a:rPr sz="1650">
                          <a:solidFill>
                            <a:srgbClr val="122D45"/>
                          </a:solidFill>
                          <a:latin typeface="Arial"/>
                          <a:ea typeface="Arial"/>
                          <a:cs typeface="Arial"/>
                        </a:rPr>
                        <a:t>0.356</a:t>
                      </a:r>
                    </a:p>
                  </a:txBody>
                  <a:tcPr marL="133350" marR="114300" marT="57150" marB="57150" anchor="ctr">
                    <a:solidFill>
                      <a:srgbClr val="F0F4F6"/>
                    </a:solidFill>
                  </a:tcPr>
                </a:tc>
                <a:tc>
                  <a:txBody>
                    <a:bodyPr/>
                    <a:lstStyle/>
                    <a:p>
                      <a:r>
                        <a:rPr sz="1650">
                          <a:solidFill>
                            <a:srgbClr val="122D45"/>
                          </a:solidFill>
                          <a:latin typeface="Arial"/>
                          <a:ea typeface="Arial"/>
                          <a:cs typeface="Arial"/>
                        </a:rPr>
                        <a:t>1.000</a:t>
                      </a:r>
                    </a:p>
                  </a:txBody>
                  <a:tcPr marL="133350" marR="114300" marT="57150" marB="57150" anchor="ctr">
                    <a:solidFill>
                      <a:srgbClr val="F0F4F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953FB198-E762-4D3F-9E4D-7ADACBFBA73C}"/>
              </a:ext>
            </a:extLst>
          </p:cNvPr>
          <p:cNvSpPr>
            <a:spLocks noGrp="1"/>
          </p:cNvSpPr>
          <p:nvPr/>
        </p:nvSpPr>
        <p:spPr>
          <a:xfrm>
            <a:off x="609600" y="5248275"/>
            <a:ext cx="10972800" cy="866775"/>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The enrollment contrast differs by sex at nominal p = .048. No schooling difference survives correction across the four interaction tests.</a:t>
            </a:r>
          </a:p>
        </p:txBody>
      </p:sp>
    </p:spTree>
    <p:extLst>
      <p:ext uri="{BB962C8B-B14F-4D97-AF65-F5344CB8AC3E}">
        <p14:creationId xmlns:p14="http://schemas.microsoft.com/office/powerpoint/2010/main" val="321758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CF5FA2-E778-45DA-9AE4-24E6AD9166B1}"/>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Policy effects by age at application</a:t>
            </a:r>
          </a:p>
        </p:txBody>
      </p:sp>
      <p:sp>
        <p:nvSpPr>
          <p:cNvPr id="2" name="Rectangle 1">
            <a:extLst>
              <a:ext uri="{FF2B5EF4-FFF2-40B4-BE49-F238E27FC236}">
                <a16:creationId xmlns:a16="http://schemas.microsoft.com/office/drawing/2014/main" id="{2509655A-F633-4DF6-937B-CE9BC7DAECF4}"/>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Each age cell: offer effect (raw HC2/t p), then 95% interval. Binary effects use pp.</a:t>
            </a:r>
          </a:p>
        </p:txBody>
      </p:sp>
      <p:sp>
        <p:nvSpPr>
          <p:cNvPr id="3" name="Rectangle 2">
            <a:extLst>
              <a:ext uri="{FF2B5EF4-FFF2-40B4-BE49-F238E27FC236}">
                <a16:creationId xmlns:a16="http://schemas.microsoft.com/office/drawing/2014/main" id="{1066E7BA-3D3B-4A62-A133-2D8FEF31F3B8}"/>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8</a:t>
            </a:r>
          </a:p>
        </p:txBody>
      </p:sp>
      <p:sp>
        <p:nvSpPr>
          <p:cNvPr id="4" name="Rectangle 3">
            <a:extLst>
              <a:ext uri="{FF2B5EF4-FFF2-40B4-BE49-F238E27FC236}">
                <a16:creationId xmlns:a16="http://schemas.microsoft.com/office/drawing/2014/main" id="{8D2996AC-3F61-4077-A04C-F2457184AB08}"/>
              </a:ext>
            </a:extLst>
          </p:cNvPr>
          <p:cNvSpPr>
            <a:spLocks noGrp="1"/>
          </p:cNvSpPr>
          <p:nvPr/>
        </p:nvSpPr>
        <p:spPr>
          <a:xfrm>
            <a:off x="609600" y="1323975"/>
            <a:ext cx="10972800" cy="447675"/>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Within age group g: Y = α(g) + τ(g)Z + ε. Test equal τ(g) across the three groups.</a:t>
            </a:r>
          </a:p>
        </p:txBody>
      </p:sp>
      <p:graphicFrame>
        <p:nvGraphicFramePr>
          <p:cNvPr id="11" name="Table 10"/>
          <p:cNvGraphicFramePr/>
          <p:nvPr/>
        </p:nvGraphicFramePr>
        <p:xfrm>
          <a:off x="609600" y="1857375"/>
          <a:ext cx="10972800" cy="3505200"/>
        </p:xfrm>
        <a:graphic>
          <a:graphicData uri="http://schemas.openxmlformats.org/drawingml/2006/table">
            <a:tbl>
              <a:tblPr/>
              <a:tblGrid>
                <a:gridCol w="2667000">
                  <a:extLst>
                    <a:ext uri="{9D8B030D-6E8A-4147-A177-3AD203B41FA5}">
                      <a16:colId xmlns:a16="http://schemas.microsoft.com/office/drawing/2014/main" val="20000"/>
                    </a:ext>
                  </a:extLst>
                </a:gridCol>
                <a:gridCol w="2276475">
                  <a:extLst>
                    <a:ext uri="{9D8B030D-6E8A-4147-A177-3AD203B41FA5}">
                      <a16:colId xmlns:a16="http://schemas.microsoft.com/office/drawing/2014/main" val="20001"/>
                    </a:ext>
                  </a:extLst>
                </a:gridCol>
                <a:gridCol w="2276475">
                  <a:extLst>
                    <a:ext uri="{9D8B030D-6E8A-4147-A177-3AD203B41FA5}">
                      <a16:colId xmlns:a16="http://schemas.microsoft.com/office/drawing/2014/main" val="20002"/>
                    </a:ext>
                  </a:extLst>
                </a:gridCol>
                <a:gridCol w="2276475">
                  <a:extLst>
                    <a:ext uri="{9D8B030D-6E8A-4147-A177-3AD203B41FA5}">
                      <a16:colId xmlns:a16="http://schemas.microsoft.com/office/drawing/2014/main" val="20003"/>
                    </a:ext>
                  </a:extLst>
                </a:gridCol>
                <a:gridCol w="1476375">
                  <a:extLst>
                    <a:ext uri="{9D8B030D-6E8A-4147-A177-3AD203B41FA5}">
                      <a16:colId xmlns:a16="http://schemas.microsoft.com/office/drawing/2014/main" val="20004"/>
                    </a:ext>
                  </a:extLst>
                </a:gridCol>
              </a:tblGrid>
              <a:tr h="584200">
                <a:tc>
                  <a:txBody>
                    <a:bodyPr/>
                    <a:lstStyle/>
                    <a:p>
                      <a:r>
                        <a:rPr sz="1575" b="1">
                          <a:solidFill>
                            <a:srgbClr val="FFFFFF"/>
                          </a:solidFill>
                          <a:latin typeface="Arial"/>
                          <a:ea typeface="Arial"/>
                          <a:cs typeface="Arial"/>
                        </a:rPr>
                        <a:t>Outcome</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Ages 10–11</a:t>
                      </a:r>
                    </a:p>
                    <a:p>
                      <a:r>
                        <a:rPr sz="1575" b="1">
                          <a:solidFill>
                            <a:srgbClr val="FFFFFF"/>
                          </a:solidFill>
                          <a:latin typeface="Arial"/>
                          <a:ea typeface="Arial"/>
                          <a:cs typeface="Arial"/>
                        </a:rPr>
                        <a:t>Applicants = 215</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Ages 12–13</a:t>
                      </a:r>
                    </a:p>
                    <a:p>
                      <a:r>
                        <a:rPr sz="1575" b="1">
                          <a:solidFill>
                            <a:srgbClr val="FFFFFF"/>
                          </a:solidFill>
                          <a:latin typeface="Arial"/>
                          <a:ea typeface="Arial"/>
                          <a:cs typeface="Arial"/>
                        </a:rPr>
                        <a:t>Applicants = 634</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Ages 14–18</a:t>
                      </a:r>
                    </a:p>
                    <a:p>
                      <a:r>
                        <a:rPr sz="1575" b="1">
                          <a:solidFill>
                            <a:srgbClr val="FFFFFF"/>
                          </a:solidFill>
                          <a:latin typeface="Arial"/>
                          <a:ea typeface="Arial"/>
                          <a:cs typeface="Arial"/>
                        </a:rPr>
                        <a:t>Applicants = 271</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Equality p</a:t>
                      </a:r>
                    </a:p>
                  </a:txBody>
                  <a:tcPr marL="133350" marR="114300" marT="9525" marB="9525" anchor="ctr">
                    <a:solidFill>
                      <a:srgbClr val="122D45"/>
                    </a:solidFill>
                  </a:tcPr>
                </a:tc>
                <a:extLst>
                  <a:ext uri="{0D108BD9-81ED-4DB2-BD59-A6C34878D82A}">
                    <a16:rowId xmlns:a16="http://schemas.microsoft.com/office/drawing/2014/main" val="10000"/>
                  </a:ext>
                </a:extLst>
              </a:tr>
              <a:tr h="584200">
                <a:tc>
                  <a:txBody>
                    <a:bodyPr/>
                    <a:lstStyle/>
                    <a:p>
                      <a:r>
                        <a:rPr sz="1575">
                          <a:solidFill>
                            <a:srgbClr val="122D45"/>
                          </a:solidFill>
                          <a:latin typeface="Arial"/>
                          <a:ea typeface="Arial"/>
                          <a:cs typeface="Arial"/>
                        </a:rPr>
                        <a:t>School years completed</a:t>
                      </a:r>
                    </a:p>
                  </a:txBody>
                  <a:tcPr marL="133350" marR="114300" marT="9525" marB="9525" anchor="ctr">
                    <a:solidFill>
                      <a:srgbClr val="FFFFFF"/>
                    </a:solidFill>
                  </a:tcPr>
                </a:tc>
                <a:tc>
                  <a:txBody>
                    <a:bodyPr/>
                    <a:lstStyle/>
                    <a:p>
                      <a:r>
                        <a:rPr sz="1575">
                          <a:solidFill>
                            <a:srgbClr val="122D45"/>
                          </a:solidFill>
                          <a:latin typeface="Arial"/>
                          <a:ea typeface="Arial"/>
                          <a:cs typeface="Arial"/>
                        </a:rPr>
                        <a:t>−0.030 (p=0.517)</a:t>
                      </a:r>
                    </a:p>
                    <a:p>
                      <a:r>
                        <a:rPr sz="1575">
                          <a:solidFill>
                            <a:srgbClr val="122D45"/>
                          </a:solidFill>
                          <a:latin typeface="Arial"/>
                          <a:ea typeface="Arial"/>
                          <a:cs typeface="Arial"/>
                        </a:rPr>
                        <a:t>[−0.120, 0.061]</a:t>
                      </a:r>
                    </a:p>
                  </a:txBody>
                  <a:tcPr marL="133350" marR="114300" marT="9525" marB="9525" anchor="ctr">
                    <a:solidFill>
                      <a:srgbClr val="FFFFFF"/>
                    </a:solidFill>
                  </a:tcPr>
                </a:tc>
                <a:tc>
                  <a:txBody>
                    <a:bodyPr/>
                    <a:lstStyle/>
                    <a:p>
                      <a:r>
                        <a:rPr sz="1575">
                          <a:solidFill>
                            <a:srgbClr val="122D45"/>
                          </a:solidFill>
                          <a:latin typeface="Arial"/>
                          <a:ea typeface="Arial"/>
                          <a:cs typeface="Arial"/>
                        </a:rPr>
                        <a:t>+0.143 (p=0.019)</a:t>
                      </a:r>
                    </a:p>
                    <a:p>
                      <a:r>
                        <a:rPr sz="1575">
                          <a:solidFill>
                            <a:srgbClr val="122D45"/>
                          </a:solidFill>
                          <a:latin typeface="Arial"/>
                          <a:ea typeface="Arial"/>
                          <a:cs typeface="Arial"/>
                        </a:rPr>
                        <a:t>[0.023, 0.262]</a:t>
                      </a:r>
                    </a:p>
                  </a:txBody>
                  <a:tcPr marL="133350" marR="114300" marT="9525" marB="9525" anchor="ctr">
                    <a:solidFill>
                      <a:srgbClr val="FFFFFF"/>
                    </a:solidFill>
                  </a:tcPr>
                </a:tc>
                <a:tc>
                  <a:txBody>
                    <a:bodyPr/>
                    <a:lstStyle/>
                    <a:p>
                      <a:r>
                        <a:rPr sz="1575">
                          <a:solidFill>
                            <a:srgbClr val="122D45"/>
                          </a:solidFill>
                          <a:latin typeface="Arial"/>
                          <a:ea typeface="Arial"/>
                          <a:cs typeface="Arial"/>
                        </a:rPr>
                        <a:t>+0.020 (p=0.903)</a:t>
                      </a:r>
                    </a:p>
                    <a:p>
                      <a:r>
                        <a:rPr sz="1575">
                          <a:solidFill>
                            <a:srgbClr val="122D45"/>
                          </a:solidFill>
                          <a:latin typeface="Arial"/>
                          <a:ea typeface="Arial"/>
                          <a:cs typeface="Arial"/>
                        </a:rPr>
                        <a:t>[−0.298, 0.338]</a:t>
                      </a:r>
                    </a:p>
                  </a:txBody>
                  <a:tcPr marL="133350" marR="114300" marT="9525" marB="9525" anchor="ctr">
                    <a:solidFill>
                      <a:srgbClr val="FFFFFF"/>
                    </a:solidFill>
                  </a:tcPr>
                </a:tc>
                <a:tc>
                  <a:txBody>
                    <a:bodyPr/>
                    <a:lstStyle/>
                    <a:p>
                      <a:r>
                        <a:rPr sz="1575">
                          <a:solidFill>
                            <a:srgbClr val="122D45"/>
                          </a:solidFill>
                          <a:latin typeface="Arial"/>
                          <a:ea typeface="Arial"/>
                          <a:cs typeface="Arial"/>
                        </a:rPr>
                        <a:t>0.077</a:t>
                      </a:r>
                    </a:p>
                  </a:txBody>
                  <a:tcPr marL="133350" marR="114300" marT="9525" marB="9525" anchor="ctr">
                    <a:solidFill>
                      <a:srgbClr val="FFFFFF"/>
                    </a:solidFill>
                  </a:tcPr>
                </a:tc>
                <a:extLst>
                  <a:ext uri="{0D108BD9-81ED-4DB2-BD59-A6C34878D82A}">
                    <a16:rowId xmlns:a16="http://schemas.microsoft.com/office/drawing/2014/main" val="10001"/>
                  </a:ext>
                </a:extLst>
              </a:tr>
              <a:tr h="584200">
                <a:tc>
                  <a:txBody>
                    <a:bodyPr/>
                    <a:lstStyle/>
                    <a:p>
                      <a:r>
                        <a:rPr sz="1575">
                          <a:solidFill>
                            <a:srgbClr val="122D45"/>
                          </a:solidFill>
                          <a:latin typeface="Arial"/>
                          <a:ea typeface="Arial"/>
                          <a:cs typeface="Arial"/>
                        </a:rPr>
                        <a:t>Married or cohabiting</a:t>
                      </a:r>
                    </a:p>
                  </a:txBody>
                  <a:tcPr marL="133350" marR="114300" marT="9525" marB="9525" anchor="ctr">
                    <a:solidFill>
                      <a:srgbClr val="F0F4F6"/>
                    </a:solidFill>
                  </a:tcPr>
                </a:tc>
                <a:tc>
                  <a:txBody>
                    <a:bodyPr/>
                    <a:lstStyle/>
                    <a:p>
                      <a:r>
                        <a:rPr sz="1575">
                          <a:solidFill>
                            <a:srgbClr val="122D45"/>
                          </a:solidFill>
                          <a:latin typeface="Arial"/>
                          <a:ea typeface="Arial"/>
                          <a:cs typeface="Arial"/>
                        </a:rPr>
                        <a:t>0 observed events</a:t>
                      </a:r>
                    </a:p>
                    <a:p>
                      <a:r>
                        <a:rPr sz="1575">
                          <a:solidFill>
                            <a:srgbClr val="122D45"/>
                          </a:solidFill>
                          <a:latin typeface="Arial"/>
                          <a:ea typeface="Arial"/>
                          <a:cs typeface="Arial"/>
                        </a:rPr>
                        <a:t>p not reported</a:t>
                      </a:r>
                    </a:p>
                  </a:txBody>
                  <a:tcPr marL="133350" marR="114300" marT="9525" marB="9525" anchor="ctr">
                    <a:solidFill>
                      <a:srgbClr val="F0F4F6"/>
                    </a:solidFill>
                  </a:tcPr>
                </a:tc>
                <a:tc>
                  <a:txBody>
                    <a:bodyPr/>
                    <a:lstStyle/>
                    <a:p>
                      <a:r>
                        <a:rPr sz="1575">
                          <a:solidFill>
                            <a:srgbClr val="122D45"/>
                          </a:solidFill>
                          <a:latin typeface="Arial"/>
                          <a:ea typeface="Arial"/>
                          <a:cs typeface="Arial"/>
                        </a:rPr>
                        <a:t>−0.7 (p=0.295)</a:t>
                      </a:r>
                    </a:p>
                    <a:p>
                      <a:r>
                        <a:rPr sz="1575">
                          <a:solidFill>
                            <a:srgbClr val="122D45"/>
                          </a:solidFill>
                          <a:latin typeface="Arial"/>
                          <a:ea typeface="Arial"/>
                          <a:cs typeface="Arial"/>
                        </a:rPr>
                        <a:t>[−1.9, 0.6]</a:t>
                      </a:r>
                    </a:p>
                  </a:txBody>
                  <a:tcPr marL="133350" marR="114300" marT="9525" marB="9525" anchor="ctr">
                    <a:solidFill>
                      <a:srgbClr val="F0F4F6"/>
                    </a:solidFill>
                  </a:tcPr>
                </a:tc>
                <a:tc>
                  <a:txBody>
                    <a:bodyPr/>
                    <a:lstStyle/>
                    <a:p>
                      <a:r>
                        <a:rPr sz="1575">
                          <a:solidFill>
                            <a:srgbClr val="122D45"/>
                          </a:solidFill>
                          <a:latin typeface="Arial"/>
                          <a:ea typeface="Arial"/>
                          <a:cs typeface="Arial"/>
                        </a:rPr>
                        <a:t>−3.5 (p=0.106)</a:t>
                      </a:r>
                    </a:p>
                    <a:p>
                      <a:r>
                        <a:rPr sz="1575">
                          <a:solidFill>
                            <a:srgbClr val="122D45"/>
                          </a:solidFill>
                          <a:latin typeface="Arial"/>
                          <a:ea typeface="Arial"/>
                          <a:cs typeface="Arial"/>
                        </a:rPr>
                        <a:t>[−7.7, 0.7]</a:t>
                      </a:r>
                    </a:p>
                  </a:txBody>
                  <a:tcPr marL="133350" marR="114300" marT="9525" marB="9525" anchor="ctr">
                    <a:solidFill>
                      <a:srgbClr val="F0F4F6"/>
                    </a:solidFill>
                  </a:tcPr>
                </a:tc>
                <a:tc>
                  <a:txBody>
                    <a:bodyPr/>
                    <a:lstStyle/>
                    <a:p>
                      <a:r>
                        <a:rPr sz="1575">
                          <a:solidFill>
                            <a:srgbClr val="122D45"/>
                          </a:solidFill>
                          <a:latin typeface="Arial"/>
                          <a:ea typeface="Arial"/>
                          <a:cs typeface="Arial"/>
                        </a:rPr>
                        <a:t>Not reported</a:t>
                      </a:r>
                    </a:p>
                  </a:txBody>
                  <a:tcPr marL="133350" marR="114300" marT="9525" marB="9525" anchor="ctr">
                    <a:solidFill>
                      <a:srgbClr val="F0F4F6"/>
                    </a:solidFill>
                  </a:tcPr>
                </a:tc>
                <a:extLst>
                  <a:ext uri="{0D108BD9-81ED-4DB2-BD59-A6C34878D82A}">
                    <a16:rowId xmlns:a16="http://schemas.microsoft.com/office/drawing/2014/main" val="10002"/>
                  </a:ext>
                </a:extLst>
              </a:tr>
              <a:tr h="584200">
                <a:tc>
                  <a:txBody>
                    <a:bodyPr/>
                    <a:lstStyle/>
                    <a:p>
                      <a:r>
                        <a:rPr sz="1575">
                          <a:solidFill>
                            <a:srgbClr val="122D45"/>
                          </a:solidFill>
                          <a:latin typeface="Arial"/>
                          <a:ea typeface="Arial"/>
                          <a:cs typeface="Arial"/>
                        </a:rPr>
                        <a:t>Has a child</a:t>
                      </a:r>
                    </a:p>
                  </a:txBody>
                  <a:tcPr marL="133350" marR="114300" marT="9525" marB="9525" anchor="ctr">
                    <a:solidFill>
                      <a:srgbClr val="FFFFFF"/>
                    </a:solidFill>
                  </a:tcPr>
                </a:tc>
                <a:tc>
                  <a:txBody>
                    <a:bodyPr/>
                    <a:lstStyle/>
                    <a:p>
                      <a:r>
                        <a:rPr sz="1575">
                          <a:solidFill>
                            <a:srgbClr val="122D45"/>
                          </a:solidFill>
                          <a:latin typeface="Arial"/>
                          <a:ea typeface="Arial"/>
                          <a:cs typeface="Arial"/>
                        </a:rPr>
                        <a:t>0 observed events</a:t>
                      </a:r>
                    </a:p>
                    <a:p>
                      <a:r>
                        <a:rPr sz="1575">
                          <a:solidFill>
                            <a:srgbClr val="122D45"/>
                          </a:solidFill>
                          <a:latin typeface="Arial"/>
                          <a:ea typeface="Arial"/>
                          <a:cs typeface="Arial"/>
                        </a:rPr>
                        <a:t>p not reported</a:t>
                      </a:r>
                    </a:p>
                  </a:txBody>
                  <a:tcPr marL="133350" marR="114300" marT="9525" marB="9525" anchor="ctr">
                    <a:solidFill>
                      <a:srgbClr val="FFFFFF"/>
                    </a:solidFill>
                  </a:tcPr>
                </a:tc>
                <a:tc>
                  <a:txBody>
                    <a:bodyPr/>
                    <a:lstStyle/>
                    <a:p>
                      <a:r>
                        <a:rPr sz="1575">
                          <a:solidFill>
                            <a:srgbClr val="122D45"/>
                          </a:solidFill>
                          <a:latin typeface="Arial"/>
                          <a:ea typeface="Arial"/>
                          <a:cs typeface="Arial"/>
                        </a:rPr>
                        <a:t>−0.7 (p=0.464)</a:t>
                      </a:r>
                    </a:p>
                    <a:p>
                      <a:r>
                        <a:rPr sz="1575">
                          <a:solidFill>
                            <a:srgbClr val="122D45"/>
                          </a:solidFill>
                          <a:latin typeface="Arial"/>
                          <a:ea typeface="Arial"/>
                          <a:cs typeface="Arial"/>
                        </a:rPr>
                        <a:t>[−2.7, 1.2]</a:t>
                      </a:r>
                    </a:p>
                  </a:txBody>
                  <a:tcPr marL="133350" marR="114300" marT="9525" marB="9525" anchor="ctr">
                    <a:solidFill>
                      <a:srgbClr val="FFFFFF"/>
                    </a:solidFill>
                  </a:tcPr>
                </a:tc>
                <a:tc>
                  <a:txBody>
                    <a:bodyPr/>
                    <a:lstStyle/>
                    <a:p>
                      <a:r>
                        <a:rPr sz="1575">
                          <a:solidFill>
                            <a:srgbClr val="122D45"/>
                          </a:solidFill>
                          <a:latin typeface="Arial"/>
                          <a:ea typeface="Arial"/>
                          <a:cs typeface="Arial"/>
                        </a:rPr>
                        <a:t>−4.6 (p=0.172)</a:t>
                      </a:r>
                    </a:p>
                    <a:p>
                      <a:r>
                        <a:rPr sz="1575">
                          <a:solidFill>
                            <a:srgbClr val="122D45"/>
                          </a:solidFill>
                          <a:latin typeface="Arial"/>
                          <a:ea typeface="Arial"/>
                          <a:cs typeface="Arial"/>
                        </a:rPr>
                        <a:t>[−11.3, 2.0]</a:t>
                      </a:r>
                    </a:p>
                  </a:txBody>
                  <a:tcPr marL="133350" marR="114300" marT="9525" marB="9525" anchor="ctr">
                    <a:solidFill>
                      <a:srgbClr val="FFFFFF"/>
                    </a:solidFill>
                  </a:tcPr>
                </a:tc>
                <a:tc>
                  <a:txBody>
                    <a:bodyPr/>
                    <a:lstStyle/>
                    <a:p>
                      <a:r>
                        <a:rPr sz="1575">
                          <a:solidFill>
                            <a:srgbClr val="122D45"/>
                          </a:solidFill>
                          <a:latin typeface="Arial"/>
                          <a:ea typeface="Arial"/>
                          <a:cs typeface="Arial"/>
                        </a:rPr>
                        <a:t>Not reported</a:t>
                      </a:r>
                    </a:p>
                  </a:txBody>
                  <a:tcPr marL="133350" marR="114300" marT="9525" marB="9525" anchor="ctr">
                    <a:solidFill>
                      <a:srgbClr val="FFFFFF"/>
                    </a:solidFill>
                  </a:tcPr>
                </a:tc>
                <a:extLst>
                  <a:ext uri="{0D108BD9-81ED-4DB2-BD59-A6C34878D82A}">
                    <a16:rowId xmlns:a16="http://schemas.microsoft.com/office/drawing/2014/main" val="10003"/>
                  </a:ext>
                </a:extLst>
              </a:tr>
              <a:tr h="584200">
                <a:tc>
                  <a:txBody>
                    <a:bodyPr/>
                    <a:lstStyle/>
                    <a:p>
                      <a:r>
                        <a:rPr sz="1575">
                          <a:solidFill>
                            <a:srgbClr val="122D45"/>
                          </a:solidFill>
                          <a:latin typeface="Arial"/>
                          <a:ea typeface="Arial"/>
                          <a:cs typeface="Arial"/>
                        </a:rPr>
                        <a:t>Doing paid work</a:t>
                      </a:r>
                    </a:p>
                  </a:txBody>
                  <a:tcPr marL="133350" marR="114300" marT="9525" marB="9525" anchor="ctr">
                    <a:solidFill>
                      <a:srgbClr val="F0F4F6"/>
                    </a:solidFill>
                  </a:tcPr>
                </a:tc>
                <a:tc>
                  <a:txBody>
                    <a:bodyPr/>
                    <a:lstStyle/>
                    <a:p>
                      <a:r>
                        <a:rPr sz="1575">
                          <a:solidFill>
                            <a:srgbClr val="122D45"/>
                          </a:solidFill>
                          <a:latin typeface="Arial"/>
                          <a:ea typeface="Arial"/>
                          <a:cs typeface="Arial"/>
                        </a:rPr>
                        <a:t>−0.4 (p=0.884)</a:t>
                      </a:r>
                    </a:p>
                    <a:p>
                      <a:r>
                        <a:rPr sz="1575">
                          <a:solidFill>
                            <a:srgbClr val="122D45"/>
                          </a:solidFill>
                          <a:latin typeface="Arial"/>
                          <a:ea typeface="Arial"/>
                          <a:cs typeface="Arial"/>
                        </a:rPr>
                        <a:t>[−5.5, 4.8]</a:t>
                      </a:r>
                    </a:p>
                  </a:txBody>
                  <a:tcPr marL="133350" marR="114300" marT="9525" marB="9525" anchor="ctr">
                    <a:solidFill>
                      <a:srgbClr val="F0F4F6"/>
                    </a:solidFill>
                  </a:tcPr>
                </a:tc>
                <a:tc>
                  <a:txBody>
                    <a:bodyPr/>
                    <a:lstStyle/>
                    <a:p>
                      <a:r>
                        <a:rPr sz="1575">
                          <a:solidFill>
                            <a:srgbClr val="122D45"/>
                          </a:solidFill>
                          <a:latin typeface="Arial"/>
                          <a:ea typeface="Arial"/>
                          <a:cs typeface="Arial"/>
                        </a:rPr>
                        <a:t>−2.5 (p=0.364)</a:t>
                      </a:r>
                    </a:p>
                    <a:p>
                      <a:r>
                        <a:rPr sz="1575">
                          <a:solidFill>
                            <a:srgbClr val="122D45"/>
                          </a:solidFill>
                          <a:latin typeface="Arial"/>
                          <a:ea typeface="Arial"/>
                          <a:cs typeface="Arial"/>
                        </a:rPr>
                        <a:t>[−7.9, 2.9]</a:t>
                      </a:r>
                    </a:p>
                  </a:txBody>
                  <a:tcPr marL="133350" marR="114300" marT="9525" marB="9525" anchor="ctr">
                    <a:solidFill>
                      <a:srgbClr val="F0F4F6"/>
                    </a:solidFill>
                  </a:tcPr>
                </a:tc>
                <a:tc>
                  <a:txBody>
                    <a:bodyPr/>
                    <a:lstStyle/>
                    <a:p>
                      <a:r>
                        <a:rPr sz="1575">
                          <a:solidFill>
                            <a:srgbClr val="122D45"/>
                          </a:solidFill>
                          <a:latin typeface="Arial"/>
                          <a:ea typeface="Arial"/>
                          <a:cs typeface="Arial"/>
                        </a:rPr>
                        <a:t>−7.9 (p=0.168)</a:t>
                      </a:r>
                    </a:p>
                    <a:p>
                      <a:r>
                        <a:rPr sz="1575">
                          <a:solidFill>
                            <a:srgbClr val="122D45"/>
                          </a:solidFill>
                          <a:latin typeface="Arial"/>
                          <a:ea typeface="Arial"/>
                          <a:cs typeface="Arial"/>
                        </a:rPr>
                        <a:t>[−19.2, 3.4]</a:t>
                      </a:r>
                    </a:p>
                  </a:txBody>
                  <a:tcPr marL="133350" marR="114300" marT="9525" marB="9525" anchor="ctr">
                    <a:solidFill>
                      <a:srgbClr val="F0F4F6"/>
                    </a:solidFill>
                  </a:tcPr>
                </a:tc>
                <a:tc>
                  <a:txBody>
                    <a:bodyPr/>
                    <a:lstStyle/>
                    <a:p>
                      <a:r>
                        <a:rPr sz="1575">
                          <a:solidFill>
                            <a:srgbClr val="122D45"/>
                          </a:solidFill>
                          <a:latin typeface="Arial"/>
                          <a:ea typeface="Arial"/>
                          <a:cs typeface="Arial"/>
                        </a:rPr>
                        <a:t>0.476</a:t>
                      </a:r>
                    </a:p>
                  </a:txBody>
                  <a:tcPr marL="133350" marR="114300" marT="9525" marB="9525" anchor="ctr">
                    <a:solidFill>
                      <a:srgbClr val="F0F4F6"/>
                    </a:solidFill>
                  </a:tcPr>
                </a:tc>
                <a:extLst>
                  <a:ext uri="{0D108BD9-81ED-4DB2-BD59-A6C34878D82A}">
                    <a16:rowId xmlns:a16="http://schemas.microsoft.com/office/drawing/2014/main" val="10004"/>
                  </a:ext>
                </a:extLst>
              </a:tr>
              <a:tr h="584200">
                <a:tc>
                  <a:txBody>
                    <a:bodyPr/>
                    <a:lstStyle/>
                    <a:p>
                      <a:r>
                        <a:rPr sz="1575">
                          <a:solidFill>
                            <a:srgbClr val="122D45"/>
                          </a:solidFill>
                          <a:latin typeface="Arial"/>
                          <a:ea typeface="Arial"/>
                          <a:cs typeface="Arial"/>
                        </a:rPr>
                        <a:t>Weekly hours worked</a:t>
                      </a:r>
                    </a:p>
                  </a:txBody>
                  <a:tcPr marL="133350" marR="114300" marT="9525" marB="9525" anchor="ctr">
                    <a:solidFill>
                      <a:srgbClr val="FFFFFF"/>
                    </a:solidFill>
                  </a:tcPr>
                </a:tc>
                <a:tc>
                  <a:txBody>
                    <a:bodyPr/>
                    <a:lstStyle/>
                    <a:p>
                      <a:r>
                        <a:rPr sz="1575">
                          <a:solidFill>
                            <a:srgbClr val="122D45"/>
                          </a:solidFill>
                          <a:latin typeface="Arial"/>
                          <a:ea typeface="Arial"/>
                          <a:cs typeface="Arial"/>
                        </a:rPr>
                        <a:t>−0.07 (p=0.914)</a:t>
                      </a:r>
                    </a:p>
                    <a:p>
                      <a:r>
                        <a:rPr sz="1575">
                          <a:solidFill>
                            <a:srgbClr val="122D45"/>
                          </a:solidFill>
                          <a:latin typeface="Arial"/>
                          <a:ea typeface="Arial"/>
                          <a:cs typeface="Arial"/>
                        </a:rPr>
                        <a:t>[−1.34, 1.20]</a:t>
                      </a:r>
                    </a:p>
                  </a:txBody>
                  <a:tcPr marL="133350" marR="114300" marT="9525" marB="9525" anchor="ctr">
                    <a:solidFill>
                      <a:srgbClr val="FFFFFF"/>
                    </a:solidFill>
                  </a:tcPr>
                </a:tc>
                <a:tc>
                  <a:txBody>
                    <a:bodyPr/>
                    <a:lstStyle/>
                    <a:p>
                      <a:r>
                        <a:rPr sz="1575">
                          <a:solidFill>
                            <a:srgbClr val="122D45"/>
                          </a:solidFill>
                          <a:latin typeface="Arial"/>
                          <a:ea typeface="Arial"/>
                          <a:cs typeface="Arial"/>
                        </a:rPr>
                        <a:t>−0.87 (p=0.249)</a:t>
                      </a:r>
                    </a:p>
                    <a:p>
                      <a:r>
                        <a:rPr sz="1575">
                          <a:solidFill>
                            <a:srgbClr val="122D45"/>
                          </a:solidFill>
                          <a:latin typeface="Arial"/>
                          <a:ea typeface="Arial"/>
                          <a:cs typeface="Arial"/>
                        </a:rPr>
                        <a:t>[−2.34, 0.61]</a:t>
                      </a:r>
                    </a:p>
                  </a:txBody>
                  <a:tcPr marL="133350" marR="114300" marT="9525" marB="9525" anchor="ctr">
                    <a:solidFill>
                      <a:srgbClr val="FFFFFF"/>
                    </a:solidFill>
                  </a:tcPr>
                </a:tc>
                <a:tc>
                  <a:txBody>
                    <a:bodyPr/>
                    <a:lstStyle/>
                    <a:p>
                      <a:r>
                        <a:rPr sz="1575">
                          <a:solidFill>
                            <a:srgbClr val="122D45"/>
                          </a:solidFill>
                          <a:latin typeface="Arial"/>
                          <a:ea typeface="Arial"/>
                          <a:cs typeface="Arial"/>
                        </a:rPr>
                        <a:t>−3.22 (p=0.098)</a:t>
                      </a:r>
                    </a:p>
                    <a:p>
                      <a:r>
                        <a:rPr sz="1575">
                          <a:solidFill>
                            <a:srgbClr val="122D45"/>
                          </a:solidFill>
                          <a:latin typeface="Arial"/>
                          <a:ea typeface="Arial"/>
                          <a:cs typeface="Arial"/>
                        </a:rPr>
                        <a:t>[−7.04, 0.60]</a:t>
                      </a:r>
                    </a:p>
                  </a:txBody>
                  <a:tcPr marL="133350" marR="114300" marT="9525" marB="9525" anchor="ctr">
                    <a:solidFill>
                      <a:srgbClr val="FFFFFF"/>
                    </a:solidFill>
                  </a:tcPr>
                </a:tc>
                <a:tc>
                  <a:txBody>
                    <a:bodyPr/>
                    <a:lstStyle/>
                    <a:p>
                      <a:r>
                        <a:rPr sz="1575">
                          <a:solidFill>
                            <a:srgbClr val="122D45"/>
                          </a:solidFill>
                          <a:latin typeface="Arial"/>
                          <a:ea typeface="Arial"/>
                          <a:cs typeface="Arial"/>
                        </a:rPr>
                        <a:t>0.269</a:t>
                      </a:r>
                    </a:p>
                  </a:txBody>
                  <a:tcPr marL="133350" marR="114300" marT="9525" marB="9525" anchor="ct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9AF977F6-AF1B-4197-9085-1D66F07D4CFD}"/>
              </a:ext>
            </a:extLst>
          </p:cNvPr>
          <p:cNvSpPr>
            <a:spLocks noGrp="1"/>
          </p:cNvSpPr>
          <p:nvPr/>
        </p:nvSpPr>
        <p:spPr>
          <a:xfrm>
            <a:off x="609600" y="5505450"/>
            <a:ext cx="10972800" cy="628650"/>
          </a:xfrm>
          <a:prstGeom prst="rect">
            <a:avLst/>
          </a:prstGeom>
          <a:noFill/>
          <a:ln w="0">
            <a:noFill/>
          </a:ln>
        </p:spPr>
        <p:txBody>
          <a:bodyPr anchor="ctr">
            <a:noAutofit/>
          </a:bodyPr>
          <a:lstStyle/>
          <a:p>
            <a:pPr>
              <a:defRPr sz="1875" b="1">
                <a:solidFill>
                  <a:srgbClr val="007E87"/>
                </a:solidFill>
                <a:latin typeface="Arial"/>
                <a:ea typeface="Arial"/>
                <a:cs typeface="Arial"/>
              </a:defRPr>
            </a:pPr>
            <a:r>
              <a:rPr sz="1875" b="1">
                <a:solidFill>
                  <a:srgbClr val="007E87"/>
                </a:solidFill>
                <a:latin typeface="Arial"/>
                <a:ea typeface="Arial"/>
                <a:cs typeface="Arial"/>
              </a:rPr>
              <a:t>No reported equality test rejects equal age-group effects. The 56 missing-age applicants remain in the pooled primary results.</a:t>
            </a:r>
          </a:p>
        </p:txBody>
      </p:sp>
    </p:spTree>
    <p:extLst>
      <p:ext uri="{BB962C8B-B14F-4D97-AF65-F5344CB8AC3E}">
        <p14:creationId xmlns:p14="http://schemas.microsoft.com/office/powerpoint/2010/main" val="867183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F0A53F-0B55-473F-B516-1BDB2B7E8124}"/>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The offer increases private-school attendance</a:t>
            </a:r>
          </a:p>
        </p:txBody>
      </p:sp>
      <p:sp>
        <p:nvSpPr>
          <p:cNvPr id="2" name="Rectangle 1">
            <a:extLst>
              <a:ext uri="{FF2B5EF4-FFF2-40B4-BE49-F238E27FC236}">
                <a16:creationId xmlns:a16="http://schemas.microsoft.com/office/drawing/2014/main" id="{EDA1B29C-C0E6-467C-850D-6DAD8476D136}"/>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Groups reflect lottery selection. Chart uses observed private status. p = raw HC2/t first-stage p-value.</a:t>
            </a:r>
          </a:p>
        </p:txBody>
      </p:sp>
      <p:sp>
        <p:nvSpPr>
          <p:cNvPr id="3" name="Rectangle 2">
            <a:extLst>
              <a:ext uri="{FF2B5EF4-FFF2-40B4-BE49-F238E27FC236}">
                <a16:creationId xmlns:a16="http://schemas.microsoft.com/office/drawing/2014/main" id="{C0EE3FBD-2DA5-4813-A596-5D08BB92271A}"/>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9</a:t>
            </a:r>
          </a:p>
        </p:txBody>
      </p:sp>
      <p:graphicFrame>
        <p:nvGraphicFramePr>
          <p:cNvPr id="10" name="Chart"/>
          <p:cNvGraphicFramePr/>
          <p:nvPr/>
        </p:nvGraphicFramePr>
        <p:xfrm>
          <a:off x="609600" y="1381125"/>
          <a:ext cx="10972800" cy="23812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BFC71928-502A-461F-A893-F01C3956C72F}"/>
              </a:ext>
            </a:extLst>
          </p:cNvPr>
          <p:cNvSpPr>
            <a:spLocks noGrp="1"/>
          </p:cNvSpPr>
          <p:nvPr/>
        </p:nvSpPr>
        <p:spPr>
          <a:xfrm>
            <a:off x="609600" y="3829050"/>
            <a:ext cx="10972800" cy="352425"/>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D = π₀ + π₁Z + u, within each lottery. D = current private attendance.</a:t>
            </a:r>
          </a:p>
        </p:txBody>
      </p:sp>
      <p:graphicFrame>
        <p:nvGraphicFramePr>
          <p:cNvPr id="12" name="Table 11"/>
          <p:cNvGraphicFramePr/>
          <p:nvPr/>
        </p:nvGraphicFramePr>
        <p:xfrm>
          <a:off x="609600" y="4276725"/>
          <a:ext cx="10972800" cy="1809752"/>
        </p:xfrm>
        <a:graphic>
          <a:graphicData uri="http://schemas.openxmlformats.org/drawingml/2006/table">
            <a:tbl>
              <a:tblPr/>
              <a:tblGrid>
                <a:gridCol w="20002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1952625">
                  <a:extLst>
                    <a:ext uri="{9D8B030D-6E8A-4147-A177-3AD203B41FA5}">
                      <a16:colId xmlns:a16="http://schemas.microsoft.com/office/drawing/2014/main" val="20003"/>
                    </a:ext>
                  </a:extLst>
                </a:gridCol>
                <a:gridCol w="1590675">
                  <a:extLst>
                    <a:ext uri="{9D8B030D-6E8A-4147-A177-3AD203B41FA5}">
                      <a16:colId xmlns:a16="http://schemas.microsoft.com/office/drawing/2014/main" val="20004"/>
                    </a:ext>
                  </a:extLst>
                </a:gridCol>
              </a:tblGrid>
              <a:tr h="452438">
                <a:tc>
                  <a:txBody>
                    <a:bodyPr/>
                    <a:lstStyle/>
                    <a:p>
                      <a:r>
                        <a:rPr sz="1650" b="1">
                          <a:solidFill>
                            <a:srgbClr val="FFFFFF"/>
                          </a:solidFill>
                          <a:latin typeface="Arial"/>
                          <a:ea typeface="Arial"/>
                          <a:cs typeface="Arial"/>
                        </a:rPr>
                        <a:t>Lottery</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Offer effect (pp)</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95% interval (pp)</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First-stage F</a:t>
                      </a:r>
                    </a:p>
                  </a:txBody>
                  <a:tcPr marL="133350" marR="114300" marT="57150" marB="57150" anchor="ctr">
                    <a:solidFill>
                      <a:srgbClr val="122D45"/>
                    </a:solidFill>
                  </a:tcPr>
                </a:tc>
                <a:tc>
                  <a:txBody>
                    <a:bodyPr/>
                    <a:lstStyle/>
                    <a:p>
                      <a:r>
                        <a:rPr sz="1650" b="1">
                          <a:solidFill>
                            <a:srgbClr val="FFFFFF"/>
                          </a:solidFill>
                          <a:latin typeface="Arial"/>
                          <a:ea typeface="Arial"/>
                          <a:cs typeface="Arial"/>
                        </a:rPr>
                        <a:t>p-value</a:t>
                      </a:r>
                    </a:p>
                  </a:txBody>
                  <a:tcPr marL="133350" marR="114300" marT="57150" marB="57150" anchor="ctr">
                    <a:solidFill>
                      <a:srgbClr val="122D45"/>
                    </a:solidFill>
                  </a:tcPr>
                </a:tc>
                <a:extLst>
                  <a:ext uri="{0D108BD9-81ED-4DB2-BD59-A6C34878D82A}">
                    <a16:rowId xmlns:a16="http://schemas.microsoft.com/office/drawing/2014/main" val="10000"/>
                  </a:ext>
                </a:extLst>
              </a:tr>
              <a:tr h="452438">
                <a:tc>
                  <a:txBody>
                    <a:bodyPr/>
                    <a:lstStyle/>
                    <a:p>
                      <a:r>
                        <a:rPr sz="1650">
                          <a:solidFill>
                            <a:srgbClr val="122D45"/>
                          </a:solidFill>
                          <a:latin typeface="Arial"/>
                          <a:ea typeface="Arial"/>
                          <a:cs typeface="Arial"/>
                        </a:rPr>
                        <a:t>A 2020</a:t>
                      </a:r>
                    </a:p>
                  </a:txBody>
                  <a:tcPr marL="133350" marR="114300" marT="57150" marB="57150" anchor="ctr">
                    <a:solidFill>
                      <a:srgbClr val="FFFFFF"/>
                    </a:solidFill>
                  </a:tcPr>
                </a:tc>
                <a:tc>
                  <a:txBody>
                    <a:bodyPr/>
                    <a:lstStyle/>
                    <a:p>
                      <a:r>
                        <a:rPr sz="1650">
                          <a:solidFill>
                            <a:srgbClr val="122D45"/>
                          </a:solidFill>
                          <a:latin typeface="Arial"/>
                          <a:ea typeface="Arial"/>
                          <a:cs typeface="Arial"/>
                        </a:rPr>
                        <a:t>+15.9</a:t>
                      </a:r>
                    </a:p>
                  </a:txBody>
                  <a:tcPr marL="133350" marR="114300" marT="57150" marB="57150" anchor="ctr">
                    <a:solidFill>
                      <a:srgbClr val="FFFFFF"/>
                    </a:solidFill>
                  </a:tcPr>
                </a:tc>
                <a:tc>
                  <a:txBody>
                    <a:bodyPr/>
                    <a:lstStyle/>
                    <a:p>
                      <a:r>
                        <a:rPr sz="1650">
                          <a:solidFill>
                            <a:srgbClr val="122D45"/>
                          </a:solidFill>
                          <a:latin typeface="Arial"/>
                          <a:ea typeface="Arial"/>
                          <a:cs typeface="Arial"/>
                        </a:rPr>
                        <a:t>[10.4, 21.4]</a:t>
                      </a:r>
                    </a:p>
                  </a:txBody>
                  <a:tcPr marL="133350" marR="114300" marT="57150" marB="57150" anchor="ctr">
                    <a:solidFill>
                      <a:srgbClr val="FFFFFF"/>
                    </a:solidFill>
                  </a:tcPr>
                </a:tc>
                <a:tc>
                  <a:txBody>
                    <a:bodyPr/>
                    <a:lstStyle/>
                    <a:p>
                      <a:r>
                        <a:rPr sz="1650">
                          <a:solidFill>
                            <a:srgbClr val="122D45"/>
                          </a:solidFill>
                          <a:latin typeface="Arial"/>
                          <a:ea typeface="Arial"/>
                          <a:cs typeface="Arial"/>
                        </a:rPr>
                        <a:t>31.9</a:t>
                      </a:r>
                    </a:p>
                  </a:txBody>
                  <a:tcPr marL="133350" marR="114300" marT="57150" marB="57150" anchor="ctr">
                    <a:solidFill>
                      <a:srgbClr val="FFFFFF"/>
                    </a:solidFill>
                  </a:tcPr>
                </a:tc>
                <a:tc>
                  <a:txBody>
                    <a:bodyPr/>
                    <a:lstStyle/>
                    <a:p>
                      <a:r>
                        <a:rPr sz="1650">
                          <a:solidFill>
                            <a:srgbClr val="122D45"/>
                          </a:solidFill>
                          <a:latin typeface="Arial"/>
                          <a:ea typeface="Arial"/>
                          <a:cs typeface="Arial"/>
                        </a:rPr>
                        <a:t>&lt;.001</a:t>
                      </a:r>
                    </a:p>
                  </a:txBody>
                  <a:tcPr marL="133350" marR="114300" marT="57150" marB="57150" anchor="ctr">
                    <a:solidFill>
                      <a:srgbClr val="FFFFFF"/>
                    </a:solidFill>
                  </a:tcPr>
                </a:tc>
                <a:extLst>
                  <a:ext uri="{0D108BD9-81ED-4DB2-BD59-A6C34878D82A}">
                    <a16:rowId xmlns:a16="http://schemas.microsoft.com/office/drawing/2014/main" val="10001"/>
                  </a:ext>
                </a:extLst>
              </a:tr>
              <a:tr h="452438">
                <a:tc>
                  <a:txBody>
                    <a:bodyPr/>
                    <a:lstStyle/>
                    <a:p>
                      <a:r>
                        <a:rPr sz="1650">
                          <a:solidFill>
                            <a:srgbClr val="122D45"/>
                          </a:solidFill>
                          <a:latin typeface="Arial"/>
                          <a:ea typeface="Arial"/>
                          <a:cs typeface="Arial"/>
                        </a:rPr>
                        <a:t>A 2022</a:t>
                      </a:r>
                    </a:p>
                  </a:txBody>
                  <a:tcPr marL="133350" marR="114300" marT="57150" marB="57150" anchor="ctr">
                    <a:solidFill>
                      <a:srgbClr val="F0F4F6"/>
                    </a:solidFill>
                  </a:tcPr>
                </a:tc>
                <a:tc>
                  <a:txBody>
                    <a:bodyPr/>
                    <a:lstStyle/>
                    <a:p>
                      <a:r>
                        <a:rPr sz="1650">
                          <a:solidFill>
                            <a:srgbClr val="122D45"/>
                          </a:solidFill>
                          <a:latin typeface="Arial"/>
                          <a:ea typeface="Arial"/>
                          <a:cs typeface="Arial"/>
                        </a:rPr>
                        <a:t>+16.0</a:t>
                      </a:r>
                    </a:p>
                  </a:txBody>
                  <a:tcPr marL="133350" marR="114300" marT="57150" marB="57150" anchor="ctr">
                    <a:solidFill>
                      <a:srgbClr val="F0F4F6"/>
                    </a:solidFill>
                  </a:tcPr>
                </a:tc>
                <a:tc>
                  <a:txBody>
                    <a:bodyPr/>
                    <a:lstStyle/>
                    <a:p>
                      <a:r>
                        <a:rPr sz="1650">
                          <a:solidFill>
                            <a:srgbClr val="122D45"/>
                          </a:solidFill>
                          <a:latin typeface="Arial"/>
                          <a:ea typeface="Arial"/>
                          <a:cs typeface="Arial"/>
                        </a:rPr>
                        <a:t>[5.6, 26.4]</a:t>
                      </a:r>
                    </a:p>
                  </a:txBody>
                  <a:tcPr marL="133350" marR="114300" marT="57150" marB="57150" anchor="ctr">
                    <a:solidFill>
                      <a:srgbClr val="F0F4F6"/>
                    </a:solidFill>
                  </a:tcPr>
                </a:tc>
                <a:tc>
                  <a:txBody>
                    <a:bodyPr/>
                    <a:lstStyle/>
                    <a:p>
                      <a:r>
                        <a:rPr sz="1650">
                          <a:solidFill>
                            <a:srgbClr val="122D45"/>
                          </a:solidFill>
                          <a:latin typeface="Arial"/>
                          <a:ea typeface="Arial"/>
                          <a:cs typeface="Arial"/>
                        </a:rPr>
                        <a:t>9.1</a:t>
                      </a:r>
                    </a:p>
                  </a:txBody>
                  <a:tcPr marL="133350" marR="114300" marT="57150" marB="57150" anchor="ctr">
                    <a:solidFill>
                      <a:srgbClr val="F0F4F6"/>
                    </a:solidFill>
                  </a:tcPr>
                </a:tc>
                <a:tc>
                  <a:txBody>
                    <a:bodyPr/>
                    <a:lstStyle/>
                    <a:p>
                      <a:r>
                        <a:rPr sz="1650">
                          <a:solidFill>
                            <a:srgbClr val="122D45"/>
                          </a:solidFill>
                          <a:latin typeface="Arial"/>
                          <a:ea typeface="Arial"/>
                          <a:cs typeface="Arial"/>
                        </a:rPr>
                        <a:t>0.003</a:t>
                      </a:r>
                    </a:p>
                  </a:txBody>
                  <a:tcPr marL="133350" marR="114300" marT="57150" marB="57150" anchor="ctr">
                    <a:solidFill>
                      <a:srgbClr val="F0F4F6"/>
                    </a:solidFill>
                  </a:tcPr>
                </a:tc>
                <a:extLst>
                  <a:ext uri="{0D108BD9-81ED-4DB2-BD59-A6C34878D82A}">
                    <a16:rowId xmlns:a16="http://schemas.microsoft.com/office/drawing/2014/main" val="10002"/>
                  </a:ext>
                </a:extLst>
              </a:tr>
              <a:tr h="452438">
                <a:tc>
                  <a:txBody>
                    <a:bodyPr/>
                    <a:lstStyle/>
                    <a:p>
                      <a:r>
                        <a:rPr sz="1650">
                          <a:solidFill>
                            <a:srgbClr val="122D45"/>
                          </a:solidFill>
                          <a:latin typeface="Arial"/>
                          <a:ea typeface="Arial"/>
                          <a:cs typeface="Arial"/>
                        </a:rPr>
                        <a:t>B 2018</a:t>
                      </a:r>
                    </a:p>
                  </a:txBody>
                  <a:tcPr marL="133350" marR="114300" marT="57150" marB="57150" anchor="ctr">
                    <a:solidFill>
                      <a:srgbClr val="FFFFFF"/>
                    </a:solidFill>
                  </a:tcPr>
                </a:tc>
                <a:tc>
                  <a:txBody>
                    <a:bodyPr/>
                    <a:lstStyle/>
                    <a:p>
                      <a:r>
                        <a:rPr sz="1650">
                          <a:solidFill>
                            <a:srgbClr val="122D45"/>
                          </a:solidFill>
                          <a:latin typeface="Arial"/>
                          <a:ea typeface="Arial"/>
                          <a:cs typeface="Arial"/>
                        </a:rPr>
                        <a:t>+18.6</a:t>
                      </a:r>
                    </a:p>
                  </a:txBody>
                  <a:tcPr marL="133350" marR="114300" marT="57150" marB="57150" anchor="ctr">
                    <a:solidFill>
                      <a:srgbClr val="FFFFFF"/>
                    </a:solidFill>
                  </a:tcPr>
                </a:tc>
                <a:tc>
                  <a:txBody>
                    <a:bodyPr/>
                    <a:lstStyle/>
                    <a:p>
                      <a:r>
                        <a:rPr sz="1650">
                          <a:solidFill>
                            <a:srgbClr val="122D45"/>
                          </a:solidFill>
                          <a:latin typeface="Arial"/>
                          <a:ea typeface="Arial"/>
                          <a:cs typeface="Arial"/>
                        </a:rPr>
                        <a:t>[3.2, 34.0]</a:t>
                      </a:r>
                    </a:p>
                  </a:txBody>
                  <a:tcPr marL="133350" marR="114300" marT="57150" marB="57150" anchor="ctr">
                    <a:solidFill>
                      <a:srgbClr val="FFFFFF"/>
                    </a:solidFill>
                  </a:tcPr>
                </a:tc>
                <a:tc>
                  <a:txBody>
                    <a:bodyPr/>
                    <a:lstStyle/>
                    <a:p>
                      <a:r>
                        <a:rPr sz="1650">
                          <a:solidFill>
                            <a:srgbClr val="122D45"/>
                          </a:solidFill>
                          <a:latin typeface="Arial"/>
                          <a:ea typeface="Arial"/>
                          <a:cs typeface="Arial"/>
                        </a:rPr>
                        <a:t>5.7</a:t>
                      </a:r>
                    </a:p>
                  </a:txBody>
                  <a:tcPr marL="133350" marR="114300" marT="57150" marB="57150" anchor="ctr">
                    <a:solidFill>
                      <a:srgbClr val="FFFFFF"/>
                    </a:solidFill>
                  </a:tcPr>
                </a:tc>
                <a:tc>
                  <a:txBody>
                    <a:bodyPr/>
                    <a:lstStyle/>
                    <a:p>
                      <a:r>
                        <a:rPr sz="1650">
                          <a:solidFill>
                            <a:srgbClr val="122D45"/>
                          </a:solidFill>
                          <a:latin typeface="Arial"/>
                          <a:ea typeface="Arial"/>
                          <a:cs typeface="Arial"/>
                        </a:rPr>
                        <a:t>0.019</a:t>
                      </a:r>
                    </a:p>
                  </a:txBody>
                  <a:tcPr marL="133350" marR="114300" marT="57150" marB="5715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02391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D792B8-0C59-4775-81C8-EC1B5EADE8CD}"/>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Private-school exits and monotonicity</a:t>
            </a:r>
          </a:p>
        </p:txBody>
      </p:sp>
      <p:sp>
        <p:nvSpPr>
          <p:cNvPr id="2" name="Rectangle 1">
            <a:extLst>
              <a:ext uri="{FF2B5EF4-FFF2-40B4-BE49-F238E27FC236}">
                <a16:creationId xmlns:a16="http://schemas.microsoft.com/office/drawing/2014/main" id="{5EAB0BA1-C96A-48C4-9BE1-700C1DC8BADA}"/>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Among private G6 starters with known follow-up status. Exits mean no current private attendance.</a:t>
            </a:r>
          </a:p>
        </p:txBody>
      </p:sp>
      <p:sp>
        <p:nvSpPr>
          <p:cNvPr id="3" name="Rectangle 2">
            <a:extLst>
              <a:ext uri="{FF2B5EF4-FFF2-40B4-BE49-F238E27FC236}">
                <a16:creationId xmlns:a16="http://schemas.microsoft.com/office/drawing/2014/main" id="{08FEC492-2918-4D84-9ABE-D1D6B1C377BD}"/>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10</a:t>
            </a:r>
          </a:p>
        </p:txBody>
      </p:sp>
      <p:graphicFrame>
        <p:nvGraphicFramePr>
          <p:cNvPr id="10" name="Table 9"/>
          <p:cNvGraphicFramePr/>
          <p:nvPr/>
        </p:nvGraphicFramePr>
        <p:xfrm>
          <a:off x="609600" y="1495425"/>
          <a:ext cx="10972800" cy="2400300"/>
        </p:xfrm>
        <a:graphic>
          <a:graphicData uri="http://schemas.openxmlformats.org/drawingml/2006/table">
            <a:tbl>
              <a:tblPr/>
              <a:tblGrid>
                <a:gridCol w="25717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210050">
                  <a:extLst>
                    <a:ext uri="{9D8B030D-6E8A-4147-A177-3AD203B41FA5}">
                      <a16:colId xmlns:a16="http://schemas.microsoft.com/office/drawing/2014/main" val="20002"/>
                    </a:ext>
                  </a:extLst>
                </a:gridCol>
              </a:tblGrid>
              <a:tr h="600075">
                <a:tc>
                  <a:txBody>
                    <a:bodyPr/>
                    <a:lstStyle/>
                    <a:p>
                      <a:r>
                        <a:rPr sz="2025" b="1">
                          <a:solidFill>
                            <a:srgbClr val="FFFFFF"/>
                          </a:solidFill>
                          <a:latin typeface="Arial"/>
                          <a:ea typeface="Arial"/>
                          <a:cs typeface="Arial"/>
                        </a:rPr>
                        <a:t>Lottery</a:t>
                      </a:r>
                    </a:p>
                  </a:txBody>
                  <a:tcPr marL="133350" marR="114300" marT="95250" marB="95250" anchor="ctr">
                    <a:solidFill>
                      <a:srgbClr val="122D45"/>
                    </a:solidFill>
                  </a:tcPr>
                </a:tc>
                <a:tc>
                  <a:txBody>
                    <a:bodyPr/>
                    <a:lstStyle/>
                    <a:p>
                      <a:r>
                        <a:rPr sz="2025" b="1">
                          <a:solidFill>
                            <a:srgbClr val="FFFFFF"/>
                          </a:solidFill>
                          <a:latin typeface="Arial"/>
                          <a:ea typeface="Arial"/>
                          <a:cs typeface="Arial"/>
                        </a:rPr>
                        <a:t>Offered subsidy</a:t>
                      </a:r>
                    </a:p>
                  </a:txBody>
                  <a:tcPr marL="133350" marR="114300" marT="95250" marB="95250" anchor="ctr">
                    <a:solidFill>
                      <a:srgbClr val="122D45"/>
                    </a:solidFill>
                  </a:tcPr>
                </a:tc>
                <a:tc>
                  <a:txBody>
                    <a:bodyPr/>
                    <a:lstStyle/>
                    <a:p>
                      <a:r>
                        <a:rPr sz="2025" b="1">
                          <a:solidFill>
                            <a:srgbClr val="FFFFFF"/>
                          </a:solidFill>
                          <a:latin typeface="Arial"/>
                          <a:ea typeface="Arial"/>
                          <a:cs typeface="Arial"/>
                        </a:rPr>
                        <a:t>Not offered subsidy</a:t>
                      </a:r>
                    </a:p>
                  </a:txBody>
                  <a:tcPr marL="133350" marR="114300" marT="95250" marB="95250" anchor="ctr">
                    <a:solidFill>
                      <a:srgbClr val="122D45"/>
                    </a:solidFill>
                  </a:tcPr>
                </a:tc>
                <a:extLst>
                  <a:ext uri="{0D108BD9-81ED-4DB2-BD59-A6C34878D82A}">
                    <a16:rowId xmlns:a16="http://schemas.microsoft.com/office/drawing/2014/main" val="10000"/>
                  </a:ext>
                </a:extLst>
              </a:tr>
              <a:tr h="600075">
                <a:tc>
                  <a:txBody>
                    <a:bodyPr/>
                    <a:lstStyle/>
                    <a:p>
                      <a:r>
                        <a:rPr sz="2025">
                          <a:solidFill>
                            <a:srgbClr val="122D45"/>
                          </a:solidFill>
                          <a:latin typeface="Arial"/>
                          <a:ea typeface="Arial"/>
                          <a:cs typeface="Arial"/>
                        </a:rPr>
                        <a:t>A 2020</a:t>
                      </a:r>
                    </a:p>
                  </a:txBody>
                  <a:tcPr marL="133350" marR="114300" marT="95250" marB="95250" anchor="ctr">
                    <a:solidFill>
                      <a:srgbClr val="FFFFFF"/>
                    </a:solidFill>
                  </a:tcPr>
                </a:tc>
                <a:tc>
                  <a:txBody>
                    <a:bodyPr/>
                    <a:lstStyle/>
                    <a:p>
                      <a:r>
                        <a:rPr sz="2025">
                          <a:solidFill>
                            <a:srgbClr val="122D45"/>
                          </a:solidFill>
                          <a:latin typeface="Arial"/>
                          <a:ea typeface="Arial"/>
                          <a:cs typeface="Arial"/>
                        </a:rPr>
                        <a:t>150 / 552 (27.2%)</a:t>
                      </a:r>
                    </a:p>
                  </a:txBody>
                  <a:tcPr marL="133350" marR="114300" marT="95250" marB="95250" anchor="ctr">
                    <a:solidFill>
                      <a:srgbClr val="FFFFFF"/>
                    </a:solidFill>
                  </a:tcPr>
                </a:tc>
                <a:tc>
                  <a:txBody>
                    <a:bodyPr/>
                    <a:lstStyle/>
                    <a:p>
                      <a:r>
                        <a:rPr sz="2025">
                          <a:solidFill>
                            <a:srgbClr val="122D45"/>
                          </a:solidFill>
                          <a:latin typeface="Arial"/>
                          <a:ea typeface="Arial"/>
                          <a:cs typeface="Arial"/>
                        </a:rPr>
                        <a:t>208 / 498 (41.8%)</a:t>
                      </a:r>
                    </a:p>
                  </a:txBody>
                  <a:tcPr marL="133350" marR="114300" marT="95250" marB="95250" anchor="ctr">
                    <a:solidFill>
                      <a:srgbClr val="FFFFFF"/>
                    </a:solidFill>
                  </a:tcPr>
                </a:tc>
                <a:extLst>
                  <a:ext uri="{0D108BD9-81ED-4DB2-BD59-A6C34878D82A}">
                    <a16:rowId xmlns:a16="http://schemas.microsoft.com/office/drawing/2014/main" val="10001"/>
                  </a:ext>
                </a:extLst>
              </a:tr>
              <a:tr h="600075">
                <a:tc>
                  <a:txBody>
                    <a:bodyPr/>
                    <a:lstStyle/>
                    <a:p>
                      <a:r>
                        <a:rPr sz="2025">
                          <a:solidFill>
                            <a:srgbClr val="122D45"/>
                          </a:solidFill>
                          <a:latin typeface="Arial"/>
                          <a:ea typeface="Arial"/>
                          <a:cs typeface="Arial"/>
                        </a:rPr>
                        <a:t>A 2022</a:t>
                      </a:r>
                    </a:p>
                  </a:txBody>
                  <a:tcPr marL="133350" marR="114300" marT="95250" marB="95250" anchor="ctr">
                    <a:solidFill>
                      <a:srgbClr val="F0F4F6"/>
                    </a:solidFill>
                  </a:tcPr>
                </a:tc>
                <a:tc>
                  <a:txBody>
                    <a:bodyPr/>
                    <a:lstStyle/>
                    <a:p>
                      <a:r>
                        <a:rPr sz="2025">
                          <a:solidFill>
                            <a:srgbClr val="122D45"/>
                          </a:solidFill>
                          <a:latin typeface="Arial"/>
                          <a:ea typeface="Arial"/>
                          <a:cs typeface="Arial"/>
                        </a:rPr>
                        <a:t>11 / 126 (8.7%)</a:t>
                      </a:r>
                    </a:p>
                  </a:txBody>
                  <a:tcPr marL="133350" marR="114300" marT="95250" marB="95250" anchor="ctr">
                    <a:solidFill>
                      <a:srgbClr val="F0F4F6"/>
                    </a:solidFill>
                  </a:tcPr>
                </a:tc>
                <a:tc>
                  <a:txBody>
                    <a:bodyPr/>
                    <a:lstStyle/>
                    <a:p>
                      <a:r>
                        <a:rPr sz="2025">
                          <a:solidFill>
                            <a:srgbClr val="122D45"/>
                          </a:solidFill>
                          <a:latin typeface="Arial"/>
                          <a:ea typeface="Arial"/>
                          <a:cs typeface="Arial"/>
                        </a:rPr>
                        <a:t>32 / 115 (27.8%)</a:t>
                      </a:r>
                    </a:p>
                  </a:txBody>
                  <a:tcPr marL="133350" marR="114300" marT="95250" marB="95250" anchor="ctr">
                    <a:solidFill>
                      <a:srgbClr val="F0F4F6"/>
                    </a:solidFill>
                  </a:tcPr>
                </a:tc>
                <a:extLst>
                  <a:ext uri="{0D108BD9-81ED-4DB2-BD59-A6C34878D82A}">
                    <a16:rowId xmlns:a16="http://schemas.microsoft.com/office/drawing/2014/main" val="10002"/>
                  </a:ext>
                </a:extLst>
              </a:tr>
              <a:tr h="600075">
                <a:tc>
                  <a:txBody>
                    <a:bodyPr/>
                    <a:lstStyle/>
                    <a:p>
                      <a:r>
                        <a:rPr sz="2025">
                          <a:solidFill>
                            <a:srgbClr val="122D45"/>
                          </a:solidFill>
                          <a:latin typeface="Arial"/>
                          <a:ea typeface="Arial"/>
                          <a:cs typeface="Arial"/>
                        </a:rPr>
                        <a:t>B 2018</a:t>
                      </a:r>
                    </a:p>
                  </a:txBody>
                  <a:tcPr marL="133350" marR="114300" marT="95250" marB="95250" anchor="ctr">
                    <a:solidFill>
                      <a:srgbClr val="FFFFFF"/>
                    </a:solidFill>
                  </a:tcPr>
                </a:tc>
                <a:tc>
                  <a:txBody>
                    <a:bodyPr/>
                    <a:lstStyle/>
                    <a:p>
                      <a:r>
                        <a:rPr sz="2025">
                          <a:solidFill>
                            <a:srgbClr val="122D45"/>
                          </a:solidFill>
                          <a:latin typeface="Arial"/>
                          <a:ea typeface="Arial"/>
                          <a:cs typeface="Arial"/>
                        </a:rPr>
                        <a:t>20 / 70 (28.6%)</a:t>
                      </a:r>
                    </a:p>
                  </a:txBody>
                  <a:tcPr marL="133350" marR="114300" marT="95250" marB="95250" anchor="ctr">
                    <a:solidFill>
                      <a:srgbClr val="FFFFFF"/>
                    </a:solidFill>
                  </a:tcPr>
                </a:tc>
                <a:tc>
                  <a:txBody>
                    <a:bodyPr/>
                    <a:lstStyle/>
                    <a:p>
                      <a:r>
                        <a:rPr sz="2025">
                          <a:solidFill>
                            <a:srgbClr val="122D45"/>
                          </a:solidFill>
                          <a:latin typeface="Arial"/>
                          <a:ea typeface="Arial"/>
                          <a:cs typeface="Arial"/>
                        </a:rPr>
                        <a:t>13 / 38 (34.2%)</a:t>
                      </a:r>
                    </a:p>
                  </a:txBody>
                  <a:tcPr marL="13335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85FE206C-C6A9-49D3-8BA5-062D648C944D}"/>
              </a:ext>
            </a:extLst>
          </p:cNvPr>
          <p:cNvSpPr>
            <a:spLocks noGrp="1"/>
          </p:cNvSpPr>
          <p:nvPr/>
        </p:nvSpPr>
        <p:spPr>
          <a:xfrm>
            <a:off x="609600" y="4276725"/>
            <a:ext cx="10972800" cy="838200"/>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150 A2020 lottery winners show an observed exit. These histories describe changes over time and cannot identify individual “defiers.”</a:t>
            </a:r>
          </a:p>
        </p:txBody>
      </p:sp>
      <p:sp>
        <p:nvSpPr>
          <p:cNvPr id="6" name="Rectangle 5">
            <a:extLst>
              <a:ext uri="{FF2B5EF4-FFF2-40B4-BE49-F238E27FC236}">
                <a16:creationId xmlns:a16="http://schemas.microsoft.com/office/drawing/2014/main" id="{F73047B5-54FB-4FF3-A905-EF3FE66E0D0D}"/>
              </a:ext>
            </a:extLst>
          </p:cNvPr>
          <p:cNvSpPr>
            <a:spLocks noGrp="1"/>
          </p:cNvSpPr>
          <p:nvPr/>
        </p:nvSpPr>
        <p:spPr>
          <a:xfrm>
            <a:off x="609600" y="5238750"/>
            <a:ext cx="10972800" cy="904875"/>
          </a:xfrm>
          <a:prstGeom prst="rect">
            <a:avLst/>
          </a:prstGeom>
          <a:noFill/>
          <a:ln w="0">
            <a:noFill/>
          </a:ln>
        </p:spPr>
        <p:txBody>
          <a:bodyPr anchor="ctr">
            <a:noAutofit/>
          </a:bodyPr>
          <a:lstStyle/>
          <a:p>
            <a:pPr>
              <a:defRPr sz="2100" b="0">
                <a:solidFill>
                  <a:srgbClr val="122D45"/>
                </a:solidFill>
                <a:latin typeface="Arial"/>
                <a:ea typeface="Arial"/>
                <a:cs typeface="Arial"/>
              </a:defRPr>
            </a:pPr>
            <a:r>
              <a:rPr sz="2100" b="0" dirty="0">
                <a:solidFill>
                  <a:srgbClr val="122D45"/>
                </a:solidFill>
                <a:latin typeface="Arial"/>
                <a:ea typeface="Arial"/>
                <a:cs typeface="Arial"/>
              </a:rPr>
              <a:t>A defier would avoid private school because of the offer while attending it without the offer. Each person reveals only one of those outcomes.</a:t>
            </a:r>
          </a:p>
        </p:txBody>
      </p:sp>
    </p:spTree>
    <p:extLst>
      <p:ext uri="{BB962C8B-B14F-4D97-AF65-F5344CB8AC3E}">
        <p14:creationId xmlns:p14="http://schemas.microsoft.com/office/powerpoint/2010/main" val="890314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FB34FA-36B2-4A62-A3A9-C7CCF9F32033}"/>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Private-school ATT and the lottery instrument</a:t>
            </a:r>
          </a:p>
        </p:txBody>
      </p:sp>
      <p:sp>
        <p:nvSpPr>
          <p:cNvPr id="2" name="Rectangle 1">
            <a:extLst>
              <a:ext uri="{FF2B5EF4-FFF2-40B4-BE49-F238E27FC236}">
                <a16:creationId xmlns:a16="http://schemas.microsoft.com/office/drawing/2014/main" id="{5661A3C1-2D95-4B54-B853-1C2131021EFE}"/>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D = current private attendance. Z = the subsidy lottery offer.</a:t>
            </a:r>
          </a:p>
        </p:txBody>
      </p:sp>
      <p:sp>
        <p:nvSpPr>
          <p:cNvPr id="3" name="Rectangle 2">
            <a:extLst>
              <a:ext uri="{FF2B5EF4-FFF2-40B4-BE49-F238E27FC236}">
                <a16:creationId xmlns:a16="http://schemas.microsoft.com/office/drawing/2014/main" id="{E915D899-8F29-447C-A33C-D427DF841D53}"/>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11</a:t>
            </a:r>
          </a:p>
        </p:txBody>
      </p:sp>
      <p:sp>
        <p:nvSpPr>
          <p:cNvPr id="4" name="Rectangle 3">
            <a:extLst>
              <a:ext uri="{FF2B5EF4-FFF2-40B4-BE49-F238E27FC236}">
                <a16:creationId xmlns:a16="http://schemas.microsoft.com/office/drawing/2014/main" id="{80E90296-DB70-4B8B-855A-1DE82D57D1AD}"/>
              </a:ext>
            </a:extLst>
          </p:cNvPr>
          <p:cNvSpPr>
            <a:spLocks noGrp="1"/>
          </p:cNvSpPr>
          <p:nvPr/>
        </p:nvSpPr>
        <p:spPr>
          <a:xfrm>
            <a:off x="609600" y="1409700"/>
            <a:ext cx="10972800" cy="552450"/>
          </a:xfrm>
          <a:prstGeom prst="rect">
            <a:avLst/>
          </a:prstGeom>
          <a:noFill/>
          <a:ln w="0">
            <a:noFill/>
          </a:ln>
        </p:spPr>
        <p:txBody>
          <a:bodyPr anchor="ctr">
            <a:noAutofit/>
          </a:bodyPr>
          <a:lstStyle/>
          <a:p>
            <a:pPr>
              <a:defRPr sz="2475" b="1">
                <a:solidFill>
                  <a:srgbClr val="007E87"/>
                </a:solidFill>
                <a:latin typeface="Arial"/>
                <a:ea typeface="Arial"/>
                <a:cs typeface="Arial"/>
              </a:defRPr>
            </a:pPr>
            <a:r>
              <a:rPr sz="2475" b="1">
                <a:solidFill>
                  <a:srgbClr val="007E87"/>
                </a:solidFill>
                <a:latin typeface="Arial"/>
                <a:ea typeface="Arial"/>
                <a:cs typeface="Arial"/>
              </a:rPr>
              <a:t>ATT = E[Y(1) − Y(0) | D = 1]</a:t>
            </a:r>
          </a:p>
        </p:txBody>
      </p:sp>
      <p:sp>
        <p:nvSpPr>
          <p:cNvPr id="5" name="Rectangle 4">
            <a:extLst>
              <a:ext uri="{FF2B5EF4-FFF2-40B4-BE49-F238E27FC236}">
                <a16:creationId xmlns:a16="http://schemas.microsoft.com/office/drawing/2014/main" id="{3A82A2C5-C942-42BF-A3E9-4405B06616E7}"/>
              </a:ext>
            </a:extLst>
          </p:cNvPr>
          <p:cNvSpPr>
            <a:spLocks noGrp="1"/>
          </p:cNvSpPr>
          <p:nvPr/>
        </p:nvSpPr>
        <p:spPr>
          <a:xfrm>
            <a:off x="609600" y="2038350"/>
            <a:ext cx="10972800" cy="866775"/>
          </a:xfrm>
          <a:prstGeom prst="rect">
            <a:avLst/>
          </a:prstGeom>
          <a:noFill/>
          <a:ln w="0">
            <a:noFill/>
          </a:ln>
        </p:spPr>
        <p:txBody>
          <a:bodyPr anchor="ctr">
            <a:noAutofit/>
          </a:bodyPr>
          <a:lstStyle/>
          <a:p>
            <a:pPr>
              <a:defRPr sz="2250" b="0">
                <a:solidFill>
                  <a:srgbClr val="122D45"/>
                </a:solidFill>
                <a:latin typeface="Arial"/>
                <a:ea typeface="Arial"/>
                <a:cs typeface="Arial"/>
              </a:defRPr>
            </a:pPr>
            <a:r>
              <a:rPr sz="2250" b="0" dirty="0">
                <a:solidFill>
                  <a:srgbClr val="122D45"/>
                </a:solidFill>
                <a:latin typeface="Arial"/>
                <a:ea typeface="Arial"/>
                <a:cs typeface="Arial"/>
              </a:rPr>
              <a:t>The average effect of private schooling among applicants actually attending private school at follow-up.</a:t>
            </a:r>
          </a:p>
        </p:txBody>
      </p:sp>
      <p:sp>
        <p:nvSpPr>
          <p:cNvPr id="6" name="Rectangle 5">
            <a:extLst>
              <a:ext uri="{FF2B5EF4-FFF2-40B4-BE49-F238E27FC236}">
                <a16:creationId xmlns:a16="http://schemas.microsoft.com/office/drawing/2014/main" id="{2217168A-C8C9-4F4B-8FD5-DECA4ACB4C84}"/>
              </a:ext>
            </a:extLst>
          </p:cNvPr>
          <p:cNvSpPr>
            <a:spLocks noGrp="1"/>
          </p:cNvSpPr>
          <p:nvPr/>
        </p:nvSpPr>
        <p:spPr>
          <a:xfrm>
            <a:off x="609600" y="3190875"/>
            <a:ext cx="10972800" cy="819150"/>
          </a:xfrm>
          <a:prstGeom prst="rect">
            <a:avLst/>
          </a:prstGeom>
          <a:noFill/>
          <a:ln w="0">
            <a:noFill/>
          </a:ln>
        </p:spPr>
        <p:txBody>
          <a:bodyPr anchor="ctr">
            <a:noAutofit/>
          </a:bodyPr>
          <a:lstStyle/>
          <a:p>
            <a:pPr>
              <a:defRPr sz="2250" b="1">
                <a:solidFill>
                  <a:srgbClr val="007E87"/>
                </a:solidFill>
                <a:latin typeface="Arial"/>
                <a:ea typeface="Arial"/>
                <a:cs typeface="Arial"/>
              </a:defRPr>
            </a:pPr>
            <a:r>
              <a:rPr sz="2250" b="1">
                <a:solidFill>
                  <a:srgbClr val="007E87"/>
                </a:solidFill>
                <a:latin typeface="Arial"/>
                <a:ea typeface="Arial"/>
                <a:cs typeface="Arial"/>
              </a:rPr>
              <a:t>Private attendance: 53.8% in the control group, 69.7% in the treatment group.</a:t>
            </a:r>
          </a:p>
        </p:txBody>
      </p:sp>
      <p:sp>
        <p:nvSpPr>
          <p:cNvPr id="7" name="Rectangle 6">
            <a:extLst>
              <a:ext uri="{FF2B5EF4-FFF2-40B4-BE49-F238E27FC236}">
                <a16:creationId xmlns:a16="http://schemas.microsoft.com/office/drawing/2014/main" id="{EDB18972-34A4-479F-BFA0-693B2383F4E8}"/>
              </a:ext>
            </a:extLst>
          </p:cNvPr>
          <p:cNvSpPr>
            <a:spLocks noGrp="1"/>
          </p:cNvSpPr>
          <p:nvPr/>
        </p:nvSpPr>
        <p:spPr>
          <a:xfrm>
            <a:off x="609600" y="4229100"/>
            <a:ext cx="10972800" cy="942975"/>
          </a:xfrm>
          <a:prstGeom prst="rect">
            <a:avLst/>
          </a:prstGeom>
          <a:noFill/>
          <a:ln w="0">
            <a:noFill/>
          </a:ln>
        </p:spPr>
        <p:txBody>
          <a:bodyPr anchor="ctr">
            <a:noAutofit/>
          </a:bodyPr>
          <a:lstStyle/>
          <a:p>
            <a:pPr>
              <a:defRPr sz="2250" b="0">
                <a:solidFill>
                  <a:srgbClr val="122D45"/>
                </a:solidFill>
                <a:latin typeface="Arial"/>
                <a:ea typeface="Arial"/>
                <a:cs typeface="Arial"/>
              </a:defRPr>
            </a:pPr>
            <a:r>
              <a:rPr sz="2250" b="0" dirty="0">
                <a:solidFill>
                  <a:srgbClr val="122D45"/>
                </a:solidFill>
                <a:latin typeface="Arial"/>
                <a:ea typeface="Arial"/>
                <a:cs typeface="Arial"/>
              </a:rPr>
              <a:t>Under valid-IV assumptions, the lottery identifies LATE: the effect for applicants induced to attend private school by the offer.</a:t>
            </a:r>
          </a:p>
        </p:txBody>
      </p:sp>
      <p:sp>
        <p:nvSpPr>
          <p:cNvPr id="8" name="Rectangle 7">
            <a:extLst>
              <a:ext uri="{FF2B5EF4-FFF2-40B4-BE49-F238E27FC236}">
                <a16:creationId xmlns:a16="http://schemas.microsoft.com/office/drawing/2014/main" id="{14DFBD42-E798-4223-9D09-AFAF09CE35B3}"/>
              </a:ext>
            </a:extLst>
          </p:cNvPr>
          <p:cNvSpPr>
            <a:spLocks noGrp="1"/>
          </p:cNvSpPr>
          <p:nvPr/>
        </p:nvSpPr>
        <p:spPr>
          <a:xfrm>
            <a:off x="609600" y="5438775"/>
            <a:ext cx="10972800" cy="695325"/>
          </a:xfrm>
          <a:prstGeom prst="rect">
            <a:avLst/>
          </a:prstGeom>
          <a:noFill/>
          <a:ln w="0">
            <a:noFill/>
          </a:ln>
        </p:spPr>
        <p:txBody>
          <a:bodyPr anchor="ctr">
            <a:noAutofit/>
          </a:bodyPr>
          <a:lstStyle/>
          <a:p>
            <a:pPr>
              <a:defRPr sz="2100" b="1">
                <a:solidFill>
                  <a:srgbClr val="A56218"/>
                </a:solidFill>
                <a:latin typeface="Arial"/>
                <a:ea typeface="Arial"/>
                <a:cs typeface="Arial"/>
              </a:defRPr>
            </a:pPr>
            <a:r>
              <a:rPr sz="2100" b="1">
                <a:solidFill>
                  <a:srgbClr val="A56218"/>
                </a:solidFill>
                <a:latin typeface="Arial"/>
                <a:ea typeface="Arial"/>
                <a:cs typeface="Arial"/>
              </a:rPr>
              <a:t>Two-sided uptake means LATE does not generally equal ATT among all private-school attenders.</a:t>
            </a:r>
          </a:p>
        </p:txBody>
      </p:sp>
    </p:spTree>
    <p:extLst>
      <p:ext uri="{BB962C8B-B14F-4D97-AF65-F5344CB8AC3E}">
        <p14:creationId xmlns:p14="http://schemas.microsoft.com/office/powerpoint/2010/main" val="1818106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8994D1-3AB3-4513-A4D9-90DB3A11A2BD}"/>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Private-school IV estimates in A2020</a:t>
            </a:r>
          </a:p>
        </p:txBody>
      </p:sp>
      <p:sp>
        <p:nvSpPr>
          <p:cNvPr id="2" name="Rectangle 1">
            <a:extLst>
              <a:ext uri="{FF2B5EF4-FFF2-40B4-BE49-F238E27FC236}">
                <a16:creationId xmlns:a16="http://schemas.microsoft.com/office/drawing/2014/main" id="{554BB9B6-7B63-45E0-ACE9-653077925D76}"/>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Exploratory IV. Binary effects use percentage points. AR p-value tests a zero effect and is unadjusted.</a:t>
            </a:r>
          </a:p>
        </p:txBody>
      </p:sp>
      <p:sp>
        <p:nvSpPr>
          <p:cNvPr id="3" name="Rectangle 2">
            <a:extLst>
              <a:ext uri="{FF2B5EF4-FFF2-40B4-BE49-F238E27FC236}">
                <a16:creationId xmlns:a16="http://schemas.microsoft.com/office/drawing/2014/main" id="{56B57545-1387-410F-A9DC-B8BB9C72D4F0}"/>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12</a:t>
            </a:r>
          </a:p>
        </p:txBody>
      </p:sp>
      <p:sp>
        <p:nvSpPr>
          <p:cNvPr id="4" name="Rectangle 3">
            <a:extLst>
              <a:ext uri="{FF2B5EF4-FFF2-40B4-BE49-F238E27FC236}">
                <a16:creationId xmlns:a16="http://schemas.microsoft.com/office/drawing/2014/main" id="{89394B9A-CEC6-4746-B7B3-36E8801AA49E}"/>
              </a:ext>
            </a:extLst>
          </p:cNvPr>
          <p:cNvSpPr>
            <a:spLocks noGrp="1"/>
          </p:cNvSpPr>
          <p:nvPr/>
        </p:nvSpPr>
        <p:spPr>
          <a:xfrm>
            <a:off x="609600" y="1323975"/>
            <a:ext cx="10972800" cy="647700"/>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Stage 1: D = π₀ + π₁Z + u</a:t>
            </a:r>
          </a:p>
          <a:p>
            <a:pPr>
              <a:defRPr sz="1725" b="0">
                <a:solidFill>
                  <a:srgbClr val="007E87"/>
                </a:solidFill>
                <a:latin typeface="Arial"/>
                <a:ea typeface="Arial"/>
                <a:cs typeface="Arial"/>
              </a:defRPr>
            </a:pPr>
            <a:r>
              <a:rPr sz="1725" b="0">
                <a:solidFill>
                  <a:srgbClr val="007E87"/>
                </a:solidFill>
                <a:latin typeface="Arial"/>
                <a:ea typeface="Arial"/>
                <a:cs typeface="Arial"/>
              </a:rPr>
              <a:t>Stage 2: Y = α + βD̂ + ε  (2SLS). D = private attendance, Z = lottery selection.</a:t>
            </a:r>
          </a:p>
        </p:txBody>
      </p:sp>
      <p:graphicFrame>
        <p:nvGraphicFramePr>
          <p:cNvPr id="11" name="Table 10"/>
          <p:cNvGraphicFramePr/>
          <p:nvPr/>
        </p:nvGraphicFramePr>
        <p:xfrm>
          <a:off x="609600" y="2095500"/>
          <a:ext cx="10972800" cy="3028950"/>
        </p:xfrm>
        <a:graphic>
          <a:graphicData uri="http://schemas.openxmlformats.org/drawingml/2006/table">
            <a:tbl>
              <a:tblPr/>
              <a:tblGrid>
                <a:gridCol w="3048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3095625">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495425">
                  <a:extLst>
                    <a:ext uri="{9D8B030D-6E8A-4147-A177-3AD203B41FA5}">
                      <a16:colId xmlns:a16="http://schemas.microsoft.com/office/drawing/2014/main" val="20004"/>
                    </a:ext>
                  </a:extLst>
                </a:gridCol>
              </a:tblGrid>
              <a:tr h="504825">
                <a:tc>
                  <a:txBody>
                    <a:bodyPr/>
                    <a:lstStyle/>
                    <a:p>
                      <a:r>
                        <a:rPr sz="1650" b="1">
                          <a:solidFill>
                            <a:srgbClr val="FFFFFF"/>
                          </a:solidFill>
                          <a:latin typeface="Arial"/>
                          <a:ea typeface="Arial"/>
                          <a:cs typeface="Arial"/>
                        </a:rPr>
                        <a:t>Outcome</a:t>
                      </a:r>
                    </a:p>
                  </a:txBody>
                  <a:tcPr marL="133350" marR="114300" marT="38100" marB="38100" anchor="ctr">
                    <a:solidFill>
                      <a:srgbClr val="122D45"/>
                    </a:solidFill>
                  </a:tcPr>
                </a:tc>
                <a:tc>
                  <a:txBody>
                    <a:bodyPr/>
                    <a:lstStyle/>
                    <a:p>
                      <a:r>
                        <a:rPr sz="1650" b="1">
                          <a:solidFill>
                            <a:srgbClr val="FFFFFF"/>
                          </a:solidFill>
                          <a:latin typeface="Arial"/>
                          <a:ea typeface="Arial"/>
                          <a:cs typeface="Arial"/>
                        </a:rPr>
                        <a:t>IV estimate</a:t>
                      </a:r>
                    </a:p>
                  </a:txBody>
                  <a:tcPr marL="133350" marR="114300" marT="38100" marB="38100" anchor="ctr">
                    <a:solidFill>
                      <a:srgbClr val="122D45"/>
                    </a:solidFill>
                  </a:tcPr>
                </a:tc>
                <a:tc>
                  <a:txBody>
                    <a:bodyPr/>
                    <a:lstStyle/>
                    <a:p>
                      <a:r>
                        <a:rPr sz="1650" b="1">
                          <a:solidFill>
                            <a:srgbClr val="FFFFFF"/>
                          </a:solidFill>
                          <a:latin typeface="Arial"/>
                          <a:ea typeface="Arial"/>
                          <a:cs typeface="Arial"/>
                        </a:rPr>
                        <a:t>95% robust AR set</a:t>
                      </a:r>
                    </a:p>
                  </a:txBody>
                  <a:tcPr marL="133350" marR="114300" marT="38100" marB="38100" anchor="ctr">
                    <a:solidFill>
                      <a:srgbClr val="122D45"/>
                    </a:solidFill>
                  </a:tcPr>
                </a:tc>
                <a:tc>
                  <a:txBody>
                    <a:bodyPr/>
                    <a:lstStyle/>
                    <a:p>
                      <a:r>
                        <a:rPr sz="1650" b="1">
                          <a:solidFill>
                            <a:srgbClr val="FFFFFF"/>
                          </a:solidFill>
                          <a:latin typeface="Arial"/>
                          <a:ea typeface="Arial"/>
                          <a:cs typeface="Arial"/>
                        </a:rPr>
                        <a:t>AR p-value</a:t>
                      </a:r>
                    </a:p>
                  </a:txBody>
                  <a:tcPr marL="133350" marR="114300" marT="38100" marB="38100" anchor="ctr">
                    <a:solidFill>
                      <a:srgbClr val="122D45"/>
                    </a:solidFill>
                  </a:tcPr>
                </a:tc>
                <a:tc>
                  <a:txBody>
                    <a:bodyPr/>
                    <a:lstStyle/>
                    <a:p>
                      <a:r>
                        <a:rPr sz="1650" b="1">
                          <a:solidFill>
                            <a:srgbClr val="FFFFFF"/>
                          </a:solidFill>
                          <a:latin typeface="Arial"/>
                          <a:ea typeface="Arial"/>
                          <a:cs typeface="Arial"/>
                        </a:rPr>
                        <a:t>Observed N</a:t>
                      </a:r>
                    </a:p>
                  </a:txBody>
                  <a:tcPr marL="133350" marR="114300" marT="38100" marB="38100" anchor="ctr">
                    <a:solidFill>
                      <a:srgbClr val="122D45"/>
                    </a:solidFill>
                  </a:tcPr>
                </a:tc>
                <a:extLst>
                  <a:ext uri="{0D108BD9-81ED-4DB2-BD59-A6C34878D82A}">
                    <a16:rowId xmlns:a16="http://schemas.microsoft.com/office/drawing/2014/main" val="10000"/>
                  </a:ext>
                </a:extLst>
              </a:tr>
              <a:tr h="504825">
                <a:tc>
                  <a:txBody>
                    <a:bodyPr/>
                    <a:lstStyle/>
                    <a:p>
                      <a:r>
                        <a:rPr sz="1650">
                          <a:solidFill>
                            <a:srgbClr val="122D45"/>
                          </a:solidFill>
                          <a:latin typeface="Arial"/>
                          <a:ea typeface="Arial"/>
                          <a:cs typeface="Arial"/>
                        </a:rPr>
                        <a:t>School years completed</a:t>
                      </a:r>
                    </a:p>
                  </a:txBody>
                  <a:tcPr marL="133350" marR="114300" marT="38100" marB="38100" anchor="ctr">
                    <a:solidFill>
                      <a:srgbClr val="FFFFFF"/>
                    </a:solidFill>
                  </a:tcPr>
                </a:tc>
                <a:tc>
                  <a:txBody>
                    <a:bodyPr/>
                    <a:lstStyle/>
                    <a:p>
                      <a:r>
                        <a:rPr sz="1650">
                          <a:solidFill>
                            <a:srgbClr val="122D45"/>
                          </a:solidFill>
                          <a:latin typeface="Arial"/>
                          <a:ea typeface="Arial"/>
                          <a:cs typeface="Arial"/>
                        </a:rPr>
                        <a:t>+0.497</a:t>
                      </a:r>
                    </a:p>
                  </a:txBody>
                  <a:tcPr marL="133350" marR="114300" marT="38100" marB="38100" anchor="ctr">
                    <a:solidFill>
                      <a:srgbClr val="FFFFFF"/>
                    </a:solidFill>
                  </a:tcPr>
                </a:tc>
                <a:tc>
                  <a:txBody>
                    <a:bodyPr/>
                    <a:lstStyle/>
                    <a:p>
                      <a:r>
                        <a:rPr sz="1650">
                          <a:solidFill>
                            <a:srgbClr val="122D45"/>
                          </a:solidFill>
                          <a:latin typeface="Arial"/>
                          <a:ea typeface="Arial"/>
                          <a:cs typeface="Arial"/>
                        </a:rPr>
                        <a:t>[−0.209, 1.094]</a:t>
                      </a:r>
                    </a:p>
                  </a:txBody>
                  <a:tcPr marL="133350" marR="114300" marT="38100" marB="38100" anchor="ctr">
                    <a:solidFill>
                      <a:srgbClr val="FFFFFF"/>
                    </a:solidFill>
                  </a:tcPr>
                </a:tc>
                <a:tc>
                  <a:txBody>
                    <a:bodyPr/>
                    <a:lstStyle/>
                    <a:p>
                      <a:r>
                        <a:rPr sz="1650">
                          <a:solidFill>
                            <a:srgbClr val="122D45"/>
                          </a:solidFill>
                          <a:latin typeface="Arial"/>
                          <a:ea typeface="Arial"/>
                          <a:cs typeface="Arial"/>
                        </a:rPr>
                        <a:t>0.146</a:t>
                      </a:r>
                    </a:p>
                  </a:txBody>
                  <a:tcPr marL="133350" marR="114300" marT="38100" marB="38100" anchor="ctr">
                    <a:solidFill>
                      <a:srgbClr val="FFFFFF"/>
                    </a:solidFill>
                  </a:tcPr>
                </a:tc>
                <a:tc>
                  <a:txBody>
                    <a:bodyPr/>
                    <a:lstStyle/>
                    <a:p>
                      <a:r>
                        <a:rPr sz="1650">
                          <a:solidFill>
                            <a:srgbClr val="122D45"/>
                          </a:solidFill>
                          <a:latin typeface="Arial"/>
                          <a:ea typeface="Arial"/>
                          <a:cs typeface="Arial"/>
                        </a:rPr>
                        <a:t>1,162</a:t>
                      </a:r>
                    </a:p>
                  </a:txBody>
                  <a:tcPr marL="133350" marR="114300" marT="38100" marB="38100" anchor="ctr">
                    <a:solidFill>
                      <a:srgbClr val="FFFFFF"/>
                    </a:solidFill>
                  </a:tcPr>
                </a:tc>
                <a:extLst>
                  <a:ext uri="{0D108BD9-81ED-4DB2-BD59-A6C34878D82A}">
                    <a16:rowId xmlns:a16="http://schemas.microsoft.com/office/drawing/2014/main" val="10001"/>
                  </a:ext>
                </a:extLst>
              </a:tr>
              <a:tr h="504825">
                <a:tc>
                  <a:txBody>
                    <a:bodyPr/>
                    <a:lstStyle/>
                    <a:p>
                      <a:r>
                        <a:rPr sz="1650">
                          <a:solidFill>
                            <a:srgbClr val="122D45"/>
                          </a:solidFill>
                          <a:latin typeface="Arial"/>
                          <a:ea typeface="Arial"/>
                          <a:cs typeface="Arial"/>
                        </a:rPr>
                        <a:t>Married or cohabiting</a:t>
                      </a:r>
                    </a:p>
                  </a:txBody>
                  <a:tcPr marL="133350" marR="114300" marT="38100" marB="38100" anchor="ctr">
                    <a:solidFill>
                      <a:srgbClr val="F0F4F6"/>
                    </a:solidFill>
                  </a:tcPr>
                </a:tc>
                <a:tc>
                  <a:txBody>
                    <a:bodyPr/>
                    <a:lstStyle/>
                    <a:p>
                      <a:r>
                        <a:rPr sz="1650">
                          <a:solidFill>
                            <a:srgbClr val="122D45"/>
                          </a:solidFill>
                          <a:latin typeface="Arial"/>
                          <a:ea typeface="Arial"/>
                          <a:cs typeface="Arial"/>
                        </a:rPr>
                        <a:t>−6.6 pp</a:t>
                      </a:r>
                    </a:p>
                  </a:txBody>
                  <a:tcPr marL="133350" marR="114300" marT="38100" marB="38100" anchor="ctr">
                    <a:solidFill>
                      <a:srgbClr val="F0F4F6"/>
                    </a:solidFill>
                  </a:tcPr>
                </a:tc>
                <a:tc>
                  <a:txBody>
                    <a:bodyPr/>
                    <a:lstStyle/>
                    <a:p>
                      <a:r>
                        <a:rPr sz="1650">
                          <a:solidFill>
                            <a:srgbClr val="122D45"/>
                          </a:solidFill>
                          <a:latin typeface="Arial"/>
                          <a:ea typeface="Arial"/>
                          <a:cs typeface="Arial"/>
                        </a:rPr>
                        <a:t>[−15.5, 1.3]</a:t>
                      </a:r>
                    </a:p>
                  </a:txBody>
                  <a:tcPr marL="133350" marR="114300" marT="38100" marB="38100" anchor="ctr">
                    <a:solidFill>
                      <a:srgbClr val="F0F4F6"/>
                    </a:solidFill>
                  </a:tcPr>
                </a:tc>
                <a:tc>
                  <a:txBody>
                    <a:bodyPr/>
                    <a:lstStyle/>
                    <a:p>
                      <a:r>
                        <a:rPr sz="1650">
                          <a:solidFill>
                            <a:srgbClr val="122D45"/>
                          </a:solidFill>
                          <a:latin typeface="Arial"/>
                          <a:ea typeface="Arial"/>
                          <a:cs typeface="Arial"/>
                        </a:rPr>
                        <a:t>0.097</a:t>
                      </a:r>
                    </a:p>
                  </a:txBody>
                  <a:tcPr marL="133350" marR="114300" marT="38100" marB="38100" anchor="ctr">
                    <a:solidFill>
                      <a:srgbClr val="F0F4F6"/>
                    </a:solidFill>
                  </a:tcPr>
                </a:tc>
                <a:tc>
                  <a:txBody>
                    <a:bodyPr/>
                    <a:lstStyle/>
                    <a:p>
                      <a:r>
                        <a:rPr sz="1650">
                          <a:solidFill>
                            <a:srgbClr val="122D45"/>
                          </a:solidFill>
                          <a:latin typeface="Arial"/>
                          <a:ea typeface="Arial"/>
                          <a:cs typeface="Arial"/>
                        </a:rPr>
                        <a:t>1,161</a:t>
                      </a:r>
                    </a:p>
                  </a:txBody>
                  <a:tcPr marL="133350" marR="114300" marT="38100" marB="38100" anchor="ctr">
                    <a:solidFill>
                      <a:srgbClr val="F0F4F6"/>
                    </a:solidFill>
                  </a:tcPr>
                </a:tc>
                <a:extLst>
                  <a:ext uri="{0D108BD9-81ED-4DB2-BD59-A6C34878D82A}">
                    <a16:rowId xmlns:a16="http://schemas.microsoft.com/office/drawing/2014/main" val="10002"/>
                  </a:ext>
                </a:extLst>
              </a:tr>
              <a:tr h="504825">
                <a:tc>
                  <a:txBody>
                    <a:bodyPr/>
                    <a:lstStyle/>
                    <a:p>
                      <a:r>
                        <a:rPr sz="1650">
                          <a:solidFill>
                            <a:srgbClr val="122D45"/>
                          </a:solidFill>
                          <a:latin typeface="Arial"/>
                          <a:ea typeface="Arial"/>
                          <a:cs typeface="Arial"/>
                        </a:rPr>
                        <a:t>Has a child</a:t>
                      </a:r>
                    </a:p>
                  </a:txBody>
                  <a:tcPr marL="133350" marR="114300" marT="38100" marB="38100" anchor="ctr">
                    <a:solidFill>
                      <a:srgbClr val="FFFFFF"/>
                    </a:solidFill>
                  </a:tcPr>
                </a:tc>
                <a:tc>
                  <a:txBody>
                    <a:bodyPr/>
                    <a:lstStyle/>
                    <a:p>
                      <a:r>
                        <a:rPr sz="1650">
                          <a:solidFill>
                            <a:srgbClr val="122D45"/>
                          </a:solidFill>
                          <a:latin typeface="Arial"/>
                          <a:ea typeface="Arial"/>
                          <a:cs typeface="Arial"/>
                        </a:rPr>
                        <a:t>−9.1 pp</a:t>
                      </a:r>
                    </a:p>
                  </a:txBody>
                  <a:tcPr marL="133350" marR="114300" marT="38100" marB="38100" anchor="ctr">
                    <a:solidFill>
                      <a:srgbClr val="FFFFFF"/>
                    </a:solidFill>
                  </a:tcPr>
                </a:tc>
                <a:tc>
                  <a:txBody>
                    <a:bodyPr/>
                    <a:lstStyle/>
                    <a:p>
                      <a:r>
                        <a:rPr sz="1650">
                          <a:solidFill>
                            <a:srgbClr val="122D45"/>
                          </a:solidFill>
                          <a:latin typeface="Arial"/>
                          <a:ea typeface="Arial"/>
                          <a:cs typeface="Arial"/>
                        </a:rPr>
                        <a:t>[−22.1, 3.3]</a:t>
                      </a:r>
                    </a:p>
                  </a:txBody>
                  <a:tcPr marL="133350" marR="114300" marT="38100" marB="38100" anchor="ctr">
                    <a:solidFill>
                      <a:srgbClr val="FFFFFF"/>
                    </a:solidFill>
                  </a:tcPr>
                </a:tc>
                <a:tc>
                  <a:txBody>
                    <a:bodyPr/>
                    <a:lstStyle/>
                    <a:p>
                      <a:r>
                        <a:rPr sz="1650">
                          <a:solidFill>
                            <a:srgbClr val="122D45"/>
                          </a:solidFill>
                          <a:latin typeface="Arial"/>
                          <a:ea typeface="Arial"/>
                          <a:cs typeface="Arial"/>
                        </a:rPr>
                        <a:t>0.141</a:t>
                      </a:r>
                    </a:p>
                  </a:txBody>
                  <a:tcPr marL="133350" marR="114300" marT="38100" marB="38100" anchor="ctr">
                    <a:solidFill>
                      <a:srgbClr val="FFFFFF"/>
                    </a:solidFill>
                  </a:tcPr>
                </a:tc>
                <a:tc>
                  <a:txBody>
                    <a:bodyPr/>
                    <a:lstStyle/>
                    <a:p>
                      <a:r>
                        <a:rPr sz="1650">
                          <a:solidFill>
                            <a:srgbClr val="122D45"/>
                          </a:solidFill>
                          <a:latin typeface="Arial"/>
                          <a:ea typeface="Arial"/>
                          <a:cs typeface="Arial"/>
                        </a:rPr>
                        <a:t>1,161</a:t>
                      </a:r>
                    </a:p>
                  </a:txBody>
                  <a:tcPr marL="133350" marR="114300" marT="38100" marB="38100" anchor="ctr">
                    <a:solidFill>
                      <a:srgbClr val="FFFFFF"/>
                    </a:solidFill>
                  </a:tcPr>
                </a:tc>
                <a:extLst>
                  <a:ext uri="{0D108BD9-81ED-4DB2-BD59-A6C34878D82A}">
                    <a16:rowId xmlns:a16="http://schemas.microsoft.com/office/drawing/2014/main" val="10003"/>
                  </a:ext>
                </a:extLst>
              </a:tr>
              <a:tr h="504825">
                <a:tc>
                  <a:txBody>
                    <a:bodyPr/>
                    <a:lstStyle/>
                    <a:p>
                      <a:r>
                        <a:rPr sz="1650">
                          <a:solidFill>
                            <a:srgbClr val="122D45"/>
                          </a:solidFill>
                          <a:latin typeface="Arial"/>
                          <a:ea typeface="Arial"/>
                          <a:cs typeface="Arial"/>
                        </a:rPr>
                        <a:t>Doing paid work</a:t>
                      </a:r>
                    </a:p>
                  </a:txBody>
                  <a:tcPr marL="133350" marR="114300" marT="38100" marB="38100" anchor="ctr">
                    <a:solidFill>
                      <a:srgbClr val="F0F4F6"/>
                    </a:solidFill>
                  </a:tcPr>
                </a:tc>
                <a:tc>
                  <a:txBody>
                    <a:bodyPr/>
                    <a:lstStyle/>
                    <a:p>
                      <a:r>
                        <a:rPr sz="1650">
                          <a:solidFill>
                            <a:srgbClr val="122D45"/>
                          </a:solidFill>
                          <a:latin typeface="Arial"/>
                          <a:ea typeface="Arial"/>
                          <a:cs typeface="Arial"/>
                        </a:rPr>
                        <a:t>−24.8 pp</a:t>
                      </a:r>
                    </a:p>
                  </a:txBody>
                  <a:tcPr marL="133350" marR="114300" marT="38100" marB="38100" anchor="ctr">
                    <a:solidFill>
                      <a:srgbClr val="F0F4F6"/>
                    </a:solidFill>
                  </a:tcPr>
                </a:tc>
                <a:tc>
                  <a:txBody>
                    <a:bodyPr/>
                    <a:lstStyle/>
                    <a:p>
                      <a:r>
                        <a:rPr sz="1650">
                          <a:solidFill>
                            <a:srgbClr val="122D45"/>
                          </a:solidFill>
                          <a:latin typeface="Arial"/>
                          <a:ea typeface="Arial"/>
                          <a:cs typeface="Arial"/>
                        </a:rPr>
                        <a:t>[−52.9, 2.4]</a:t>
                      </a:r>
                    </a:p>
                  </a:txBody>
                  <a:tcPr marL="133350" marR="114300" marT="38100" marB="38100" anchor="ctr">
                    <a:solidFill>
                      <a:srgbClr val="F0F4F6"/>
                    </a:solidFill>
                  </a:tcPr>
                </a:tc>
                <a:tc>
                  <a:txBody>
                    <a:bodyPr/>
                    <a:lstStyle/>
                    <a:p>
                      <a:r>
                        <a:rPr sz="1650">
                          <a:solidFill>
                            <a:srgbClr val="122D45"/>
                          </a:solidFill>
                          <a:latin typeface="Arial"/>
                          <a:ea typeface="Arial"/>
                          <a:cs typeface="Arial"/>
                        </a:rPr>
                        <a:t>0.072</a:t>
                      </a:r>
                    </a:p>
                  </a:txBody>
                  <a:tcPr marL="133350" marR="114300" marT="38100" marB="38100" anchor="ctr">
                    <a:solidFill>
                      <a:srgbClr val="F0F4F6"/>
                    </a:solidFill>
                  </a:tcPr>
                </a:tc>
                <a:tc>
                  <a:txBody>
                    <a:bodyPr/>
                    <a:lstStyle/>
                    <a:p>
                      <a:r>
                        <a:rPr sz="1650">
                          <a:solidFill>
                            <a:srgbClr val="122D45"/>
                          </a:solidFill>
                          <a:latin typeface="Arial"/>
                          <a:ea typeface="Arial"/>
                          <a:cs typeface="Arial"/>
                        </a:rPr>
                        <a:t>1,162</a:t>
                      </a:r>
                    </a:p>
                  </a:txBody>
                  <a:tcPr marL="133350" marR="114300" marT="38100" marB="38100" anchor="ctr">
                    <a:solidFill>
                      <a:srgbClr val="F0F4F6"/>
                    </a:solidFill>
                  </a:tcPr>
                </a:tc>
                <a:extLst>
                  <a:ext uri="{0D108BD9-81ED-4DB2-BD59-A6C34878D82A}">
                    <a16:rowId xmlns:a16="http://schemas.microsoft.com/office/drawing/2014/main" val="10004"/>
                  </a:ext>
                </a:extLst>
              </a:tr>
              <a:tr h="504825">
                <a:tc>
                  <a:txBody>
                    <a:bodyPr/>
                    <a:lstStyle/>
                    <a:p>
                      <a:r>
                        <a:rPr sz="1650">
                          <a:solidFill>
                            <a:srgbClr val="122D45"/>
                          </a:solidFill>
                          <a:latin typeface="Arial"/>
                          <a:ea typeface="Arial"/>
                          <a:cs typeface="Arial"/>
                        </a:rPr>
                        <a:t>Weekly hours worked</a:t>
                      </a:r>
                    </a:p>
                  </a:txBody>
                  <a:tcPr marL="133350" marR="114300" marT="38100" marB="38100" anchor="ctr">
                    <a:solidFill>
                      <a:srgbClr val="FFFFFF"/>
                    </a:solidFill>
                  </a:tcPr>
                </a:tc>
                <a:tc>
                  <a:txBody>
                    <a:bodyPr/>
                    <a:lstStyle/>
                    <a:p>
                      <a:r>
                        <a:rPr sz="1650">
                          <a:solidFill>
                            <a:srgbClr val="122D45"/>
                          </a:solidFill>
                          <a:latin typeface="Arial"/>
                          <a:ea typeface="Arial"/>
                          <a:cs typeface="Arial"/>
                        </a:rPr>
                        <a:t>−8.98</a:t>
                      </a:r>
                    </a:p>
                  </a:txBody>
                  <a:tcPr marL="133350" marR="114300" marT="38100" marB="38100" anchor="ctr">
                    <a:solidFill>
                      <a:srgbClr val="FFFFFF"/>
                    </a:solidFill>
                  </a:tcPr>
                </a:tc>
                <a:tc>
                  <a:txBody>
                    <a:bodyPr/>
                    <a:lstStyle/>
                    <a:p>
                      <a:r>
                        <a:rPr sz="1650">
                          <a:solidFill>
                            <a:srgbClr val="122D45"/>
                          </a:solidFill>
                          <a:latin typeface="Arial"/>
                          <a:ea typeface="Arial"/>
                          <a:cs typeface="Arial"/>
                        </a:rPr>
                        <a:t>[−17.60, −0.88]</a:t>
                      </a:r>
                    </a:p>
                  </a:txBody>
                  <a:tcPr marL="133350" marR="114300" marT="38100" marB="38100" anchor="ctr">
                    <a:solidFill>
                      <a:srgbClr val="FFFFFF"/>
                    </a:solidFill>
                  </a:tcPr>
                </a:tc>
                <a:tc>
                  <a:txBody>
                    <a:bodyPr/>
                    <a:lstStyle/>
                    <a:p>
                      <a:r>
                        <a:rPr sz="1650">
                          <a:solidFill>
                            <a:srgbClr val="122D45"/>
                          </a:solidFill>
                          <a:latin typeface="Arial"/>
                          <a:ea typeface="Arial"/>
                          <a:cs typeface="Arial"/>
                        </a:rPr>
                        <a:t>0.032</a:t>
                      </a:r>
                    </a:p>
                  </a:txBody>
                  <a:tcPr marL="133350" marR="114300" marT="38100" marB="38100" anchor="ctr">
                    <a:solidFill>
                      <a:srgbClr val="FFFFFF"/>
                    </a:solidFill>
                  </a:tcPr>
                </a:tc>
                <a:tc>
                  <a:txBody>
                    <a:bodyPr/>
                    <a:lstStyle/>
                    <a:p>
                      <a:r>
                        <a:rPr sz="1650">
                          <a:solidFill>
                            <a:srgbClr val="122D45"/>
                          </a:solidFill>
                          <a:latin typeface="Arial"/>
                          <a:ea typeface="Arial"/>
                          <a:cs typeface="Arial"/>
                        </a:rPr>
                        <a:t>1,162</a:t>
                      </a:r>
                    </a:p>
                  </a:txBody>
                  <a:tcPr marL="133350" marR="114300"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E4DFB1F9-D164-4365-AEF0-50980044E117}"/>
              </a:ext>
            </a:extLst>
          </p:cNvPr>
          <p:cNvSpPr>
            <a:spLocks noGrp="1"/>
          </p:cNvSpPr>
          <p:nvPr/>
        </p:nvSpPr>
        <p:spPr>
          <a:xfrm>
            <a:off x="609600" y="5343525"/>
            <a:ext cx="10972800" cy="790575"/>
          </a:xfrm>
          <a:prstGeom prst="rect">
            <a:avLst/>
          </a:prstGeom>
          <a:noFill/>
          <a:ln w="0">
            <a:noFill/>
          </a:ln>
        </p:spPr>
        <p:txBody>
          <a:bodyPr anchor="ctr">
            <a:noAutofit/>
          </a:bodyPr>
          <a:lstStyle/>
          <a:p>
            <a:pPr>
              <a:defRPr sz="2025" b="1">
                <a:solidFill>
                  <a:srgbClr val="A56218"/>
                </a:solidFill>
                <a:latin typeface="Arial"/>
                <a:ea typeface="Arial"/>
                <a:cs typeface="Arial"/>
              </a:defRPr>
            </a:pPr>
            <a:r>
              <a:rPr sz="2025" b="1">
                <a:solidFill>
                  <a:srgbClr val="A56218"/>
                </a:solidFill>
                <a:latin typeface="Arial"/>
                <a:ea typeface="Arial"/>
                <a:cs typeface="Arial"/>
              </a:rPr>
              <a:t>The hours estimate is −8.98 per week. It does not survive correction across five outcomes. After baseline adjustment, its AR set includes zero.</a:t>
            </a:r>
          </a:p>
        </p:txBody>
      </p:sp>
    </p:spTree>
    <p:extLst>
      <p:ext uri="{BB962C8B-B14F-4D97-AF65-F5344CB8AC3E}">
        <p14:creationId xmlns:p14="http://schemas.microsoft.com/office/powerpoint/2010/main" val="120863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C60233D-91F1-4E53-8469-DFDE42F3D458}"/>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Interpreting the instrumental-variable estimates</a:t>
            </a:r>
          </a:p>
        </p:txBody>
      </p:sp>
      <p:sp>
        <p:nvSpPr>
          <p:cNvPr id="2" name="Rectangle 1">
            <a:extLst>
              <a:ext uri="{FF2B5EF4-FFF2-40B4-BE49-F238E27FC236}">
                <a16:creationId xmlns:a16="http://schemas.microsoft.com/office/drawing/2014/main" id="{E947756E-5C40-4CC7-BE1E-0AB2A40C9452}"/>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Z = lottery offer. D = private-school attendance at follow-up. Y = each policy outcome.</a:t>
            </a:r>
          </a:p>
        </p:txBody>
      </p:sp>
      <p:sp>
        <p:nvSpPr>
          <p:cNvPr id="3" name="Rectangle 2">
            <a:extLst>
              <a:ext uri="{FF2B5EF4-FFF2-40B4-BE49-F238E27FC236}">
                <a16:creationId xmlns:a16="http://schemas.microsoft.com/office/drawing/2014/main" id="{A1B45476-108A-4AC0-8DBA-2264F132D77D}"/>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13</a:t>
            </a:r>
          </a:p>
        </p:txBody>
      </p:sp>
      <p:sp>
        <p:nvSpPr>
          <p:cNvPr id="4" name="Rectangle 3">
            <a:extLst>
              <a:ext uri="{FF2B5EF4-FFF2-40B4-BE49-F238E27FC236}">
                <a16:creationId xmlns:a16="http://schemas.microsoft.com/office/drawing/2014/main" id="{0FE00CD2-A1EA-492A-A5A4-5605C2D5BCD3}"/>
              </a:ext>
            </a:extLst>
          </p:cNvPr>
          <p:cNvSpPr>
            <a:spLocks noGrp="1"/>
          </p:cNvSpPr>
          <p:nvPr/>
        </p:nvSpPr>
        <p:spPr>
          <a:xfrm>
            <a:off x="609600" y="1409700"/>
            <a:ext cx="3190875" cy="438150"/>
          </a:xfrm>
          <a:prstGeom prst="rect">
            <a:avLst/>
          </a:prstGeom>
          <a:noFill/>
          <a:ln w="0">
            <a:noFill/>
          </a:ln>
        </p:spPr>
        <p:txBody>
          <a:bodyPr anchor="ctr">
            <a:noAutofit/>
          </a:bodyPr>
          <a:lstStyle/>
          <a:p>
            <a:pPr>
              <a:defRPr sz="2175" b="1">
                <a:solidFill>
                  <a:srgbClr val="007E87"/>
                </a:solidFill>
                <a:latin typeface="Arial"/>
                <a:ea typeface="Arial"/>
                <a:cs typeface="Arial"/>
              </a:defRPr>
            </a:pPr>
            <a:r>
              <a:rPr sz="2175" b="1">
                <a:solidFill>
                  <a:srgbClr val="007E87"/>
                </a:solidFill>
                <a:latin typeface="Arial"/>
                <a:ea typeface="Arial"/>
                <a:cs typeface="Arial"/>
              </a:rPr>
              <a:t>Relevance</a:t>
            </a:r>
          </a:p>
        </p:txBody>
      </p:sp>
      <p:sp>
        <p:nvSpPr>
          <p:cNvPr id="5" name="Rectangle 4">
            <a:extLst>
              <a:ext uri="{FF2B5EF4-FFF2-40B4-BE49-F238E27FC236}">
                <a16:creationId xmlns:a16="http://schemas.microsoft.com/office/drawing/2014/main" id="{03A98FA0-3B66-496B-A27F-5298173736DB}"/>
              </a:ext>
            </a:extLst>
          </p:cNvPr>
          <p:cNvSpPr>
            <a:spLocks noGrp="1"/>
          </p:cNvSpPr>
          <p:nvPr/>
        </p:nvSpPr>
        <p:spPr>
          <a:xfrm>
            <a:off x="3952875" y="1409700"/>
            <a:ext cx="7620000" cy="819150"/>
          </a:xfrm>
          <a:prstGeom prst="rect">
            <a:avLst/>
          </a:prstGeom>
          <a:noFill/>
          <a:ln w="0">
            <a:noFill/>
          </a:ln>
        </p:spPr>
        <p:txBody>
          <a:bodyPr anchor="ctr">
            <a:noAutofit/>
          </a:bodyPr>
          <a:lstStyle/>
          <a:p>
            <a:pPr>
              <a:defRPr sz="2175" b="0">
                <a:solidFill>
                  <a:srgbClr val="122D45"/>
                </a:solidFill>
                <a:latin typeface="Arial"/>
                <a:ea typeface="Arial"/>
                <a:cs typeface="Arial"/>
              </a:defRPr>
            </a:pPr>
            <a:r>
              <a:rPr sz="2175" b="0">
                <a:solidFill>
                  <a:srgbClr val="122D45"/>
                </a:solidFill>
                <a:latin typeface="Arial"/>
                <a:ea typeface="Arial"/>
                <a:cs typeface="Arial"/>
              </a:rPr>
              <a:t>The offer changes private-school attendance. First-stage estimates assess how strongly it changes D.</a:t>
            </a:r>
          </a:p>
        </p:txBody>
      </p:sp>
      <p:sp>
        <p:nvSpPr>
          <p:cNvPr id="6" name="Rectangle 5">
            <a:extLst>
              <a:ext uri="{FF2B5EF4-FFF2-40B4-BE49-F238E27FC236}">
                <a16:creationId xmlns:a16="http://schemas.microsoft.com/office/drawing/2014/main" id="{69FE3FFF-2700-4B41-85F3-BEBF7780F6C3}"/>
              </a:ext>
            </a:extLst>
          </p:cNvPr>
          <p:cNvSpPr>
            <a:spLocks noGrp="1"/>
          </p:cNvSpPr>
          <p:nvPr/>
        </p:nvSpPr>
        <p:spPr>
          <a:xfrm>
            <a:off x="609600" y="2657475"/>
            <a:ext cx="3190875" cy="438150"/>
          </a:xfrm>
          <a:prstGeom prst="rect">
            <a:avLst/>
          </a:prstGeom>
          <a:noFill/>
          <a:ln w="0">
            <a:noFill/>
          </a:ln>
        </p:spPr>
        <p:txBody>
          <a:bodyPr anchor="ctr">
            <a:noAutofit/>
          </a:bodyPr>
          <a:lstStyle/>
          <a:p>
            <a:pPr>
              <a:defRPr sz="2175" b="1">
                <a:solidFill>
                  <a:srgbClr val="007E87"/>
                </a:solidFill>
                <a:latin typeface="Arial"/>
                <a:ea typeface="Arial"/>
                <a:cs typeface="Arial"/>
              </a:defRPr>
            </a:pPr>
            <a:r>
              <a:rPr sz="2175" b="1">
                <a:solidFill>
                  <a:srgbClr val="007E87"/>
                </a:solidFill>
                <a:latin typeface="Arial"/>
                <a:ea typeface="Arial"/>
                <a:cs typeface="Arial"/>
              </a:rPr>
              <a:t>Exclusion</a:t>
            </a:r>
          </a:p>
        </p:txBody>
      </p:sp>
      <p:sp>
        <p:nvSpPr>
          <p:cNvPr id="7" name="Rectangle 6">
            <a:extLst>
              <a:ext uri="{FF2B5EF4-FFF2-40B4-BE49-F238E27FC236}">
                <a16:creationId xmlns:a16="http://schemas.microsoft.com/office/drawing/2014/main" id="{23FDFEB5-33F5-42E5-B170-A6FA84402E5C}"/>
              </a:ext>
            </a:extLst>
          </p:cNvPr>
          <p:cNvSpPr>
            <a:spLocks noGrp="1"/>
          </p:cNvSpPr>
          <p:nvPr/>
        </p:nvSpPr>
        <p:spPr>
          <a:xfrm>
            <a:off x="3952875" y="2657475"/>
            <a:ext cx="7620000" cy="1209675"/>
          </a:xfrm>
          <a:prstGeom prst="rect">
            <a:avLst/>
          </a:prstGeom>
          <a:noFill/>
          <a:ln w="0">
            <a:noFill/>
          </a:ln>
        </p:spPr>
        <p:txBody>
          <a:bodyPr anchor="ctr">
            <a:noAutofit/>
          </a:bodyPr>
          <a:lstStyle/>
          <a:p>
            <a:pPr>
              <a:defRPr sz="2175" b="0">
                <a:solidFill>
                  <a:srgbClr val="122D45"/>
                </a:solidFill>
                <a:latin typeface="Arial"/>
                <a:ea typeface="Arial"/>
                <a:cs typeface="Arial"/>
              </a:defRPr>
            </a:pPr>
            <a:r>
              <a:rPr sz="2175" b="0">
                <a:solidFill>
                  <a:srgbClr val="122D45"/>
                </a:solidFill>
                <a:latin typeface="Arial"/>
                <a:ea typeface="Arial"/>
                <a:cs typeface="Arial"/>
              </a:rPr>
              <a:t>Aid can change household resources and school history beyond current attendance. This threatens interpretation as an effect of private schooling alone.</a:t>
            </a:r>
          </a:p>
        </p:txBody>
      </p:sp>
      <p:sp>
        <p:nvSpPr>
          <p:cNvPr id="8" name="Rectangle 7">
            <a:extLst>
              <a:ext uri="{FF2B5EF4-FFF2-40B4-BE49-F238E27FC236}">
                <a16:creationId xmlns:a16="http://schemas.microsoft.com/office/drawing/2014/main" id="{AE8CF6F0-EF54-410B-B9AB-6B90127D4AD5}"/>
              </a:ext>
            </a:extLst>
          </p:cNvPr>
          <p:cNvSpPr>
            <a:spLocks noGrp="1"/>
          </p:cNvSpPr>
          <p:nvPr/>
        </p:nvSpPr>
        <p:spPr>
          <a:xfrm>
            <a:off x="609600" y="4295775"/>
            <a:ext cx="3190875" cy="438150"/>
          </a:xfrm>
          <a:prstGeom prst="rect">
            <a:avLst/>
          </a:prstGeom>
          <a:noFill/>
          <a:ln w="0">
            <a:noFill/>
          </a:ln>
        </p:spPr>
        <p:txBody>
          <a:bodyPr anchor="ctr">
            <a:noAutofit/>
          </a:bodyPr>
          <a:lstStyle/>
          <a:p>
            <a:pPr>
              <a:defRPr sz="2175" b="1">
                <a:solidFill>
                  <a:srgbClr val="007E87"/>
                </a:solidFill>
                <a:latin typeface="Arial"/>
                <a:ea typeface="Arial"/>
                <a:cs typeface="Arial"/>
              </a:defRPr>
            </a:pPr>
            <a:r>
              <a:rPr sz="2175" b="1">
                <a:solidFill>
                  <a:srgbClr val="007E87"/>
                </a:solidFill>
                <a:latin typeface="Arial"/>
                <a:ea typeface="Arial"/>
                <a:cs typeface="Arial"/>
              </a:rPr>
              <a:t>Monotonicity</a:t>
            </a:r>
          </a:p>
        </p:txBody>
      </p:sp>
      <p:sp>
        <p:nvSpPr>
          <p:cNvPr id="9" name="Rectangle 8">
            <a:extLst>
              <a:ext uri="{FF2B5EF4-FFF2-40B4-BE49-F238E27FC236}">
                <a16:creationId xmlns:a16="http://schemas.microsoft.com/office/drawing/2014/main" id="{C3DC2735-EDB2-4BA1-BA49-736950B46066}"/>
              </a:ext>
            </a:extLst>
          </p:cNvPr>
          <p:cNvSpPr>
            <a:spLocks noGrp="1"/>
          </p:cNvSpPr>
          <p:nvPr/>
        </p:nvSpPr>
        <p:spPr>
          <a:xfrm>
            <a:off x="3952875" y="4295775"/>
            <a:ext cx="7620000" cy="1114425"/>
          </a:xfrm>
          <a:prstGeom prst="rect">
            <a:avLst/>
          </a:prstGeom>
          <a:noFill/>
          <a:ln w="0">
            <a:noFill/>
          </a:ln>
        </p:spPr>
        <p:txBody>
          <a:bodyPr anchor="ctr">
            <a:noAutofit/>
          </a:bodyPr>
          <a:lstStyle/>
          <a:p>
            <a:pPr>
              <a:defRPr sz="2175" b="0">
                <a:solidFill>
                  <a:srgbClr val="122D45"/>
                </a:solidFill>
                <a:latin typeface="Arial"/>
                <a:ea typeface="Arial"/>
                <a:cs typeface="Arial"/>
              </a:defRPr>
            </a:pPr>
            <a:r>
              <a:rPr sz="2175" b="0">
                <a:solidFill>
                  <a:srgbClr val="122D45"/>
                </a:solidFill>
                <a:latin typeface="Arial"/>
                <a:ea typeface="Arial"/>
                <a:cs typeface="Arial"/>
              </a:rPr>
              <a:t>No applicant would attend private school without an offer but avoid it because of the offer. Observed exits cannot verify this.</a:t>
            </a:r>
          </a:p>
        </p:txBody>
      </p:sp>
      <p:sp>
        <p:nvSpPr>
          <p:cNvPr id="10" name="Rectangle 9">
            <a:extLst>
              <a:ext uri="{FF2B5EF4-FFF2-40B4-BE49-F238E27FC236}">
                <a16:creationId xmlns:a16="http://schemas.microsoft.com/office/drawing/2014/main" id="{9498309D-3B71-4749-97B8-07D367CDD3AD}"/>
              </a:ext>
            </a:extLst>
          </p:cNvPr>
          <p:cNvSpPr>
            <a:spLocks noGrp="1"/>
          </p:cNvSpPr>
          <p:nvPr/>
        </p:nvSpPr>
        <p:spPr>
          <a:xfrm>
            <a:off x="609600" y="5695950"/>
            <a:ext cx="10972800" cy="457200"/>
          </a:xfrm>
          <a:prstGeom prst="rect">
            <a:avLst/>
          </a:prstGeom>
          <a:noFill/>
          <a:ln w="0">
            <a:noFill/>
          </a:ln>
        </p:spPr>
        <p:txBody>
          <a:bodyPr anchor="ctr">
            <a:noAutofit/>
          </a:bodyPr>
          <a:lstStyle/>
          <a:p>
            <a:pPr>
              <a:defRPr sz="1725" b="1">
                <a:solidFill>
                  <a:srgbClr val="A56218"/>
                </a:solidFill>
                <a:latin typeface="Arial"/>
                <a:ea typeface="Arial"/>
                <a:cs typeface="Arial"/>
              </a:defRPr>
            </a:pPr>
            <a:r>
              <a:rPr sz="1725" b="1">
                <a:solidFill>
                  <a:srgbClr val="A56218"/>
                </a:solidFill>
                <a:latin typeface="Arial"/>
                <a:ea typeface="Arial"/>
                <a:cs typeface="Arial"/>
              </a:rPr>
              <a:t>Under these assumptions, IV estimates a local effect for attendance compliers. A strong first stage alone cannot establish causality.</a:t>
            </a:r>
          </a:p>
        </p:txBody>
      </p:sp>
    </p:spTree>
    <p:extLst>
      <p:ext uri="{BB962C8B-B14F-4D97-AF65-F5344CB8AC3E}">
        <p14:creationId xmlns:p14="http://schemas.microsoft.com/office/powerpoint/2010/main" val="711717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C01B3F-01A7-4DFC-A2DA-2AC04CFD4ED8}"/>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Separate checks in A2022 and B2018</a:t>
            </a:r>
          </a:p>
        </p:txBody>
      </p:sp>
      <p:sp>
        <p:nvSpPr>
          <p:cNvPr id="2" name="Rectangle 1">
            <a:extLst>
              <a:ext uri="{FF2B5EF4-FFF2-40B4-BE49-F238E27FC236}">
                <a16:creationId xmlns:a16="http://schemas.microsoft.com/office/drawing/2014/main" id="{82F739A6-D9E3-4C0C-B11E-3C10042E9FB0}"/>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Each cell: effect (raw HC2/t p-value), then 95% interval. Binary effects use percentage points.</a:t>
            </a:r>
          </a:p>
        </p:txBody>
      </p:sp>
      <p:sp>
        <p:nvSpPr>
          <p:cNvPr id="3" name="Rectangle 2">
            <a:extLst>
              <a:ext uri="{FF2B5EF4-FFF2-40B4-BE49-F238E27FC236}">
                <a16:creationId xmlns:a16="http://schemas.microsoft.com/office/drawing/2014/main" id="{741BC655-887B-4704-AB2F-FCC0A454F0CA}"/>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14</a:t>
            </a:r>
          </a:p>
        </p:txBody>
      </p:sp>
      <p:sp>
        <p:nvSpPr>
          <p:cNvPr id="4" name="Rectangle 3">
            <a:extLst>
              <a:ext uri="{FF2B5EF4-FFF2-40B4-BE49-F238E27FC236}">
                <a16:creationId xmlns:a16="http://schemas.microsoft.com/office/drawing/2014/main" id="{6E4D9A39-B4CF-464D-A5FA-30BB4FB9D5E8}"/>
              </a:ext>
            </a:extLst>
          </p:cNvPr>
          <p:cNvSpPr>
            <a:spLocks noGrp="1"/>
          </p:cNvSpPr>
          <p:nvPr/>
        </p:nvSpPr>
        <p:spPr>
          <a:xfrm>
            <a:off x="609600" y="1323975"/>
            <a:ext cx="10972800" cy="447675"/>
          </a:xfrm>
          <a:prstGeom prst="rect">
            <a:avLst/>
          </a:prstGeom>
          <a:noFill/>
          <a:ln w="0">
            <a:noFill/>
          </a:ln>
        </p:spPr>
        <p:txBody>
          <a:bodyPr anchor="ctr">
            <a:noAutofit/>
          </a:bodyPr>
          <a:lstStyle/>
          <a:p>
            <a:pPr>
              <a:defRPr sz="1800" b="0">
                <a:solidFill>
                  <a:srgbClr val="007E87"/>
                </a:solidFill>
                <a:latin typeface="Arial"/>
                <a:ea typeface="Arial"/>
                <a:cs typeface="Arial"/>
              </a:defRPr>
            </a:pPr>
            <a:r>
              <a:rPr sz="1800" b="0">
                <a:solidFill>
                  <a:srgbClr val="007E87"/>
                </a:solidFill>
                <a:latin typeface="Arial"/>
                <a:ea typeface="Arial"/>
                <a:cs typeface="Arial"/>
              </a:rPr>
              <a:t>Y = α(c) + τ(c)Z + ε, estimated separately within each cohort c.</a:t>
            </a:r>
          </a:p>
        </p:txBody>
      </p:sp>
      <p:graphicFrame>
        <p:nvGraphicFramePr>
          <p:cNvPr id="11" name="Table 10"/>
          <p:cNvGraphicFramePr/>
          <p:nvPr/>
        </p:nvGraphicFramePr>
        <p:xfrm>
          <a:off x="609600" y="1857375"/>
          <a:ext cx="10972800" cy="3486150"/>
        </p:xfrm>
        <a:graphic>
          <a:graphicData uri="http://schemas.openxmlformats.org/drawingml/2006/table">
            <a:tbl>
              <a:tblPr/>
              <a:tblGrid>
                <a:gridCol w="2905125">
                  <a:extLst>
                    <a:ext uri="{9D8B030D-6E8A-4147-A177-3AD203B41FA5}">
                      <a16:colId xmlns:a16="http://schemas.microsoft.com/office/drawing/2014/main" val="20000"/>
                    </a:ext>
                  </a:extLst>
                </a:gridCol>
                <a:gridCol w="2686050">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gridCol w="2695575">
                  <a:extLst>
                    <a:ext uri="{9D8B030D-6E8A-4147-A177-3AD203B41FA5}">
                      <a16:colId xmlns:a16="http://schemas.microsoft.com/office/drawing/2014/main" val="20003"/>
                    </a:ext>
                  </a:extLst>
                </a:gridCol>
              </a:tblGrid>
              <a:tr h="581025">
                <a:tc>
                  <a:txBody>
                    <a:bodyPr/>
                    <a:lstStyle/>
                    <a:p>
                      <a:r>
                        <a:rPr sz="1575" b="1">
                          <a:solidFill>
                            <a:srgbClr val="FFFFFF"/>
                          </a:solidFill>
                          <a:latin typeface="Arial"/>
                          <a:ea typeface="Arial"/>
                          <a:cs typeface="Arial"/>
                        </a:rPr>
                        <a:t>Outcome</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A2020 primary</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A2022 check</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B2018 check</a:t>
                      </a:r>
                    </a:p>
                  </a:txBody>
                  <a:tcPr marL="133350" marR="114300" marT="9525" marB="9525" anchor="ctr">
                    <a:solidFill>
                      <a:srgbClr val="122D45"/>
                    </a:solidFill>
                  </a:tcPr>
                </a:tc>
                <a:extLst>
                  <a:ext uri="{0D108BD9-81ED-4DB2-BD59-A6C34878D82A}">
                    <a16:rowId xmlns:a16="http://schemas.microsoft.com/office/drawing/2014/main" val="10000"/>
                  </a:ext>
                </a:extLst>
              </a:tr>
              <a:tr h="581025">
                <a:tc>
                  <a:txBody>
                    <a:bodyPr/>
                    <a:lstStyle/>
                    <a:p>
                      <a:r>
                        <a:rPr sz="1575">
                          <a:solidFill>
                            <a:srgbClr val="122D45"/>
                          </a:solidFill>
                          <a:latin typeface="Arial"/>
                          <a:ea typeface="Arial"/>
                          <a:cs typeface="Arial"/>
                        </a:rPr>
                        <a:t>School years completed</a:t>
                      </a:r>
                    </a:p>
                  </a:txBody>
                  <a:tcPr marL="133350" marR="114300" marT="9525" marB="9525" anchor="ctr">
                    <a:solidFill>
                      <a:srgbClr val="FFFFFF"/>
                    </a:solidFill>
                  </a:tcPr>
                </a:tc>
                <a:tc>
                  <a:txBody>
                    <a:bodyPr/>
                    <a:lstStyle/>
                    <a:p>
                      <a:r>
                        <a:rPr sz="1575">
                          <a:solidFill>
                            <a:srgbClr val="122D45"/>
                          </a:solidFill>
                          <a:latin typeface="Arial"/>
                          <a:ea typeface="Arial"/>
                          <a:cs typeface="Arial"/>
                        </a:rPr>
                        <a:t>+0.093 (p=0.089)</a:t>
                      </a:r>
                    </a:p>
                    <a:p>
                      <a:r>
                        <a:rPr sz="1575">
                          <a:solidFill>
                            <a:srgbClr val="122D45"/>
                          </a:solidFill>
                          <a:latin typeface="Arial"/>
                          <a:ea typeface="Arial"/>
                          <a:cs typeface="Arial"/>
                        </a:rPr>
                        <a:t>[−0.014, 0.200]</a:t>
                      </a:r>
                    </a:p>
                  </a:txBody>
                  <a:tcPr marL="133350" marR="114300" marT="9525" marB="9525" anchor="ctr">
                    <a:solidFill>
                      <a:srgbClr val="FFFFFF"/>
                    </a:solidFill>
                  </a:tcPr>
                </a:tc>
                <a:tc>
                  <a:txBody>
                    <a:bodyPr/>
                    <a:lstStyle/>
                    <a:p>
                      <a:r>
                        <a:rPr sz="1575">
                          <a:solidFill>
                            <a:srgbClr val="122D45"/>
                          </a:solidFill>
                          <a:latin typeface="Arial"/>
                          <a:ea typeface="Arial"/>
                          <a:cs typeface="Arial"/>
                        </a:rPr>
                        <a:t>+0.029 (p=0.596)</a:t>
                      </a:r>
                    </a:p>
                    <a:p>
                      <a:r>
                        <a:rPr sz="1575">
                          <a:solidFill>
                            <a:srgbClr val="122D45"/>
                          </a:solidFill>
                          <a:latin typeface="Arial"/>
                          <a:ea typeface="Arial"/>
                          <a:cs typeface="Arial"/>
                        </a:rPr>
                        <a:t>[−0.078, 0.136]</a:t>
                      </a:r>
                    </a:p>
                  </a:txBody>
                  <a:tcPr marL="133350" marR="114300" marT="9525" marB="9525" anchor="ctr">
                    <a:solidFill>
                      <a:srgbClr val="FFFFFF"/>
                    </a:solidFill>
                  </a:tcPr>
                </a:tc>
                <a:tc>
                  <a:txBody>
                    <a:bodyPr/>
                    <a:lstStyle/>
                    <a:p>
                      <a:r>
                        <a:rPr sz="1575">
                          <a:solidFill>
                            <a:srgbClr val="122D45"/>
                          </a:solidFill>
                          <a:latin typeface="Arial"/>
                          <a:ea typeface="Arial"/>
                          <a:cs typeface="Arial"/>
                        </a:rPr>
                        <a:t>+0.071 (p=0.756)</a:t>
                      </a:r>
                    </a:p>
                    <a:p>
                      <a:r>
                        <a:rPr sz="1575">
                          <a:solidFill>
                            <a:srgbClr val="122D45"/>
                          </a:solidFill>
                          <a:latin typeface="Arial"/>
                          <a:ea typeface="Arial"/>
                          <a:cs typeface="Arial"/>
                        </a:rPr>
                        <a:t>[−0.381, 0.524]</a:t>
                      </a:r>
                    </a:p>
                  </a:txBody>
                  <a:tcPr marL="133350" marR="114300" marT="9525" marB="9525" anchor="ctr">
                    <a:solidFill>
                      <a:srgbClr val="FFFFFF"/>
                    </a:solidFill>
                  </a:tcPr>
                </a:tc>
                <a:extLst>
                  <a:ext uri="{0D108BD9-81ED-4DB2-BD59-A6C34878D82A}">
                    <a16:rowId xmlns:a16="http://schemas.microsoft.com/office/drawing/2014/main" val="10001"/>
                  </a:ext>
                </a:extLst>
              </a:tr>
              <a:tr h="581025">
                <a:tc>
                  <a:txBody>
                    <a:bodyPr/>
                    <a:lstStyle/>
                    <a:p>
                      <a:r>
                        <a:rPr sz="1575">
                          <a:solidFill>
                            <a:srgbClr val="122D45"/>
                          </a:solidFill>
                          <a:latin typeface="Arial"/>
                          <a:ea typeface="Arial"/>
                          <a:cs typeface="Arial"/>
                        </a:rPr>
                        <a:t>Married or cohabiting</a:t>
                      </a:r>
                    </a:p>
                  </a:txBody>
                  <a:tcPr marL="133350" marR="114300" marT="9525" marB="9525" anchor="ctr">
                    <a:solidFill>
                      <a:srgbClr val="F0F4F6"/>
                    </a:solidFill>
                  </a:tcPr>
                </a:tc>
                <a:tc>
                  <a:txBody>
                    <a:bodyPr/>
                    <a:lstStyle/>
                    <a:p>
                      <a:r>
                        <a:rPr sz="1575">
                          <a:solidFill>
                            <a:srgbClr val="122D45"/>
                          </a:solidFill>
                          <a:latin typeface="Arial"/>
                          <a:ea typeface="Arial"/>
                          <a:cs typeface="Arial"/>
                        </a:rPr>
                        <a:t>−0.9 (p=0.181)</a:t>
                      </a:r>
                    </a:p>
                    <a:p>
                      <a:r>
                        <a:rPr sz="1575">
                          <a:solidFill>
                            <a:srgbClr val="122D45"/>
                          </a:solidFill>
                          <a:latin typeface="Arial"/>
                          <a:ea typeface="Arial"/>
                          <a:cs typeface="Arial"/>
                        </a:rPr>
                        <a:t>[−2.2, 0.4]</a:t>
                      </a:r>
                    </a:p>
                  </a:txBody>
                  <a:tcPr marL="133350" marR="114300" marT="9525" marB="9525" anchor="ctr">
                    <a:solidFill>
                      <a:srgbClr val="F0F4F6"/>
                    </a:solidFill>
                  </a:tcPr>
                </a:tc>
                <a:tc>
                  <a:txBody>
                    <a:bodyPr/>
                    <a:lstStyle/>
                    <a:p>
                      <a:r>
                        <a:rPr sz="1575">
                          <a:solidFill>
                            <a:srgbClr val="122D45"/>
                          </a:solidFill>
                          <a:latin typeface="Arial"/>
                          <a:ea typeface="Arial"/>
                          <a:cs typeface="Arial"/>
                        </a:rPr>
                        <a:t>0 observed events</a:t>
                      </a:r>
                    </a:p>
                    <a:p>
                      <a:r>
                        <a:rPr sz="1575">
                          <a:solidFill>
                            <a:srgbClr val="122D45"/>
                          </a:solidFill>
                          <a:latin typeface="Arial"/>
                          <a:ea typeface="Arial"/>
                          <a:cs typeface="Arial"/>
                        </a:rPr>
                        <a:t>p not reported</a:t>
                      </a:r>
                    </a:p>
                  </a:txBody>
                  <a:tcPr marL="133350" marR="114300" marT="9525" marB="9525" anchor="ctr">
                    <a:solidFill>
                      <a:srgbClr val="F0F4F6"/>
                    </a:solidFill>
                  </a:tcPr>
                </a:tc>
                <a:tc>
                  <a:txBody>
                    <a:bodyPr/>
                    <a:lstStyle/>
                    <a:p>
                      <a:r>
                        <a:rPr sz="1575">
                          <a:solidFill>
                            <a:srgbClr val="122D45"/>
                          </a:solidFill>
                          <a:latin typeface="Arial"/>
                          <a:ea typeface="Arial"/>
                          <a:cs typeface="Arial"/>
                        </a:rPr>
                        <a:t>−3.2 (p=0.302)</a:t>
                      </a:r>
                    </a:p>
                    <a:p>
                      <a:r>
                        <a:rPr sz="1575">
                          <a:solidFill>
                            <a:srgbClr val="122D45"/>
                          </a:solidFill>
                          <a:latin typeface="Arial"/>
                          <a:ea typeface="Arial"/>
                          <a:cs typeface="Arial"/>
                        </a:rPr>
                        <a:t>[−9.3, 2.9]</a:t>
                      </a:r>
                    </a:p>
                  </a:txBody>
                  <a:tcPr marL="133350" marR="114300" marT="9525" marB="9525" anchor="ctr">
                    <a:solidFill>
                      <a:srgbClr val="F0F4F6"/>
                    </a:solidFill>
                  </a:tcPr>
                </a:tc>
                <a:extLst>
                  <a:ext uri="{0D108BD9-81ED-4DB2-BD59-A6C34878D82A}">
                    <a16:rowId xmlns:a16="http://schemas.microsoft.com/office/drawing/2014/main" val="10002"/>
                  </a:ext>
                </a:extLst>
              </a:tr>
              <a:tr h="581025">
                <a:tc>
                  <a:txBody>
                    <a:bodyPr/>
                    <a:lstStyle/>
                    <a:p>
                      <a:r>
                        <a:rPr sz="1575">
                          <a:solidFill>
                            <a:srgbClr val="122D45"/>
                          </a:solidFill>
                          <a:latin typeface="Arial"/>
                          <a:ea typeface="Arial"/>
                          <a:cs typeface="Arial"/>
                        </a:rPr>
                        <a:t>Has a child</a:t>
                      </a:r>
                    </a:p>
                  </a:txBody>
                  <a:tcPr marL="133350" marR="114300" marT="9525" marB="9525" anchor="ctr">
                    <a:solidFill>
                      <a:srgbClr val="FFFFFF"/>
                    </a:solidFill>
                  </a:tcPr>
                </a:tc>
                <a:tc>
                  <a:txBody>
                    <a:bodyPr/>
                    <a:lstStyle/>
                    <a:p>
                      <a:r>
                        <a:rPr sz="1575">
                          <a:solidFill>
                            <a:srgbClr val="122D45"/>
                          </a:solidFill>
                          <a:latin typeface="Arial"/>
                          <a:ea typeface="Arial"/>
                          <a:cs typeface="Arial"/>
                        </a:rPr>
                        <a:t>−1.3 (p=0.206)</a:t>
                      </a:r>
                    </a:p>
                    <a:p>
                      <a:r>
                        <a:rPr sz="1575">
                          <a:solidFill>
                            <a:srgbClr val="122D45"/>
                          </a:solidFill>
                          <a:latin typeface="Arial"/>
                          <a:ea typeface="Arial"/>
                          <a:cs typeface="Arial"/>
                        </a:rPr>
                        <a:t>[−3.2, 0.7]</a:t>
                      </a:r>
                    </a:p>
                  </a:txBody>
                  <a:tcPr marL="133350" marR="114300" marT="9525" marB="9525" anchor="ctr">
                    <a:solidFill>
                      <a:srgbClr val="FFFFFF"/>
                    </a:solidFill>
                  </a:tcPr>
                </a:tc>
                <a:tc>
                  <a:txBody>
                    <a:bodyPr/>
                    <a:lstStyle/>
                    <a:p>
                      <a:r>
                        <a:rPr sz="1575">
                          <a:solidFill>
                            <a:srgbClr val="122D45"/>
                          </a:solidFill>
                          <a:latin typeface="Arial"/>
                          <a:ea typeface="Arial"/>
                          <a:cs typeface="Arial"/>
                        </a:rPr>
                        <a:t>0 observed events</a:t>
                      </a:r>
                    </a:p>
                    <a:p>
                      <a:r>
                        <a:rPr sz="1575">
                          <a:solidFill>
                            <a:srgbClr val="122D45"/>
                          </a:solidFill>
                          <a:latin typeface="Arial"/>
                          <a:ea typeface="Arial"/>
                          <a:cs typeface="Arial"/>
                        </a:rPr>
                        <a:t>p not reported</a:t>
                      </a:r>
                    </a:p>
                  </a:txBody>
                  <a:tcPr marL="133350" marR="114300" marT="9525" marB="9525" anchor="ctr">
                    <a:solidFill>
                      <a:srgbClr val="FFFFFF"/>
                    </a:solidFill>
                  </a:tcPr>
                </a:tc>
                <a:tc>
                  <a:txBody>
                    <a:bodyPr/>
                    <a:lstStyle/>
                    <a:p>
                      <a:r>
                        <a:rPr sz="1575">
                          <a:solidFill>
                            <a:srgbClr val="122D45"/>
                          </a:solidFill>
                          <a:latin typeface="Arial"/>
                          <a:ea typeface="Arial"/>
                          <a:cs typeface="Arial"/>
                        </a:rPr>
                        <a:t>−1.0 (p=0.780)</a:t>
                      </a:r>
                    </a:p>
                    <a:p>
                      <a:r>
                        <a:rPr sz="1575">
                          <a:solidFill>
                            <a:srgbClr val="122D45"/>
                          </a:solidFill>
                          <a:latin typeface="Arial"/>
                          <a:ea typeface="Arial"/>
                          <a:cs typeface="Arial"/>
                        </a:rPr>
                        <a:t>[−7.7, 5.8]</a:t>
                      </a:r>
                    </a:p>
                  </a:txBody>
                  <a:tcPr marL="133350" marR="114300" marT="9525" marB="9525" anchor="ctr">
                    <a:solidFill>
                      <a:srgbClr val="FFFFFF"/>
                    </a:solidFill>
                  </a:tcPr>
                </a:tc>
                <a:extLst>
                  <a:ext uri="{0D108BD9-81ED-4DB2-BD59-A6C34878D82A}">
                    <a16:rowId xmlns:a16="http://schemas.microsoft.com/office/drawing/2014/main" val="10003"/>
                  </a:ext>
                </a:extLst>
              </a:tr>
              <a:tr h="581025">
                <a:tc>
                  <a:txBody>
                    <a:bodyPr/>
                    <a:lstStyle/>
                    <a:p>
                      <a:r>
                        <a:rPr sz="1575">
                          <a:solidFill>
                            <a:srgbClr val="122D45"/>
                          </a:solidFill>
                          <a:latin typeface="Arial"/>
                          <a:ea typeface="Arial"/>
                          <a:cs typeface="Arial"/>
                        </a:rPr>
                        <a:t>Doing paid work</a:t>
                      </a:r>
                    </a:p>
                  </a:txBody>
                  <a:tcPr marL="133350" marR="114300" marT="9525" marB="9525" anchor="ctr">
                    <a:solidFill>
                      <a:srgbClr val="F0F4F6"/>
                    </a:solidFill>
                  </a:tcPr>
                </a:tc>
                <a:tc>
                  <a:txBody>
                    <a:bodyPr/>
                    <a:lstStyle/>
                    <a:p>
                      <a:r>
                        <a:rPr sz="1575">
                          <a:solidFill>
                            <a:srgbClr val="122D45"/>
                          </a:solidFill>
                          <a:latin typeface="Arial"/>
                          <a:ea typeface="Arial"/>
                          <a:cs typeface="Arial"/>
                        </a:rPr>
                        <a:t>−4.1 (p=0.060)</a:t>
                      </a:r>
                    </a:p>
                    <a:p>
                      <a:r>
                        <a:rPr sz="1575">
                          <a:solidFill>
                            <a:srgbClr val="122D45"/>
                          </a:solidFill>
                          <a:latin typeface="Arial"/>
                          <a:ea typeface="Arial"/>
                          <a:cs typeface="Arial"/>
                        </a:rPr>
                        <a:t>[−8.4, 0.2]</a:t>
                      </a:r>
                    </a:p>
                  </a:txBody>
                  <a:tcPr marL="133350" marR="114300" marT="9525" marB="9525" anchor="ctr">
                    <a:solidFill>
                      <a:srgbClr val="F0F4F6"/>
                    </a:solidFill>
                  </a:tcPr>
                </a:tc>
                <a:tc>
                  <a:txBody>
                    <a:bodyPr/>
                    <a:lstStyle/>
                    <a:p>
                      <a:r>
                        <a:rPr sz="1575">
                          <a:solidFill>
                            <a:srgbClr val="122D45"/>
                          </a:solidFill>
                          <a:latin typeface="Arial"/>
                          <a:ea typeface="Arial"/>
                          <a:cs typeface="Arial"/>
                        </a:rPr>
                        <a:t>−2.5 (p=0.460)</a:t>
                      </a:r>
                    </a:p>
                    <a:p>
                      <a:r>
                        <a:rPr sz="1575">
                          <a:solidFill>
                            <a:srgbClr val="122D45"/>
                          </a:solidFill>
                          <a:latin typeface="Arial"/>
                          <a:ea typeface="Arial"/>
                          <a:cs typeface="Arial"/>
                        </a:rPr>
                        <a:t>[−9.0, 4.1]</a:t>
                      </a:r>
                    </a:p>
                  </a:txBody>
                  <a:tcPr marL="133350" marR="114300" marT="9525" marB="9525" anchor="ctr">
                    <a:solidFill>
                      <a:srgbClr val="F0F4F6"/>
                    </a:solidFill>
                  </a:tcPr>
                </a:tc>
                <a:tc>
                  <a:txBody>
                    <a:bodyPr/>
                    <a:lstStyle/>
                    <a:p>
                      <a:r>
                        <a:rPr sz="1575">
                          <a:solidFill>
                            <a:srgbClr val="122D45"/>
                          </a:solidFill>
                          <a:latin typeface="Arial"/>
                          <a:ea typeface="Arial"/>
                          <a:cs typeface="Arial"/>
                        </a:rPr>
                        <a:t>+0.1 (p=0.986)</a:t>
                      </a:r>
                    </a:p>
                    <a:p>
                      <a:r>
                        <a:rPr sz="1575">
                          <a:solidFill>
                            <a:srgbClr val="122D45"/>
                          </a:solidFill>
                          <a:latin typeface="Arial"/>
                          <a:ea typeface="Arial"/>
                          <a:cs typeface="Arial"/>
                        </a:rPr>
                        <a:t>[−13.3, 13.5]</a:t>
                      </a:r>
                    </a:p>
                  </a:txBody>
                  <a:tcPr marL="133350" marR="114300" marT="9525" marB="9525" anchor="ctr">
                    <a:solidFill>
                      <a:srgbClr val="F0F4F6"/>
                    </a:solidFill>
                  </a:tcPr>
                </a:tc>
                <a:extLst>
                  <a:ext uri="{0D108BD9-81ED-4DB2-BD59-A6C34878D82A}">
                    <a16:rowId xmlns:a16="http://schemas.microsoft.com/office/drawing/2014/main" val="10004"/>
                  </a:ext>
                </a:extLst>
              </a:tr>
              <a:tr h="581025">
                <a:tc>
                  <a:txBody>
                    <a:bodyPr/>
                    <a:lstStyle/>
                    <a:p>
                      <a:r>
                        <a:rPr sz="1575">
                          <a:solidFill>
                            <a:srgbClr val="122D45"/>
                          </a:solidFill>
                          <a:latin typeface="Arial"/>
                          <a:ea typeface="Arial"/>
                          <a:cs typeface="Arial"/>
                        </a:rPr>
                        <a:t>Weekly hours worked</a:t>
                      </a:r>
                    </a:p>
                  </a:txBody>
                  <a:tcPr marL="133350" marR="114300" marT="9525" marB="9525" anchor="ctr">
                    <a:solidFill>
                      <a:srgbClr val="FFFFFF"/>
                    </a:solidFill>
                  </a:tcPr>
                </a:tc>
                <a:tc>
                  <a:txBody>
                    <a:bodyPr/>
                    <a:lstStyle/>
                    <a:p>
                      <a:r>
                        <a:rPr sz="1575">
                          <a:solidFill>
                            <a:srgbClr val="122D45"/>
                          </a:solidFill>
                          <a:latin typeface="Arial"/>
                          <a:ea typeface="Arial"/>
                          <a:cs typeface="Arial"/>
                        </a:rPr>
                        <a:t>−1.46 (p=0.027)</a:t>
                      </a:r>
                    </a:p>
                    <a:p>
                      <a:r>
                        <a:rPr sz="1575">
                          <a:solidFill>
                            <a:srgbClr val="122D45"/>
                          </a:solidFill>
                          <a:latin typeface="Arial"/>
                          <a:ea typeface="Arial"/>
                          <a:cs typeface="Arial"/>
                        </a:rPr>
                        <a:t>[−2.76, −0.16]</a:t>
                      </a:r>
                    </a:p>
                  </a:txBody>
                  <a:tcPr marL="133350" marR="114300" marT="9525" marB="9525" anchor="ctr">
                    <a:solidFill>
                      <a:srgbClr val="FFFFFF"/>
                    </a:solidFill>
                  </a:tcPr>
                </a:tc>
                <a:tc>
                  <a:txBody>
                    <a:bodyPr/>
                    <a:lstStyle/>
                    <a:p>
                      <a:r>
                        <a:rPr sz="1575">
                          <a:solidFill>
                            <a:srgbClr val="122D45"/>
                          </a:solidFill>
                          <a:latin typeface="Arial"/>
                          <a:ea typeface="Arial"/>
                          <a:cs typeface="Arial"/>
                        </a:rPr>
                        <a:t>−0.21 (p=0.807)</a:t>
                      </a:r>
                    </a:p>
                    <a:p>
                      <a:r>
                        <a:rPr sz="1575">
                          <a:solidFill>
                            <a:srgbClr val="122D45"/>
                          </a:solidFill>
                          <a:latin typeface="Arial"/>
                          <a:ea typeface="Arial"/>
                          <a:cs typeface="Arial"/>
                        </a:rPr>
                        <a:t>[−1.86, 1.45]</a:t>
                      </a:r>
                    </a:p>
                  </a:txBody>
                  <a:tcPr marL="133350" marR="114300" marT="9525" marB="9525" anchor="ctr">
                    <a:solidFill>
                      <a:srgbClr val="FFFFFF"/>
                    </a:solidFill>
                  </a:tcPr>
                </a:tc>
                <a:tc>
                  <a:txBody>
                    <a:bodyPr/>
                    <a:lstStyle/>
                    <a:p>
                      <a:r>
                        <a:rPr sz="1575">
                          <a:solidFill>
                            <a:srgbClr val="122D45"/>
                          </a:solidFill>
                          <a:latin typeface="Arial"/>
                          <a:ea typeface="Arial"/>
                          <a:cs typeface="Arial"/>
                        </a:rPr>
                        <a:t>−0.41 (p=0.834)</a:t>
                      </a:r>
                    </a:p>
                    <a:p>
                      <a:r>
                        <a:rPr sz="1575">
                          <a:solidFill>
                            <a:srgbClr val="122D45"/>
                          </a:solidFill>
                          <a:latin typeface="Arial"/>
                          <a:ea typeface="Arial"/>
                          <a:cs typeface="Arial"/>
                        </a:rPr>
                        <a:t>[−4.28, 3.46]</a:t>
                      </a:r>
                    </a:p>
                  </a:txBody>
                  <a:tcPr marL="133350" marR="114300" marT="9525" marB="9525" anchor="ct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6A368D7-D73D-455E-A029-1C67CE52C053}"/>
              </a:ext>
            </a:extLst>
          </p:cNvPr>
          <p:cNvSpPr>
            <a:spLocks noGrp="1"/>
          </p:cNvSpPr>
          <p:nvPr/>
        </p:nvSpPr>
        <p:spPr>
          <a:xfrm>
            <a:off x="609600" y="5514975"/>
            <a:ext cx="10972800" cy="628650"/>
          </a:xfrm>
          <a:prstGeom prst="rect">
            <a:avLst/>
          </a:prstGeom>
          <a:noFill/>
          <a:ln w="0">
            <a:noFill/>
          </a:ln>
        </p:spPr>
        <p:txBody>
          <a:bodyPr anchor="ctr">
            <a:noAutofit/>
          </a:bodyPr>
          <a:lstStyle/>
          <a:p>
            <a:pPr>
              <a:defRPr sz="1875" b="1">
                <a:solidFill>
                  <a:srgbClr val="007E87"/>
                </a:solidFill>
                <a:latin typeface="Arial"/>
                <a:ea typeface="Arial"/>
                <a:cs typeface="Arial"/>
              </a:defRPr>
            </a:pPr>
            <a:r>
              <a:rPr sz="1875" b="1">
                <a:solidFill>
                  <a:srgbClr val="007E87"/>
                </a:solidFill>
                <a:latin typeface="Arial"/>
                <a:ea typeface="Arial"/>
                <a:cs typeface="Arial"/>
              </a:rPr>
              <a:t>B2018 balance needs review (p = .015). Cohort comparisons mix elapsed time, application year and municipality.</a:t>
            </a:r>
          </a:p>
        </p:txBody>
      </p:sp>
    </p:spTree>
    <p:extLst>
      <p:ext uri="{BB962C8B-B14F-4D97-AF65-F5344CB8AC3E}">
        <p14:creationId xmlns:p14="http://schemas.microsoft.com/office/powerpoint/2010/main" val="1759621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F28435-5136-4009-8DC5-0099E8D3FB26}"/>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Policy interpretation</a:t>
            </a:r>
          </a:p>
        </p:txBody>
      </p:sp>
      <p:sp>
        <p:nvSpPr>
          <p:cNvPr id="2" name="Rectangle 1">
            <a:extLst>
              <a:ext uri="{FF2B5EF4-FFF2-40B4-BE49-F238E27FC236}">
                <a16:creationId xmlns:a16="http://schemas.microsoft.com/office/drawing/2014/main" id="{087F0570-1373-44FE-A1CB-CEDFEAF0E32A}"/>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Source: supplied study data. Lottery-offer effects in A2020. 95% confidence intervals.</a:t>
            </a:r>
          </a:p>
        </p:txBody>
      </p:sp>
      <p:sp>
        <p:nvSpPr>
          <p:cNvPr id="3" name="Rectangle 2">
            <a:extLst>
              <a:ext uri="{FF2B5EF4-FFF2-40B4-BE49-F238E27FC236}">
                <a16:creationId xmlns:a16="http://schemas.microsoft.com/office/drawing/2014/main" id="{F6A1C6BD-F9C2-478D-8575-726CE2BAA5F8}"/>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15</a:t>
            </a:r>
          </a:p>
        </p:txBody>
      </p:sp>
      <p:sp>
        <p:nvSpPr>
          <p:cNvPr id="4" name="Rectangle 3">
            <a:extLst>
              <a:ext uri="{FF2B5EF4-FFF2-40B4-BE49-F238E27FC236}">
                <a16:creationId xmlns:a16="http://schemas.microsoft.com/office/drawing/2014/main" id="{ABE5039F-52B2-4C50-8326-3676969F6632}"/>
              </a:ext>
            </a:extLst>
          </p:cNvPr>
          <p:cNvSpPr>
            <a:spLocks noGrp="1"/>
          </p:cNvSpPr>
          <p:nvPr/>
        </p:nvSpPr>
        <p:spPr>
          <a:xfrm>
            <a:off x="609600" y="1419225"/>
            <a:ext cx="10972800" cy="514350"/>
          </a:xfrm>
          <a:prstGeom prst="rect">
            <a:avLst/>
          </a:prstGeom>
          <a:noFill/>
          <a:ln w="0">
            <a:noFill/>
          </a:ln>
        </p:spPr>
        <p:txBody>
          <a:bodyPr anchor="ctr">
            <a:noAutofit/>
          </a:bodyPr>
          <a:lstStyle/>
          <a:p>
            <a:pPr>
              <a:defRPr sz="2325" b="1">
                <a:solidFill>
                  <a:srgbClr val="007E87"/>
                </a:solidFill>
                <a:latin typeface="Arial"/>
                <a:ea typeface="Arial"/>
                <a:cs typeface="Arial"/>
              </a:defRPr>
            </a:pPr>
            <a:r>
              <a:rPr sz="2325" b="1">
                <a:solidFill>
                  <a:srgbClr val="007E87"/>
                </a:solidFill>
                <a:latin typeface="Arial"/>
                <a:ea typeface="Arial"/>
                <a:cs typeface="Arial"/>
              </a:rPr>
              <a:t>Broader outcomes remain uncertain</a:t>
            </a:r>
          </a:p>
        </p:txBody>
      </p:sp>
      <p:sp>
        <p:nvSpPr>
          <p:cNvPr id="5" name="Rectangle 4">
            <a:extLst>
              <a:ext uri="{FF2B5EF4-FFF2-40B4-BE49-F238E27FC236}">
                <a16:creationId xmlns:a16="http://schemas.microsoft.com/office/drawing/2014/main" id="{D7CAA7E7-8BE5-4800-9D55-A2A134900042}"/>
              </a:ext>
            </a:extLst>
          </p:cNvPr>
          <p:cNvSpPr>
            <a:spLocks noGrp="1"/>
          </p:cNvSpPr>
          <p:nvPr/>
        </p:nvSpPr>
        <p:spPr>
          <a:xfrm>
            <a:off x="609600" y="2038350"/>
            <a:ext cx="10972800" cy="933450"/>
          </a:xfrm>
          <a:prstGeom prst="rect">
            <a:avLst/>
          </a:prstGeom>
          <a:noFill/>
          <a:ln w="0">
            <a:noFill/>
          </a:ln>
        </p:spPr>
        <p:txBody>
          <a:bodyPr anchor="ctr">
            <a:noAutofit/>
          </a:bodyPr>
          <a:lstStyle/>
          <a:p>
            <a:pPr>
              <a:defRPr sz="2325" b="0">
                <a:solidFill>
                  <a:srgbClr val="122D45"/>
                </a:solidFill>
                <a:latin typeface="Arial"/>
                <a:ea typeface="Arial"/>
                <a:cs typeface="Arial"/>
              </a:defRPr>
            </a:pPr>
            <a:r>
              <a:rPr sz="2325" b="0">
                <a:solidFill>
                  <a:srgbClr val="122D45"/>
                </a:solidFill>
                <a:latin typeface="Arial"/>
                <a:ea typeface="Arial"/>
                <a:cs typeface="Arial"/>
              </a:rPr>
              <a:t>A2020 estimates suggest more school years and less paid work. None of the five policy outcomes clears the multiple-testing correction.</a:t>
            </a:r>
          </a:p>
        </p:txBody>
      </p:sp>
      <p:sp>
        <p:nvSpPr>
          <p:cNvPr id="6" name="Rectangle 5">
            <a:extLst>
              <a:ext uri="{FF2B5EF4-FFF2-40B4-BE49-F238E27FC236}">
                <a16:creationId xmlns:a16="http://schemas.microsoft.com/office/drawing/2014/main" id="{11514F11-61A6-4104-A2EE-6A221A3C0951}"/>
              </a:ext>
            </a:extLst>
          </p:cNvPr>
          <p:cNvSpPr>
            <a:spLocks noGrp="1"/>
          </p:cNvSpPr>
          <p:nvPr/>
        </p:nvSpPr>
        <p:spPr>
          <a:xfrm>
            <a:off x="609600" y="3343275"/>
            <a:ext cx="10972800" cy="504825"/>
          </a:xfrm>
          <a:prstGeom prst="rect">
            <a:avLst/>
          </a:prstGeom>
          <a:noFill/>
          <a:ln w="0">
            <a:noFill/>
          </a:ln>
        </p:spPr>
        <p:txBody>
          <a:bodyPr anchor="ctr">
            <a:noAutofit/>
          </a:bodyPr>
          <a:lstStyle/>
          <a:p>
            <a:pPr>
              <a:defRPr sz="2325" b="1">
                <a:solidFill>
                  <a:srgbClr val="007E87"/>
                </a:solidFill>
                <a:latin typeface="Arial"/>
                <a:ea typeface="Arial"/>
                <a:cs typeface="Arial"/>
              </a:defRPr>
            </a:pPr>
            <a:r>
              <a:rPr sz="2325" b="1">
                <a:solidFill>
                  <a:srgbClr val="007E87"/>
                </a:solidFill>
                <a:latin typeface="Arial"/>
                <a:ea typeface="Arial"/>
                <a:cs typeface="Arial"/>
              </a:rPr>
              <a:t>The offer clearly changes school choice</a:t>
            </a:r>
          </a:p>
        </p:txBody>
      </p:sp>
      <p:sp>
        <p:nvSpPr>
          <p:cNvPr id="7" name="Rectangle 6">
            <a:extLst>
              <a:ext uri="{FF2B5EF4-FFF2-40B4-BE49-F238E27FC236}">
                <a16:creationId xmlns:a16="http://schemas.microsoft.com/office/drawing/2014/main" id="{55700330-2966-4C15-A680-265A6E64DBD3}"/>
              </a:ext>
            </a:extLst>
          </p:cNvPr>
          <p:cNvSpPr>
            <a:spLocks noGrp="1"/>
          </p:cNvSpPr>
          <p:nvPr/>
        </p:nvSpPr>
        <p:spPr>
          <a:xfrm>
            <a:off x="609600" y="3971925"/>
            <a:ext cx="10972800" cy="981075"/>
          </a:xfrm>
          <a:prstGeom prst="rect">
            <a:avLst/>
          </a:prstGeom>
          <a:noFill/>
          <a:ln w="0">
            <a:noFill/>
          </a:ln>
        </p:spPr>
        <p:txBody>
          <a:bodyPr anchor="ctr">
            <a:noAutofit/>
          </a:bodyPr>
          <a:lstStyle/>
          <a:p>
            <a:pPr>
              <a:defRPr sz="2325" b="0">
                <a:solidFill>
                  <a:srgbClr val="122D45"/>
                </a:solidFill>
                <a:latin typeface="Arial"/>
                <a:ea typeface="Arial"/>
                <a:cs typeface="Arial"/>
              </a:defRPr>
            </a:pPr>
            <a:r>
              <a:rPr sz="2325" b="0">
                <a:solidFill>
                  <a:srgbClr val="122D45"/>
                </a:solidFill>
                <a:latin typeface="Arial"/>
                <a:ea typeface="Arial"/>
                <a:cs typeface="Arial"/>
              </a:rPr>
              <a:t>Private attendance rises by 15.9 percentage points (p &lt; .001). This supports IV relevance. A causal private-school interpretation requires stronger assumptions.</a:t>
            </a:r>
          </a:p>
        </p:txBody>
      </p:sp>
      <p:sp>
        <p:nvSpPr>
          <p:cNvPr id="8" name="Rectangle 7">
            <a:extLst>
              <a:ext uri="{FF2B5EF4-FFF2-40B4-BE49-F238E27FC236}">
                <a16:creationId xmlns:a16="http://schemas.microsoft.com/office/drawing/2014/main" id="{FAA9E876-C96A-4E1F-9E8A-776A6311A6F1}"/>
              </a:ext>
            </a:extLst>
          </p:cNvPr>
          <p:cNvSpPr>
            <a:spLocks noGrp="1"/>
          </p:cNvSpPr>
          <p:nvPr/>
        </p:nvSpPr>
        <p:spPr>
          <a:xfrm>
            <a:off x="609600" y="5381625"/>
            <a:ext cx="10972800" cy="790575"/>
          </a:xfrm>
          <a:prstGeom prst="rect">
            <a:avLst/>
          </a:prstGeom>
          <a:noFill/>
          <a:ln w="0">
            <a:noFill/>
          </a:ln>
        </p:spPr>
        <p:txBody>
          <a:bodyPr anchor="ctr">
            <a:noAutofit/>
          </a:bodyPr>
          <a:lstStyle/>
          <a:p>
            <a:pPr>
              <a:defRPr sz="2025" b="0">
                <a:solidFill>
                  <a:srgbClr val="122D45"/>
                </a:solidFill>
                <a:latin typeface="Arial"/>
                <a:ea typeface="Arial"/>
                <a:cs typeface="Arial"/>
              </a:defRPr>
            </a:pPr>
            <a:r>
              <a:rPr sz="2025" b="0">
                <a:solidFill>
                  <a:srgbClr val="122D45"/>
                </a:solidFill>
                <a:latin typeface="Arial"/>
                <a:ea typeface="Arial"/>
                <a:cs typeface="Arial"/>
              </a:rPr>
              <a:t>Learning, earnings and program costs are needed to judge welfare. The lottery IV does not generally identify ATT for all private-school attenders.</a:t>
            </a:r>
          </a:p>
        </p:txBody>
      </p:sp>
    </p:spTree>
    <p:extLst>
      <p:ext uri="{BB962C8B-B14F-4D97-AF65-F5344CB8AC3E}">
        <p14:creationId xmlns:p14="http://schemas.microsoft.com/office/powerpoint/2010/main" val="939780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7E193B5-1D92-44AC-959E-A535607469D3}"/>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1: outcome definitions</a:t>
            </a:r>
          </a:p>
        </p:txBody>
      </p:sp>
      <p:sp>
        <p:nvSpPr>
          <p:cNvPr id="2" name="Rectangle 1">
            <a:extLst>
              <a:ext uri="{FF2B5EF4-FFF2-40B4-BE49-F238E27FC236}">
                <a16:creationId xmlns:a16="http://schemas.microsoft.com/office/drawing/2014/main" id="{2477C514-2504-40B6-852C-E9DBFC258057}"/>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Source: supplied dictionary. Missing counts refer to the 1,176 A2020 applicants.</a:t>
            </a:r>
          </a:p>
        </p:txBody>
      </p:sp>
      <p:sp>
        <p:nvSpPr>
          <p:cNvPr id="3" name="Rectangle 2">
            <a:extLst>
              <a:ext uri="{FF2B5EF4-FFF2-40B4-BE49-F238E27FC236}">
                <a16:creationId xmlns:a16="http://schemas.microsoft.com/office/drawing/2014/main" id="{B4E11996-7216-4F98-8EC2-7CB557AA0133}"/>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16</a:t>
            </a:r>
          </a:p>
        </p:txBody>
      </p:sp>
      <p:graphicFrame>
        <p:nvGraphicFramePr>
          <p:cNvPr id="9" name="Table 8"/>
          <p:cNvGraphicFramePr/>
          <p:nvPr/>
        </p:nvGraphicFramePr>
        <p:xfrm>
          <a:off x="609600" y="1485900"/>
          <a:ext cx="10972800" cy="3524250"/>
        </p:xfrm>
        <a:graphic>
          <a:graphicData uri="http://schemas.openxmlformats.org/drawingml/2006/table">
            <a:tbl>
              <a:tblPr/>
              <a:tblGrid>
                <a:gridCol w="3190875">
                  <a:extLst>
                    <a:ext uri="{9D8B030D-6E8A-4147-A177-3AD203B41FA5}">
                      <a16:colId xmlns:a16="http://schemas.microsoft.com/office/drawing/2014/main" val="20000"/>
                    </a:ext>
                  </a:extLst>
                </a:gridCol>
                <a:gridCol w="6143625">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587375">
                <a:tc>
                  <a:txBody>
                    <a:bodyPr/>
                    <a:lstStyle/>
                    <a:p>
                      <a:r>
                        <a:rPr sz="1800" b="1">
                          <a:solidFill>
                            <a:srgbClr val="FFFFFF"/>
                          </a:solidFill>
                          <a:latin typeface="Arial"/>
                          <a:ea typeface="Arial"/>
                          <a:cs typeface="Arial"/>
                        </a:rPr>
                        <a:t>Raw variable</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Definition</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Missing</a:t>
                      </a:r>
                    </a:p>
                  </a:txBody>
                  <a:tcPr marL="133350" marR="114300" marT="95250" marB="95250" anchor="ctr">
                    <a:solidFill>
                      <a:srgbClr val="122D45"/>
                    </a:solidFill>
                  </a:tcPr>
                </a:tc>
                <a:extLst>
                  <a:ext uri="{0D108BD9-81ED-4DB2-BD59-A6C34878D82A}">
                    <a16:rowId xmlns:a16="http://schemas.microsoft.com/office/drawing/2014/main" val="10000"/>
                  </a:ext>
                </a:extLst>
              </a:tr>
              <a:tr h="587375">
                <a:tc>
                  <a:txBody>
                    <a:bodyPr/>
                    <a:lstStyle/>
                    <a:p>
                      <a:r>
                        <a:rPr sz="1800">
                          <a:solidFill>
                            <a:srgbClr val="122D45"/>
                          </a:solidFill>
                          <a:latin typeface="Arial"/>
                          <a:ea typeface="Arial"/>
                          <a:cs typeface="Arial"/>
                        </a:rPr>
                        <a:t>years_in_school</a:t>
                      </a:r>
                    </a:p>
                  </a:txBody>
                  <a:tcPr marL="133350" marR="114300" marT="95250" marB="95250" anchor="ctr">
                    <a:solidFill>
                      <a:srgbClr val="FFFFFF"/>
                    </a:solidFill>
                  </a:tcPr>
                </a:tc>
                <a:tc>
                  <a:txBody>
                    <a:bodyPr/>
                    <a:lstStyle/>
                    <a:p>
                      <a:r>
                        <a:rPr sz="1800">
                          <a:solidFill>
                            <a:srgbClr val="122D45"/>
                          </a:solidFill>
                          <a:latin typeface="Arial"/>
                          <a:ea typeface="Arial"/>
                          <a:cs typeface="Arial"/>
                        </a:rPr>
                        <a:t>School years completed since allocation</a:t>
                      </a:r>
                    </a:p>
                  </a:txBody>
                  <a:tcPr marL="133350" marR="114300" marT="95250" marB="95250" anchor="ctr">
                    <a:solidFill>
                      <a:srgbClr val="FFFFFF"/>
                    </a:solidFill>
                  </a:tcPr>
                </a:tc>
                <a:tc>
                  <a:txBody>
                    <a:bodyPr/>
                    <a:lstStyle/>
                    <a:p>
                      <a:r>
                        <a:rPr sz="1800">
                          <a:solidFill>
                            <a:srgbClr val="122D45"/>
                          </a:solidFill>
                          <a:latin typeface="Arial"/>
                          <a:ea typeface="Arial"/>
                          <a:cs typeface="Arial"/>
                        </a:rPr>
                        <a:t>5</a:t>
                      </a:r>
                    </a:p>
                  </a:txBody>
                  <a:tcPr marL="133350" marR="114300" marT="95250" marB="95250" anchor="ctr">
                    <a:solidFill>
                      <a:srgbClr val="FFFFFF"/>
                    </a:solidFill>
                  </a:tcPr>
                </a:tc>
                <a:extLst>
                  <a:ext uri="{0D108BD9-81ED-4DB2-BD59-A6C34878D82A}">
                    <a16:rowId xmlns:a16="http://schemas.microsoft.com/office/drawing/2014/main" val="10001"/>
                  </a:ext>
                </a:extLst>
              </a:tr>
              <a:tr h="587375">
                <a:tc>
                  <a:txBody>
                    <a:bodyPr/>
                    <a:lstStyle/>
                    <a:p>
                      <a:r>
                        <a:rPr sz="1800">
                          <a:solidFill>
                            <a:srgbClr val="122D45"/>
                          </a:solidFill>
                          <a:latin typeface="Arial"/>
                          <a:ea typeface="Arial"/>
                          <a:cs typeface="Arial"/>
                        </a:rPr>
                        <a:t>married_or_cohab</a:t>
                      </a:r>
                    </a:p>
                  </a:txBody>
                  <a:tcPr marL="133350" marR="114300" marT="95250" marB="95250" anchor="ctr">
                    <a:solidFill>
                      <a:srgbClr val="F0F4F6"/>
                    </a:solidFill>
                  </a:tcPr>
                </a:tc>
                <a:tc>
                  <a:txBody>
                    <a:bodyPr/>
                    <a:lstStyle/>
                    <a:p>
                      <a:r>
                        <a:rPr sz="1800">
                          <a:solidFill>
                            <a:srgbClr val="122D45"/>
                          </a:solidFill>
                          <a:latin typeface="Arial"/>
                          <a:ea typeface="Arial"/>
                          <a:cs typeface="Arial"/>
                        </a:rPr>
                        <a:t>Married or living with a partner at follow-up</a:t>
                      </a:r>
                    </a:p>
                  </a:txBody>
                  <a:tcPr marL="133350" marR="114300" marT="95250" marB="95250" anchor="ctr">
                    <a:solidFill>
                      <a:srgbClr val="F0F4F6"/>
                    </a:solidFill>
                  </a:tcPr>
                </a:tc>
                <a:tc>
                  <a:txBody>
                    <a:bodyPr/>
                    <a:lstStyle/>
                    <a:p>
                      <a:r>
                        <a:rPr sz="1800">
                          <a:solidFill>
                            <a:srgbClr val="122D45"/>
                          </a:solidFill>
                          <a:latin typeface="Arial"/>
                          <a:ea typeface="Arial"/>
                          <a:cs typeface="Arial"/>
                        </a:rPr>
                        <a:t>7</a:t>
                      </a:r>
                    </a:p>
                  </a:txBody>
                  <a:tcPr marL="133350" marR="114300" marT="95250" marB="95250" anchor="ctr">
                    <a:solidFill>
                      <a:srgbClr val="F0F4F6"/>
                    </a:solidFill>
                  </a:tcPr>
                </a:tc>
                <a:extLst>
                  <a:ext uri="{0D108BD9-81ED-4DB2-BD59-A6C34878D82A}">
                    <a16:rowId xmlns:a16="http://schemas.microsoft.com/office/drawing/2014/main" val="10002"/>
                  </a:ext>
                </a:extLst>
              </a:tr>
              <a:tr h="587375">
                <a:tc>
                  <a:txBody>
                    <a:bodyPr/>
                    <a:lstStyle/>
                    <a:p>
                      <a:r>
                        <a:rPr sz="1800">
                          <a:solidFill>
                            <a:srgbClr val="122D45"/>
                          </a:solidFill>
                          <a:latin typeface="Arial"/>
                          <a:ea typeface="Arial"/>
                          <a:cs typeface="Arial"/>
                        </a:rPr>
                        <a:t>has_child</a:t>
                      </a:r>
                    </a:p>
                  </a:txBody>
                  <a:tcPr marL="133350" marR="114300" marT="95250" marB="95250" anchor="ctr">
                    <a:solidFill>
                      <a:srgbClr val="FFFFFF"/>
                    </a:solidFill>
                  </a:tcPr>
                </a:tc>
                <a:tc>
                  <a:txBody>
                    <a:bodyPr/>
                    <a:lstStyle/>
                    <a:p>
                      <a:r>
                        <a:rPr sz="1800">
                          <a:solidFill>
                            <a:srgbClr val="122D45"/>
                          </a:solidFill>
                          <a:latin typeface="Arial"/>
                          <a:ea typeface="Arial"/>
                          <a:cs typeface="Arial"/>
                        </a:rPr>
                        <a:t>Has at least one child at follow-up</a:t>
                      </a:r>
                    </a:p>
                  </a:txBody>
                  <a:tcPr marL="133350" marR="114300" marT="95250" marB="95250" anchor="ctr">
                    <a:solidFill>
                      <a:srgbClr val="FFFFFF"/>
                    </a:solidFill>
                  </a:tcPr>
                </a:tc>
                <a:tc>
                  <a:txBody>
                    <a:bodyPr/>
                    <a:lstStyle/>
                    <a:p>
                      <a:r>
                        <a:rPr sz="1800">
                          <a:solidFill>
                            <a:srgbClr val="122D45"/>
                          </a:solidFill>
                          <a:latin typeface="Arial"/>
                          <a:ea typeface="Arial"/>
                          <a:cs typeface="Arial"/>
                        </a:rPr>
                        <a:t>7</a:t>
                      </a:r>
                    </a:p>
                  </a:txBody>
                  <a:tcPr marL="133350" marR="114300" marT="95250" marB="95250" anchor="ctr">
                    <a:solidFill>
                      <a:srgbClr val="FFFFFF"/>
                    </a:solidFill>
                  </a:tcPr>
                </a:tc>
                <a:extLst>
                  <a:ext uri="{0D108BD9-81ED-4DB2-BD59-A6C34878D82A}">
                    <a16:rowId xmlns:a16="http://schemas.microsoft.com/office/drawing/2014/main" val="10003"/>
                  </a:ext>
                </a:extLst>
              </a:tr>
              <a:tr h="587375">
                <a:tc>
                  <a:txBody>
                    <a:bodyPr/>
                    <a:lstStyle/>
                    <a:p>
                      <a:r>
                        <a:rPr sz="1800">
                          <a:solidFill>
                            <a:srgbClr val="122D45"/>
                          </a:solidFill>
                          <a:latin typeface="Arial"/>
                          <a:ea typeface="Arial"/>
                          <a:cs typeface="Arial"/>
                        </a:rPr>
                        <a:t>working</a:t>
                      </a:r>
                    </a:p>
                  </a:txBody>
                  <a:tcPr marL="133350" marR="114300" marT="95250" marB="95250" anchor="ctr">
                    <a:solidFill>
                      <a:srgbClr val="F0F4F6"/>
                    </a:solidFill>
                  </a:tcPr>
                </a:tc>
                <a:tc>
                  <a:txBody>
                    <a:bodyPr/>
                    <a:lstStyle/>
                    <a:p>
                      <a:r>
                        <a:rPr sz="1800">
                          <a:solidFill>
                            <a:srgbClr val="122D45"/>
                          </a:solidFill>
                          <a:latin typeface="Arial"/>
                          <a:ea typeface="Arial"/>
                          <a:cs typeface="Arial"/>
                        </a:rPr>
                        <a:t>Doing any paid work at follow-up</a:t>
                      </a:r>
                    </a:p>
                  </a:txBody>
                  <a:tcPr marL="133350" marR="114300" marT="95250" marB="95250" anchor="ctr">
                    <a:solidFill>
                      <a:srgbClr val="F0F4F6"/>
                    </a:solidFill>
                  </a:tcPr>
                </a:tc>
                <a:tc>
                  <a:txBody>
                    <a:bodyPr/>
                    <a:lstStyle/>
                    <a:p>
                      <a:r>
                        <a:rPr sz="1800">
                          <a:solidFill>
                            <a:srgbClr val="122D45"/>
                          </a:solidFill>
                          <a:latin typeface="Arial"/>
                          <a:ea typeface="Arial"/>
                          <a:cs typeface="Arial"/>
                        </a:rPr>
                        <a:t>5</a:t>
                      </a:r>
                    </a:p>
                  </a:txBody>
                  <a:tcPr marL="133350" marR="114300" marT="95250" marB="95250" anchor="ctr">
                    <a:solidFill>
                      <a:srgbClr val="F0F4F6"/>
                    </a:solidFill>
                  </a:tcPr>
                </a:tc>
                <a:extLst>
                  <a:ext uri="{0D108BD9-81ED-4DB2-BD59-A6C34878D82A}">
                    <a16:rowId xmlns:a16="http://schemas.microsoft.com/office/drawing/2014/main" val="10004"/>
                  </a:ext>
                </a:extLst>
              </a:tr>
              <a:tr h="587375">
                <a:tc>
                  <a:txBody>
                    <a:bodyPr/>
                    <a:lstStyle/>
                    <a:p>
                      <a:r>
                        <a:rPr sz="1800">
                          <a:solidFill>
                            <a:srgbClr val="122D45"/>
                          </a:solidFill>
                          <a:latin typeface="Arial"/>
                          <a:ea typeface="Arial"/>
                          <a:cs typeface="Arial"/>
                        </a:rPr>
                        <a:t>hours_worked</a:t>
                      </a:r>
                    </a:p>
                  </a:txBody>
                  <a:tcPr marL="133350" marR="114300" marT="95250" marB="95250" anchor="ctr">
                    <a:solidFill>
                      <a:srgbClr val="FFFFFF"/>
                    </a:solidFill>
                  </a:tcPr>
                </a:tc>
                <a:tc>
                  <a:txBody>
                    <a:bodyPr/>
                    <a:lstStyle/>
                    <a:p>
                      <a:r>
                        <a:rPr sz="1800">
                          <a:solidFill>
                            <a:srgbClr val="122D45"/>
                          </a:solidFill>
                          <a:latin typeface="Arial"/>
                          <a:ea typeface="Arial"/>
                          <a:cs typeface="Arial"/>
                        </a:rPr>
                        <a:t>Hours worked per week at follow-up</a:t>
                      </a:r>
                    </a:p>
                  </a:txBody>
                  <a:tcPr marL="133350" marR="114300" marT="95250" marB="95250" anchor="ctr">
                    <a:solidFill>
                      <a:srgbClr val="FFFFFF"/>
                    </a:solidFill>
                  </a:tcPr>
                </a:tc>
                <a:tc>
                  <a:txBody>
                    <a:bodyPr/>
                    <a:lstStyle/>
                    <a:p>
                      <a:r>
                        <a:rPr sz="1800">
                          <a:solidFill>
                            <a:srgbClr val="122D45"/>
                          </a:solidFill>
                          <a:latin typeface="Arial"/>
                          <a:ea typeface="Arial"/>
                          <a:cs typeface="Arial"/>
                        </a:rPr>
                        <a:t>5</a:t>
                      </a:r>
                    </a:p>
                  </a:txBody>
                  <a:tcPr marL="133350" marR="114300" marT="95250" marB="95250" anchor="ctr">
                    <a:solidFill>
                      <a:srgbClr val="FFFFFF"/>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0AB6FF0A-E6E6-4991-9345-A19187EE61F7}"/>
              </a:ext>
            </a:extLst>
          </p:cNvPr>
          <p:cNvSpPr>
            <a:spLocks noGrp="1"/>
          </p:cNvSpPr>
          <p:nvPr/>
        </p:nvSpPr>
        <p:spPr>
          <a:xfrm>
            <a:off x="609600" y="5372100"/>
            <a:ext cx="10972800" cy="781050"/>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Years since allocation differ from highest grade completed. Weekly hours cover all observed applicants, including observed zeros.</a:t>
            </a:r>
          </a:p>
        </p:txBody>
      </p:sp>
    </p:spTree>
    <p:extLst>
      <p:ext uri="{BB962C8B-B14F-4D97-AF65-F5344CB8AC3E}">
        <p14:creationId xmlns:p14="http://schemas.microsoft.com/office/powerpoint/2010/main" val="1495844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03EFCCB-1952-48B7-8CDB-6B61EB150682}"/>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dirty="0">
                <a:solidFill>
                  <a:srgbClr val="122D45"/>
                </a:solidFill>
                <a:latin typeface="Arial"/>
                <a:ea typeface="Arial"/>
                <a:cs typeface="Arial"/>
              </a:rPr>
              <a:t>Appendix 2: specific records and handling</a:t>
            </a:r>
          </a:p>
        </p:txBody>
      </p:sp>
      <p:sp>
        <p:nvSpPr>
          <p:cNvPr id="2" name="Rectangle 1">
            <a:extLst>
              <a:ext uri="{FF2B5EF4-FFF2-40B4-BE49-F238E27FC236}">
                <a16:creationId xmlns:a16="http://schemas.microsoft.com/office/drawing/2014/main" id="{E41DC553-82DF-48CE-88FD-D36BFA9C66CB}"/>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IDs and values come directly from the supplied files. Full issue and transition registers accompany the analysis.</a:t>
            </a:r>
          </a:p>
        </p:txBody>
      </p:sp>
      <p:sp>
        <p:nvSpPr>
          <p:cNvPr id="3" name="Rectangle 2">
            <a:extLst>
              <a:ext uri="{FF2B5EF4-FFF2-40B4-BE49-F238E27FC236}">
                <a16:creationId xmlns:a16="http://schemas.microsoft.com/office/drawing/2014/main" id="{DD3DEAFB-2A59-4867-A04C-AA6261BBCC0C}"/>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17</a:t>
            </a:r>
          </a:p>
        </p:txBody>
      </p:sp>
      <p:graphicFrame>
        <p:nvGraphicFramePr>
          <p:cNvPr id="8" name="Table 7"/>
          <p:cNvGraphicFramePr/>
          <p:nvPr/>
        </p:nvGraphicFramePr>
        <p:xfrm>
          <a:off x="609600" y="1438275"/>
          <a:ext cx="10972800" cy="4467225"/>
        </p:xfrm>
        <a:graphic>
          <a:graphicData uri="http://schemas.openxmlformats.org/drawingml/2006/table">
            <a:tbl>
              <a:tblPr/>
              <a:tblGrid>
                <a:gridCol w="2143125">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448175">
                  <a:extLst>
                    <a:ext uri="{9D8B030D-6E8A-4147-A177-3AD203B41FA5}">
                      <a16:colId xmlns:a16="http://schemas.microsoft.com/office/drawing/2014/main" val="20002"/>
                    </a:ext>
                  </a:extLst>
                </a:gridCol>
              </a:tblGrid>
              <a:tr h="638175">
                <a:tc>
                  <a:txBody>
                    <a:bodyPr/>
                    <a:lstStyle/>
                    <a:p>
                      <a:r>
                        <a:rPr sz="1575" b="1">
                          <a:solidFill>
                            <a:srgbClr val="FFFFFF"/>
                          </a:solidFill>
                          <a:latin typeface="Arial"/>
                          <a:ea typeface="Arial"/>
                          <a:cs typeface="Arial"/>
                        </a:rPr>
                        <a:t>Applicant</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Observed values</a:t>
                      </a:r>
                    </a:p>
                  </a:txBody>
                  <a:tcPr marL="133350" marR="114300" marT="57150" marB="57150" anchor="ctr">
                    <a:solidFill>
                      <a:srgbClr val="122D45"/>
                    </a:solidFill>
                  </a:tcPr>
                </a:tc>
                <a:tc>
                  <a:txBody>
                    <a:bodyPr/>
                    <a:lstStyle/>
                    <a:p>
                      <a:r>
                        <a:rPr sz="1575" b="1">
                          <a:solidFill>
                            <a:srgbClr val="FFFFFF"/>
                          </a:solidFill>
                          <a:latin typeface="Arial"/>
                          <a:ea typeface="Arial"/>
                          <a:cs typeface="Arial"/>
                        </a:rPr>
                        <a:t>Handling</a:t>
                      </a:r>
                    </a:p>
                  </a:txBody>
                  <a:tcPr marL="133350" marR="114300" marT="57150" marB="57150" anchor="ctr">
                    <a:solidFill>
                      <a:srgbClr val="122D45"/>
                    </a:solidFill>
                  </a:tcPr>
                </a:tc>
                <a:extLst>
                  <a:ext uri="{0D108BD9-81ED-4DB2-BD59-A6C34878D82A}">
                    <a16:rowId xmlns:a16="http://schemas.microsoft.com/office/drawing/2014/main" val="10000"/>
                  </a:ext>
                </a:extLst>
              </a:tr>
              <a:tr h="638175">
                <a:tc>
                  <a:txBody>
                    <a:bodyPr/>
                    <a:lstStyle/>
                    <a:p>
                      <a:r>
                        <a:rPr sz="1575">
                          <a:solidFill>
                            <a:srgbClr val="122D45"/>
                          </a:solidFill>
                          <a:latin typeface="Arial"/>
                          <a:ea typeface="Arial"/>
                          <a:cs typeface="Arial"/>
                        </a:rPr>
                        <a:t>100368, A2020</a:t>
                      </a:r>
                    </a:p>
                  </a:txBody>
                  <a:tcPr marL="133350" marR="114300" marT="57150" marB="57150" anchor="ctr">
                    <a:solidFill>
                      <a:srgbClr val="FFFFFF"/>
                    </a:solidFill>
                  </a:tcPr>
                </a:tc>
                <a:tc>
                  <a:txBody>
                    <a:bodyPr/>
                    <a:lstStyle/>
                    <a:p>
                      <a:r>
                        <a:rPr sz="1575">
                          <a:solidFill>
                            <a:srgbClr val="122D45"/>
                          </a:solidFill>
                          <a:latin typeface="Arial"/>
                          <a:ea typeface="Arial"/>
                          <a:cs typeface="Arial"/>
                        </a:rPr>
                        <a:t>Application age 15, survey age 10</a:t>
                      </a:r>
                    </a:p>
                  </a:txBody>
                  <a:tcPr marL="133350" marR="114300" marT="57150" marB="57150" anchor="ctr">
                    <a:solidFill>
                      <a:srgbClr val="FFFFFF"/>
                    </a:solidFill>
                  </a:tcPr>
                </a:tc>
                <a:tc>
                  <a:txBody>
                    <a:bodyPr/>
                    <a:lstStyle/>
                    <a:p>
                      <a:r>
                        <a:rPr sz="1575">
                          <a:solidFill>
                            <a:srgbClr val="122D45"/>
                          </a:solidFill>
                          <a:latin typeface="Arial"/>
                          <a:ea typeface="Arial"/>
                          <a:cs typeface="Arial"/>
                        </a:rPr>
                        <a:t>Retain ages. Flag decline. Test exclusion.</a:t>
                      </a:r>
                    </a:p>
                  </a:txBody>
                  <a:tcPr marL="133350" marR="114300" marT="57150" marB="57150" anchor="ctr">
                    <a:solidFill>
                      <a:srgbClr val="FFFFFF"/>
                    </a:solidFill>
                  </a:tcPr>
                </a:tc>
                <a:extLst>
                  <a:ext uri="{0D108BD9-81ED-4DB2-BD59-A6C34878D82A}">
                    <a16:rowId xmlns:a16="http://schemas.microsoft.com/office/drawing/2014/main" val="10001"/>
                  </a:ext>
                </a:extLst>
              </a:tr>
              <a:tr h="638175">
                <a:tc>
                  <a:txBody>
                    <a:bodyPr/>
                    <a:lstStyle/>
                    <a:p>
                      <a:r>
                        <a:rPr sz="1575">
                          <a:solidFill>
                            <a:srgbClr val="122D45"/>
                          </a:solidFill>
                          <a:latin typeface="Arial"/>
                          <a:ea typeface="Arial"/>
                          <a:cs typeface="Arial"/>
                        </a:rPr>
                        <a:t>100044, A2022</a:t>
                      </a:r>
                    </a:p>
                  </a:txBody>
                  <a:tcPr marL="133350" marR="114300" marT="57150" marB="57150" anchor="ctr">
                    <a:solidFill>
                      <a:srgbClr val="F0F4F6"/>
                    </a:solidFill>
                  </a:tcPr>
                </a:tc>
                <a:tc>
                  <a:txBody>
                    <a:bodyPr/>
                    <a:lstStyle/>
                    <a:p>
                      <a:r>
                        <a:rPr sz="1575">
                          <a:solidFill>
                            <a:srgbClr val="122D45"/>
                          </a:solidFill>
                          <a:latin typeface="Arial"/>
                          <a:ea typeface="Arial"/>
                          <a:cs typeface="Arial"/>
                        </a:rPr>
                        <a:t>Application age 15, survey age 13</a:t>
                      </a:r>
                    </a:p>
                  </a:txBody>
                  <a:tcPr marL="133350" marR="114300" marT="57150" marB="57150" anchor="ctr">
                    <a:solidFill>
                      <a:srgbClr val="F0F4F6"/>
                    </a:solidFill>
                  </a:tcPr>
                </a:tc>
                <a:tc>
                  <a:txBody>
                    <a:bodyPr/>
                    <a:lstStyle/>
                    <a:p>
                      <a:r>
                        <a:rPr sz="1575">
                          <a:solidFill>
                            <a:srgbClr val="122D45"/>
                          </a:solidFill>
                          <a:latin typeface="Arial"/>
                          <a:ea typeface="Arial"/>
                          <a:cs typeface="Arial"/>
                        </a:rPr>
                        <a:t>Retain ages. Flag decline. Test exclusion.</a:t>
                      </a:r>
                    </a:p>
                  </a:txBody>
                  <a:tcPr marL="133350" marR="114300" marT="57150" marB="57150" anchor="ctr">
                    <a:solidFill>
                      <a:srgbClr val="F0F4F6"/>
                    </a:solidFill>
                  </a:tcPr>
                </a:tc>
                <a:extLst>
                  <a:ext uri="{0D108BD9-81ED-4DB2-BD59-A6C34878D82A}">
                    <a16:rowId xmlns:a16="http://schemas.microsoft.com/office/drawing/2014/main" val="10002"/>
                  </a:ext>
                </a:extLst>
              </a:tr>
              <a:tr h="638175">
                <a:tc>
                  <a:txBody>
                    <a:bodyPr/>
                    <a:lstStyle/>
                    <a:p>
                      <a:r>
                        <a:rPr sz="1575">
                          <a:solidFill>
                            <a:srgbClr val="122D45"/>
                          </a:solidFill>
                          <a:latin typeface="Arial"/>
                          <a:ea typeface="Arial"/>
                          <a:cs typeface="Arial"/>
                        </a:rPr>
                        <a:t>100203, A2020</a:t>
                      </a:r>
                    </a:p>
                  </a:txBody>
                  <a:tcPr marL="133350" marR="114300" marT="57150" marB="57150" anchor="ctr">
                    <a:solidFill>
                      <a:srgbClr val="FFFFFF"/>
                    </a:solidFill>
                  </a:tcPr>
                </a:tc>
                <a:tc>
                  <a:txBody>
                    <a:bodyPr/>
                    <a:lstStyle/>
                    <a:p>
                      <a:r>
                        <a:rPr sz="1575">
                          <a:solidFill>
                            <a:srgbClr val="122D45"/>
                          </a:solidFill>
                          <a:latin typeface="Arial"/>
                          <a:ea typeface="Arial"/>
                          <a:cs typeface="Arial"/>
                        </a:rPr>
                        <a:t>Highest grade 11; finished G6/G7/G8 all 0</a:t>
                      </a:r>
                    </a:p>
                  </a:txBody>
                  <a:tcPr marL="133350" marR="114300" marT="57150" marB="57150" anchor="ctr">
                    <a:solidFill>
                      <a:srgbClr val="FFFFFF"/>
                    </a:solidFill>
                  </a:tcPr>
                </a:tc>
                <a:tc>
                  <a:txBody>
                    <a:bodyPr/>
                    <a:lstStyle/>
                    <a:p>
                      <a:r>
                        <a:rPr sz="1575">
                          <a:solidFill>
                            <a:srgbClr val="122D45"/>
                          </a:solidFill>
                          <a:latin typeface="Arial"/>
                          <a:ea typeface="Arial"/>
                          <a:cs typeface="Arial"/>
                        </a:rPr>
                        <a:t>Retain grade conflict. Current private status unknown.</a:t>
                      </a:r>
                    </a:p>
                  </a:txBody>
                  <a:tcPr marL="133350" marR="114300" marT="57150" marB="57150" anchor="ctr">
                    <a:solidFill>
                      <a:srgbClr val="FFFFFF"/>
                    </a:solidFill>
                  </a:tcPr>
                </a:tc>
                <a:extLst>
                  <a:ext uri="{0D108BD9-81ED-4DB2-BD59-A6C34878D82A}">
                    <a16:rowId xmlns:a16="http://schemas.microsoft.com/office/drawing/2014/main" val="10003"/>
                  </a:ext>
                </a:extLst>
              </a:tr>
              <a:tr h="638175">
                <a:tc>
                  <a:txBody>
                    <a:bodyPr/>
                    <a:lstStyle/>
                    <a:p>
                      <a:r>
                        <a:rPr sz="1575">
                          <a:solidFill>
                            <a:srgbClr val="122D45"/>
                          </a:solidFill>
                          <a:latin typeface="Arial"/>
                          <a:ea typeface="Arial"/>
                          <a:cs typeface="Arial"/>
                        </a:rPr>
                        <a:t>100767, A2020</a:t>
                      </a:r>
                    </a:p>
                  </a:txBody>
                  <a:tcPr marL="133350" marR="114300" marT="57150" marB="57150" anchor="ctr">
                    <a:solidFill>
                      <a:srgbClr val="F0F4F6"/>
                    </a:solidFill>
                  </a:tcPr>
                </a:tc>
                <a:tc>
                  <a:txBody>
                    <a:bodyPr/>
                    <a:lstStyle/>
                    <a:p>
                      <a:r>
                        <a:rPr sz="1575">
                          <a:solidFill>
                            <a:srgbClr val="122D45"/>
                          </a:solidFill>
                          <a:latin typeface="Arial"/>
                          <a:ea typeface="Arial"/>
                          <a:cs typeface="Arial"/>
                        </a:rPr>
                        <a:t>Working 0, weekly hours 4</a:t>
                      </a:r>
                    </a:p>
                  </a:txBody>
                  <a:tcPr marL="133350" marR="114300" marT="57150" marB="57150" anchor="ctr">
                    <a:solidFill>
                      <a:srgbClr val="F0F4F6"/>
                    </a:solidFill>
                  </a:tcPr>
                </a:tc>
                <a:tc>
                  <a:txBody>
                    <a:bodyPr/>
                    <a:lstStyle/>
                    <a:p>
                      <a:r>
                        <a:rPr sz="1575">
                          <a:solidFill>
                            <a:srgbClr val="122D45"/>
                          </a:solidFill>
                          <a:latin typeface="Arial"/>
                          <a:ea typeface="Arial"/>
                          <a:cs typeface="Arial"/>
                        </a:rPr>
                        <a:t>Keep reported hours. Test exclusion.</a:t>
                      </a:r>
                    </a:p>
                  </a:txBody>
                  <a:tcPr marL="133350" marR="114300" marT="57150" marB="57150" anchor="ctr">
                    <a:solidFill>
                      <a:srgbClr val="F0F4F6"/>
                    </a:solidFill>
                  </a:tcPr>
                </a:tc>
                <a:extLst>
                  <a:ext uri="{0D108BD9-81ED-4DB2-BD59-A6C34878D82A}">
                    <a16:rowId xmlns:a16="http://schemas.microsoft.com/office/drawing/2014/main" val="10004"/>
                  </a:ext>
                </a:extLst>
              </a:tr>
              <a:tr h="638175">
                <a:tc>
                  <a:txBody>
                    <a:bodyPr/>
                    <a:lstStyle/>
                    <a:p>
                      <a:r>
                        <a:rPr sz="1575">
                          <a:solidFill>
                            <a:srgbClr val="122D45"/>
                          </a:solidFill>
                          <a:latin typeface="Arial"/>
                          <a:ea typeface="Arial"/>
                          <a:cs typeface="Arial"/>
                        </a:rPr>
                        <a:t>100031, A2020</a:t>
                      </a:r>
                    </a:p>
                  </a:txBody>
                  <a:tcPr marL="133350" marR="114300" marT="57150" marB="57150" anchor="ctr">
                    <a:solidFill>
                      <a:srgbClr val="FFFFFF"/>
                    </a:solidFill>
                  </a:tcPr>
                </a:tc>
                <a:tc>
                  <a:txBody>
                    <a:bodyPr/>
                    <a:lstStyle/>
                    <a:p>
                      <a:r>
                        <a:rPr sz="1575">
                          <a:solidFill>
                            <a:srgbClr val="122D45"/>
                          </a:solidFill>
                          <a:latin typeface="Arial"/>
                          <a:ea typeface="Arial"/>
                          <a:cs typeface="Arial"/>
                        </a:rPr>
                        <a:t>Private G6/G7/current: 1/1/0; enrolled 1</a:t>
                      </a:r>
                    </a:p>
                  </a:txBody>
                  <a:tcPr marL="133350" marR="114300" marT="57150" marB="57150" anchor="ctr">
                    <a:solidFill>
                      <a:srgbClr val="FFFFFF"/>
                    </a:solidFill>
                  </a:tcPr>
                </a:tc>
                <a:tc>
                  <a:txBody>
                    <a:bodyPr/>
                    <a:lstStyle/>
                    <a:p>
                      <a:r>
                        <a:rPr sz="1575">
                          <a:solidFill>
                            <a:srgbClr val="122D45"/>
                          </a:solidFill>
                          <a:latin typeface="Arial"/>
                          <a:ea typeface="Arial"/>
                          <a:cs typeface="Arial"/>
                        </a:rPr>
                        <a:t>Keep private exit. Still enrolled elsewhere.</a:t>
                      </a:r>
                    </a:p>
                  </a:txBody>
                  <a:tcPr marL="133350" marR="114300" marT="57150" marB="57150" anchor="ctr">
                    <a:solidFill>
                      <a:srgbClr val="FFFFFF"/>
                    </a:solidFill>
                  </a:tcPr>
                </a:tc>
                <a:extLst>
                  <a:ext uri="{0D108BD9-81ED-4DB2-BD59-A6C34878D82A}">
                    <a16:rowId xmlns:a16="http://schemas.microsoft.com/office/drawing/2014/main" val="10005"/>
                  </a:ext>
                </a:extLst>
              </a:tr>
              <a:tr h="638175">
                <a:tc>
                  <a:txBody>
                    <a:bodyPr/>
                    <a:lstStyle/>
                    <a:p>
                      <a:r>
                        <a:rPr sz="1575">
                          <a:solidFill>
                            <a:srgbClr val="122D45"/>
                          </a:solidFill>
                          <a:latin typeface="Arial"/>
                          <a:ea typeface="Arial"/>
                          <a:cs typeface="Arial"/>
                        </a:rPr>
                        <a:t>100062, A2020</a:t>
                      </a:r>
                    </a:p>
                  </a:txBody>
                  <a:tcPr marL="133350" marR="114300" marT="57150" marB="57150" anchor="ctr">
                    <a:solidFill>
                      <a:srgbClr val="F0F4F6"/>
                    </a:solidFill>
                  </a:tcPr>
                </a:tc>
                <a:tc>
                  <a:txBody>
                    <a:bodyPr/>
                    <a:lstStyle/>
                    <a:p>
                      <a:r>
                        <a:rPr sz="1575">
                          <a:solidFill>
                            <a:srgbClr val="122D45"/>
                          </a:solidFill>
                          <a:latin typeface="Arial"/>
                          <a:ea typeface="Arial"/>
                          <a:cs typeface="Arial"/>
                        </a:rPr>
                        <a:t>Private G6/G7/current: 1/0/1</a:t>
                      </a:r>
                    </a:p>
                  </a:txBody>
                  <a:tcPr marL="133350" marR="114300" marT="57150" marB="57150" anchor="ctr">
                    <a:solidFill>
                      <a:srgbClr val="F0F4F6"/>
                    </a:solidFill>
                  </a:tcPr>
                </a:tc>
                <a:tc>
                  <a:txBody>
                    <a:bodyPr/>
                    <a:lstStyle/>
                    <a:p>
                      <a:r>
                        <a:rPr sz="1575">
                          <a:solidFill>
                            <a:srgbClr val="122D45"/>
                          </a:solidFill>
                          <a:latin typeface="Arial"/>
                          <a:ea typeface="Arial"/>
                          <a:cs typeface="Arial"/>
                        </a:rPr>
                        <a:t>Keep 1/0/1 history. Defier status unknown.</a:t>
                      </a:r>
                    </a:p>
                  </a:txBody>
                  <a:tcPr marL="133350" marR="114300" marT="57150" marB="57150" anchor="ctr">
                    <a:solidFill>
                      <a:srgbClr val="F0F4F6"/>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10493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A0B271-226F-40EE-A9C5-3DDE42BBD5D0}"/>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3: primary sensitivity checks</a:t>
            </a:r>
          </a:p>
        </p:txBody>
      </p:sp>
      <p:sp>
        <p:nvSpPr>
          <p:cNvPr id="2" name="Rectangle 1">
            <a:extLst>
              <a:ext uri="{FF2B5EF4-FFF2-40B4-BE49-F238E27FC236}">
                <a16:creationId xmlns:a16="http://schemas.microsoft.com/office/drawing/2014/main" id="{E816CFF0-FDA5-425F-9B36-5E342CFC86CA}"/>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Each cell: A2020 offer effect, then raw HC2/t p-value. Binary effects use percentage points.</a:t>
            </a:r>
          </a:p>
        </p:txBody>
      </p:sp>
      <p:sp>
        <p:nvSpPr>
          <p:cNvPr id="3" name="Rectangle 2">
            <a:extLst>
              <a:ext uri="{FF2B5EF4-FFF2-40B4-BE49-F238E27FC236}">
                <a16:creationId xmlns:a16="http://schemas.microsoft.com/office/drawing/2014/main" id="{48335CAC-B80A-47A4-8F35-563E8889F3AE}"/>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18</a:t>
            </a:r>
          </a:p>
        </p:txBody>
      </p:sp>
      <p:sp>
        <p:nvSpPr>
          <p:cNvPr id="4" name="Rectangle 3">
            <a:extLst>
              <a:ext uri="{FF2B5EF4-FFF2-40B4-BE49-F238E27FC236}">
                <a16:creationId xmlns:a16="http://schemas.microsoft.com/office/drawing/2014/main" id="{85EACCF6-FB3E-41CC-8871-F32010A045C5}"/>
              </a:ext>
            </a:extLst>
          </p:cNvPr>
          <p:cNvSpPr>
            <a:spLocks noGrp="1"/>
          </p:cNvSpPr>
          <p:nvPr/>
        </p:nvSpPr>
        <p:spPr>
          <a:xfrm>
            <a:off x="609600" y="1323975"/>
            <a:ext cx="10972800" cy="647700"/>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Primary/exclusions: Y = α + τZ + ε</a:t>
            </a:r>
          </a:p>
          <a:p>
            <a:pPr>
              <a:defRPr sz="1725" b="0">
                <a:solidFill>
                  <a:srgbClr val="007E87"/>
                </a:solidFill>
                <a:latin typeface="Arial"/>
                <a:ea typeface="Arial"/>
                <a:cs typeface="Arial"/>
              </a:defRPr>
            </a:pPr>
            <a:r>
              <a:rPr sz="1725" b="0">
                <a:solidFill>
                  <a:srgbClr val="007E87"/>
                </a:solidFill>
                <a:latin typeface="Arial"/>
                <a:ea typeface="Arial"/>
                <a:cs typeface="Arial"/>
              </a:rPr>
              <a:t>Adjusted: Y = α + τZ + Xc′γ + Z·Xc′δ + ε. Xc = centered baseline controls.</a:t>
            </a:r>
          </a:p>
        </p:txBody>
      </p:sp>
      <p:graphicFrame>
        <p:nvGraphicFramePr>
          <p:cNvPr id="11" name="Table 10"/>
          <p:cNvGraphicFramePr/>
          <p:nvPr/>
        </p:nvGraphicFramePr>
        <p:xfrm>
          <a:off x="609600" y="2076450"/>
          <a:ext cx="10972800" cy="3362328"/>
        </p:xfrm>
        <a:graphic>
          <a:graphicData uri="http://schemas.openxmlformats.org/drawingml/2006/table">
            <a:tbl>
              <a:tblPr/>
              <a:tblGrid>
                <a:gridCol w="300037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60388">
                <a:tc>
                  <a:txBody>
                    <a:bodyPr/>
                    <a:lstStyle/>
                    <a:p>
                      <a:r>
                        <a:rPr sz="1575" b="1">
                          <a:solidFill>
                            <a:srgbClr val="FFFFFF"/>
                          </a:solidFill>
                          <a:latin typeface="Arial"/>
                          <a:ea typeface="Arial"/>
                          <a:cs typeface="Arial"/>
                        </a:rPr>
                        <a:t>Outcome</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Primary</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Baseline adjusted</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Exclude declining age</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Work conflict check</a:t>
                      </a:r>
                    </a:p>
                  </a:txBody>
                  <a:tcPr marL="133350" marR="114300" marT="9525" marB="9525" anchor="ctr">
                    <a:solidFill>
                      <a:srgbClr val="122D45"/>
                    </a:solidFill>
                  </a:tcPr>
                </a:tc>
                <a:extLst>
                  <a:ext uri="{0D108BD9-81ED-4DB2-BD59-A6C34878D82A}">
                    <a16:rowId xmlns:a16="http://schemas.microsoft.com/office/drawing/2014/main" val="10000"/>
                  </a:ext>
                </a:extLst>
              </a:tr>
              <a:tr h="560388">
                <a:tc>
                  <a:txBody>
                    <a:bodyPr/>
                    <a:lstStyle/>
                    <a:p>
                      <a:r>
                        <a:rPr sz="1575">
                          <a:solidFill>
                            <a:srgbClr val="122D45"/>
                          </a:solidFill>
                          <a:latin typeface="Arial"/>
                          <a:ea typeface="Arial"/>
                          <a:cs typeface="Arial"/>
                        </a:rPr>
                        <a:t>School years completed</a:t>
                      </a:r>
                    </a:p>
                  </a:txBody>
                  <a:tcPr marL="133350" marR="114300" marT="9525" marB="9525" anchor="ctr">
                    <a:solidFill>
                      <a:srgbClr val="FFFFFF"/>
                    </a:solidFill>
                  </a:tcPr>
                </a:tc>
                <a:tc>
                  <a:txBody>
                    <a:bodyPr/>
                    <a:lstStyle/>
                    <a:p>
                      <a:r>
                        <a:rPr sz="1575">
                          <a:solidFill>
                            <a:srgbClr val="122D45"/>
                          </a:solidFill>
                          <a:latin typeface="Arial"/>
                          <a:ea typeface="Arial"/>
                          <a:cs typeface="Arial"/>
                        </a:rPr>
                        <a:t>+0.093</a:t>
                      </a:r>
                    </a:p>
                    <a:p>
                      <a:r>
                        <a:rPr sz="1575">
                          <a:solidFill>
                            <a:srgbClr val="122D45"/>
                          </a:solidFill>
                          <a:latin typeface="Arial"/>
                          <a:ea typeface="Arial"/>
                          <a:cs typeface="Arial"/>
                        </a:rPr>
                        <a:t>p = 0.089</a:t>
                      </a:r>
                    </a:p>
                  </a:txBody>
                  <a:tcPr marL="133350" marR="114300" marT="9525" marB="9525" anchor="ctr">
                    <a:solidFill>
                      <a:srgbClr val="FFFFFF"/>
                    </a:solidFill>
                  </a:tcPr>
                </a:tc>
                <a:tc>
                  <a:txBody>
                    <a:bodyPr/>
                    <a:lstStyle/>
                    <a:p>
                      <a:r>
                        <a:rPr sz="1575">
                          <a:solidFill>
                            <a:srgbClr val="122D45"/>
                          </a:solidFill>
                          <a:latin typeface="Arial"/>
                          <a:ea typeface="Arial"/>
                          <a:cs typeface="Arial"/>
                        </a:rPr>
                        <a:t>+0.071</a:t>
                      </a:r>
                    </a:p>
                    <a:p>
                      <a:r>
                        <a:rPr sz="1575">
                          <a:solidFill>
                            <a:srgbClr val="122D45"/>
                          </a:solidFill>
                          <a:latin typeface="Arial"/>
                          <a:ea typeface="Arial"/>
                          <a:cs typeface="Arial"/>
                        </a:rPr>
                        <a:t>p = 0.181</a:t>
                      </a:r>
                    </a:p>
                  </a:txBody>
                  <a:tcPr marL="133350" marR="114300" marT="9525" marB="9525" anchor="ctr">
                    <a:solidFill>
                      <a:srgbClr val="FFFFFF"/>
                    </a:solidFill>
                  </a:tcPr>
                </a:tc>
                <a:tc>
                  <a:txBody>
                    <a:bodyPr/>
                    <a:lstStyle/>
                    <a:p>
                      <a:r>
                        <a:rPr sz="1575">
                          <a:solidFill>
                            <a:srgbClr val="122D45"/>
                          </a:solidFill>
                          <a:latin typeface="Arial"/>
                          <a:ea typeface="Arial"/>
                          <a:cs typeface="Arial"/>
                        </a:rPr>
                        <a:t>+0.097</a:t>
                      </a:r>
                    </a:p>
                    <a:p>
                      <a:r>
                        <a:rPr sz="1575">
                          <a:solidFill>
                            <a:srgbClr val="122D45"/>
                          </a:solidFill>
                          <a:latin typeface="Arial"/>
                          <a:ea typeface="Arial"/>
                          <a:cs typeface="Arial"/>
                        </a:rPr>
                        <a:t>p = 0.075</a:t>
                      </a:r>
                    </a:p>
                  </a:txBody>
                  <a:tcPr marL="133350" marR="114300" marT="9525" marB="9525" anchor="ctr">
                    <a:solidFill>
                      <a:srgbClr val="FFFFFF"/>
                    </a:solidFill>
                  </a:tcPr>
                </a:tc>
                <a:tc>
                  <a:txBody>
                    <a:bodyPr/>
                    <a:lstStyle/>
                    <a:p>
                      <a:r>
                        <a:rPr sz="1575">
                          <a:solidFill>
                            <a:srgbClr val="122D45"/>
                          </a:solidFill>
                          <a:latin typeface="Arial"/>
                          <a:ea typeface="Arial"/>
                          <a:cs typeface="Arial"/>
                        </a:rPr>
                        <a:t>+0.094</a:t>
                      </a:r>
                    </a:p>
                    <a:p>
                      <a:r>
                        <a:rPr sz="1575">
                          <a:solidFill>
                            <a:srgbClr val="122D45"/>
                          </a:solidFill>
                          <a:latin typeface="Arial"/>
                          <a:ea typeface="Arial"/>
                          <a:cs typeface="Arial"/>
                        </a:rPr>
                        <a:t>p = 0.087</a:t>
                      </a:r>
                    </a:p>
                  </a:txBody>
                  <a:tcPr marL="133350" marR="114300" marT="9525" marB="9525" anchor="ctr">
                    <a:solidFill>
                      <a:srgbClr val="FFFFFF"/>
                    </a:solidFill>
                  </a:tcPr>
                </a:tc>
                <a:extLst>
                  <a:ext uri="{0D108BD9-81ED-4DB2-BD59-A6C34878D82A}">
                    <a16:rowId xmlns:a16="http://schemas.microsoft.com/office/drawing/2014/main" val="10001"/>
                  </a:ext>
                </a:extLst>
              </a:tr>
              <a:tr h="560388">
                <a:tc>
                  <a:txBody>
                    <a:bodyPr/>
                    <a:lstStyle/>
                    <a:p>
                      <a:r>
                        <a:rPr sz="1575">
                          <a:solidFill>
                            <a:srgbClr val="122D45"/>
                          </a:solidFill>
                          <a:latin typeface="Arial"/>
                          <a:ea typeface="Arial"/>
                          <a:cs typeface="Arial"/>
                        </a:rPr>
                        <a:t>Married or cohabiting</a:t>
                      </a:r>
                    </a:p>
                  </a:txBody>
                  <a:tcPr marL="133350" marR="114300" marT="9525" marB="9525" anchor="ctr">
                    <a:solidFill>
                      <a:srgbClr val="F0F4F6"/>
                    </a:solidFill>
                  </a:tcPr>
                </a:tc>
                <a:tc>
                  <a:txBody>
                    <a:bodyPr/>
                    <a:lstStyle/>
                    <a:p>
                      <a:r>
                        <a:rPr sz="1575">
                          <a:solidFill>
                            <a:srgbClr val="122D45"/>
                          </a:solidFill>
                          <a:latin typeface="Arial"/>
                          <a:ea typeface="Arial"/>
                          <a:cs typeface="Arial"/>
                        </a:rPr>
                        <a:t>−0.9</a:t>
                      </a:r>
                    </a:p>
                    <a:p>
                      <a:r>
                        <a:rPr sz="1575">
                          <a:solidFill>
                            <a:srgbClr val="122D45"/>
                          </a:solidFill>
                          <a:latin typeface="Arial"/>
                          <a:ea typeface="Arial"/>
                          <a:cs typeface="Arial"/>
                        </a:rPr>
                        <a:t>p = 0.181</a:t>
                      </a:r>
                    </a:p>
                  </a:txBody>
                  <a:tcPr marL="133350" marR="114300" marT="9525" marB="9525" anchor="ctr">
                    <a:solidFill>
                      <a:srgbClr val="F0F4F6"/>
                    </a:solidFill>
                  </a:tcPr>
                </a:tc>
                <a:tc>
                  <a:txBody>
                    <a:bodyPr/>
                    <a:lstStyle/>
                    <a:p>
                      <a:r>
                        <a:rPr sz="1575">
                          <a:solidFill>
                            <a:srgbClr val="122D45"/>
                          </a:solidFill>
                          <a:latin typeface="Arial"/>
                          <a:ea typeface="Arial"/>
                          <a:cs typeface="Arial"/>
                        </a:rPr>
                        <a:t>−0.7</a:t>
                      </a:r>
                    </a:p>
                    <a:p>
                      <a:r>
                        <a:rPr sz="1575">
                          <a:solidFill>
                            <a:srgbClr val="122D45"/>
                          </a:solidFill>
                          <a:latin typeface="Arial"/>
                          <a:ea typeface="Arial"/>
                          <a:cs typeface="Arial"/>
                        </a:rPr>
                        <a:t>p = 0.291</a:t>
                      </a:r>
                    </a:p>
                  </a:txBody>
                  <a:tcPr marL="133350" marR="114300" marT="9525" marB="9525" anchor="ctr">
                    <a:solidFill>
                      <a:srgbClr val="F0F4F6"/>
                    </a:solidFill>
                  </a:tcPr>
                </a:tc>
                <a:tc>
                  <a:txBody>
                    <a:bodyPr/>
                    <a:lstStyle/>
                    <a:p>
                      <a:r>
                        <a:rPr sz="1575">
                          <a:solidFill>
                            <a:srgbClr val="122D45"/>
                          </a:solidFill>
                          <a:latin typeface="Arial"/>
                          <a:ea typeface="Arial"/>
                          <a:cs typeface="Arial"/>
                        </a:rPr>
                        <a:t>−0.9</a:t>
                      </a:r>
                    </a:p>
                    <a:p>
                      <a:r>
                        <a:rPr sz="1575">
                          <a:solidFill>
                            <a:srgbClr val="122D45"/>
                          </a:solidFill>
                          <a:latin typeface="Arial"/>
                          <a:ea typeface="Arial"/>
                          <a:cs typeface="Arial"/>
                        </a:rPr>
                        <a:t>p = 0.180</a:t>
                      </a:r>
                    </a:p>
                  </a:txBody>
                  <a:tcPr marL="133350" marR="114300" marT="9525" marB="9525" anchor="ctr">
                    <a:solidFill>
                      <a:srgbClr val="F0F4F6"/>
                    </a:solidFill>
                  </a:tcPr>
                </a:tc>
                <a:tc>
                  <a:txBody>
                    <a:bodyPr/>
                    <a:lstStyle/>
                    <a:p>
                      <a:r>
                        <a:rPr sz="1575">
                          <a:solidFill>
                            <a:srgbClr val="122D45"/>
                          </a:solidFill>
                          <a:latin typeface="Arial"/>
                          <a:ea typeface="Arial"/>
                          <a:cs typeface="Arial"/>
                        </a:rPr>
                        <a:t>−0.9</a:t>
                      </a:r>
                    </a:p>
                    <a:p>
                      <a:r>
                        <a:rPr sz="1575">
                          <a:solidFill>
                            <a:srgbClr val="122D45"/>
                          </a:solidFill>
                          <a:latin typeface="Arial"/>
                          <a:ea typeface="Arial"/>
                          <a:cs typeface="Arial"/>
                        </a:rPr>
                        <a:t>p = 0.180</a:t>
                      </a:r>
                    </a:p>
                  </a:txBody>
                  <a:tcPr marL="133350" marR="114300" marT="9525" marB="9525" anchor="ctr">
                    <a:solidFill>
                      <a:srgbClr val="F0F4F6"/>
                    </a:solidFill>
                  </a:tcPr>
                </a:tc>
                <a:extLst>
                  <a:ext uri="{0D108BD9-81ED-4DB2-BD59-A6C34878D82A}">
                    <a16:rowId xmlns:a16="http://schemas.microsoft.com/office/drawing/2014/main" val="10002"/>
                  </a:ext>
                </a:extLst>
              </a:tr>
              <a:tr h="560388">
                <a:tc>
                  <a:txBody>
                    <a:bodyPr/>
                    <a:lstStyle/>
                    <a:p>
                      <a:r>
                        <a:rPr sz="1575">
                          <a:solidFill>
                            <a:srgbClr val="122D45"/>
                          </a:solidFill>
                          <a:latin typeface="Arial"/>
                          <a:ea typeface="Arial"/>
                          <a:cs typeface="Arial"/>
                        </a:rPr>
                        <a:t>Has a child</a:t>
                      </a:r>
                    </a:p>
                  </a:txBody>
                  <a:tcPr marL="133350" marR="114300" marT="9525" marB="9525" anchor="ctr">
                    <a:solidFill>
                      <a:srgbClr val="FFFFFF"/>
                    </a:solidFill>
                  </a:tcPr>
                </a:tc>
                <a:tc>
                  <a:txBody>
                    <a:bodyPr/>
                    <a:lstStyle/>
                    <a:p>
                      <a:r>
                        <a:rPr sz="1575">
                          <a:solidFill>
                            <a:srgbClr val="122D45"/>
                          </a:solidFill>
                          <a:latin typeface="Arial"/>
                          <a:ea typeface="Arial"/>
                          <a:cs typeface="Arial"/>
                        </a:rPr>
                        <a:t>−1.3</a:t>
                      </a:r>
                    </a:p>
                    <a:p>
                      <a:r>
                        <a:rPr sz="1575">
                          <a:solidFill>
                            <a:srgbClr val="122D45"/>
                          </a:solidFill>
                          <a:latin typeface="Arial"/>
                          <a:ea typeface="Arial"/>
                          <a:cs typeface="Arial"/>
                        </a:rPr>
                        <a:t>p = 0.206</a:t>
                      </a:r>
                    </a:p>
                  </a:txBody>
                  <a:tcPr marL="133350" marR="114300" marT="9525" marB="9525" anchor="ctr">
                    <a:solidFill>
                      <a:srgbClr val="FFFFFF"/>
                    </a:solidFill>
                  </a:tcPr>
                </a:tc>
                <a:tc>
                  <a:txBody>
                    <a:bodyPr/>
                    <a:lstStyle/>
                    <a:p>
                      <a:r>
                        <a:rPr sz="1575">
                          <a:solidFill>
                            <a:srgbClr val="122D45"/>
                          </a:solidFill>
                          <a:latin typeface="Arial"/>
                          <a:ea typeface="Arial"/>
                          <a:cs typeface="Arial"/>
                        </a:rPr>
                        <a:t>−1.0</a:t>
                      </a:r>
                    </a:p>
                    <a:p>
                      <a:r>
                        <a:rPr sz="1575">
                          <a:solidFill>
                            <a:srgbClr val="122D45"/>
                          </a:solidFill>
                          <a:latin typeface="Arial"/>
                          <a:ea typeface="Arial"/>
                          <a:cs typeface="Arial"/>
                        </a:rPr>
                        <a:t>p = 0.293</a:t>
                      </a:r>
                    </a:p>
                  </a:txBody>
                  <a:tcPr marL="133350" marR="114300" marT="9525" marB="9525" anchor="ctr">
                    <a:solidFill>
                      <a:srgbClr val="FFFFFF"/>
                    </a:solidFill>
                  </a:tcPr>
                </a:tc>
                <a:tc>
                  <a:txBody>
                    <a:bodyPr/>
                    <a:lstStyle/>
                    <a:p>
                      <a:r>
                        <a:rPr sz="1575">
                          <a:solidFill>
                            <a:srgbClr val="122D45"/>
                          </a:solidFill>
                          <a:latin typeface="Arial"/>
                          <a:ea typeface="Arial"/>
                          <a:cs typeface="Arial"/>
                        </a:rPr>
                        <a:t>−1.3</a:t>
                      </a:r>
                    </a:p>
                    <a:p>
                      <a:r>
                        <a:rPr sz="1575">
                          <a:solidFill>
                            <a:srgbClr val="122D45"/>
                          </a:solidFill>
                          <a:latin typeface="Arial"/>
                          <a:ea typeface="Arial"/>
                          <a:cs typeface="Arial"/>
                        </a:rPr>
                        <a:t>p = 0.204</a:t>
                      </a:r>
                    </a:p>
                  </a:txBody>
                  <a:tcPr marL="133350" marR="114300" marT="9525" marB="9525" anchor="ctr">
                    <a:solidFill>
                      <a:srgbClr val="FFFFFF"/>
                    </a:solidFill>
                  </a:tcPr>
                </a:tc>
                <a:tc>
                  <a:txBody>
                    <a:bodyPr/>
                    <a:lstStyle/>
                    <a:p>
                      <a:r>
                        <a:rPr sz="1575">
                          <a:solidFill>
                            <a:srgbClr val="122D45"/>
                          </a:solidFill>
                          <a:latin typeface="Arial"/>
                          <a:ea typeface="Arial"/>
                          <a:cs typeface="Arial"/>
                        </a:rPr>
                        <a:t>−1.3</a:t>
                      </a:r>
                    </a:p>
                    <a:p>
                      <a:r>
                        <a:rPr sz="1575">
                          <a:solidFill>
                            <a:srgbClr val="122D45"/>
                          </a:solidFill>
                          <a:latin typeface="Arial"/>
                          <a:ea typeface="Arial"/>
                          <a:cs typeface="Arial"/>
                        </a:rPr>
                        <a:t>p = 0.204</a:t>
                      </a:r>
                    </a:p>
                  </a:txBody>
                  <a:tcPr marL="133350" marR="114300" marT="9525" marB="9525" anchor="ctr">
                    <a:solidFill>
                      <a:srgbClr val="FFFFFF"/>
                    </a:solidFill>
                  </a:tcPr>
                </a:tc>
                <a:extLst>
                  <a:ext uri="{0D108BD9-81ED-4DB2-BD59-A6C34878D82A}">
                    <a16:rowId xmlns:a16="http://schemas.microsoft.com/office/drawing/2014/main" val="10003"/>
                  </a:ext>
                </a:extLst>
              </a:tr>
              <a:tr h="560388">
                <a:tc>
                  <a:txBody>
                    <a:bodyPr/>
                    <a:lstStyle/>
                    <a:p>
                      <a:r>
                        <a:rPr sz="1575">
                          <a:solidFill>
                            <a:srgbClr val="122D45"/>
                          </a:solidFill>
                          <a:latin typeface="Arial"/>
                          <a:ea typeface="Arial"/>
                          <a:cs typeface="Arial"/>
                        </a:rPr>
                        <a:t>Doing paid work</a:t>
                      </a:r>
                    </a:p>
                  </a:txBody>
                  <a:tcPr marL="133350" marR="114300" marT="9525" marB="9525" anchor="ctr">
                    <a:solidFill>
                      <a:srgbClr val="F0F4F6"/>
                    </a:solidFill>
                  </a:tcPr>
                </a:tc>
                <a:tc>
                  <a:txBody>
                    <a:bodyPr/>
                    <a:lstStyle/>
                    <a:p>
                      <a:r>
                        <a:rPr sz="1575">
                          <a:solidFill>
                            <a:srgbClr val="122D45"/>
                          </a:solidFill>
                          <a:latin typeface="Arial"/>
                          <a:ea typeface="Arial"/>
                          <a:cs typeface="Arial"/>
                        </a:rPr>
                        <a:t>−4.1</a:t>
                      </a:r>
                    </a:p>
                    <a:p>
                      <a:r>
                        <a:rPr sz="1575">
                          <a:solidFill>
                            <a:srgbClr val="122D45"/>
                          </a:solidFill>
                          <a:latin typeface="Arial"/>
                          <a:ea typeface="Arial"/>
                          <a:cs typeface="Arial"/>
                        </a:rPr>
                        <a:t>p = 0.060</a:t>
                      </a:r>
                    </a:p>
                  </a:txBody>
                  <a:tcPr marL="133350" marR="114300" marT="9525" marB="9525" anchor="ctr">
                    <a:solidFill>
                      <a:srgbClr val="F0F4F6"/>
                    </a:solidFill>
                  </a:tcPr>
                </a:tc>
                <a:tc>
                  <a:txBody>
                    <a:bodyPr/>
                    <a:lstStyle/>
                    <a:p>
                      <a:r>
                        <a:rPr sz="1575">
                          <a:solidFill>
                            <a:srgbClr val="122D45"/>
                          </a:solidFill>
                          <a:latin typeface="Arial"/>
                          <a:ea typeface="Arial"/>
                          <a:cs typeface="Arial"/>
                        </a:rPr>
                        <a:t>−3.5</a:t>
                      </a:r>
                    </a:p>
                    <a:p>
                      <a:r>
                        <a:rPr sz="1575">
                          <a:solidFill>
                            <a:srgbClr val="122D45"/>
                          </a:solidFill>
                          <a:latin typeface="Arial"/>
                          <a:ea typeface="Arial"/>
                          <a:cs typeface="Arial"/>
                        </a:rPr>
                        <a:t>p = 0.089</a:t>
                      </a:r>
                    </a:p>
                  </a:txBody>
                  <a:tcPr marL="133350" marR="114300" marT="9525" marB="9525" anchor="ctr">
                    <a:solidFill>
                      <a:srgbClr val="F0F4F6"/>
                    </a:solidFill>
                  </a:tcPr>
                </a:tc>
                <a:tc>
                  <a:txBody>
                    <a:bodyPr/>
                    <a:lstStyle/>
                    <a:p>
                      <a:r>
                        <a:rPr sz="1575">
                          <a:solidFill>
                            <a:srgbClr val="122D45"/>
                          </a:solidFill>
                          <a:latin typeface="Arial"/>
                          <a:ea typeface="Arial"/>
                          <a:cs typeface="Arial"/>
                        </a:rPr>
                        <a:t>−4.2</a:t>
                      </a:r>
                    </a:p>
                    <a:p>
                      <a:r>
                        <a:rPr sz="1575">
                          <a:solidFill>
                            <a:srgbClr val="122D45"/>
                          </a:solidFill>
                          <a:latin typeface="Arial"/>
                          <a:ea typeface="Arial"/>
                          <a:cs typeface="Arial"/>
                        </a:rPr>
                        <a:t>p = 0.058</a:t>
                      </a:r>
                    </a:p>
                  </a:txBody>
                  <a:tcPr marL="133350" marR="114300" marT="9525" marB="9525" anchor="ctr">
                    <a:solidFill>
                      <a:srgbClr val="F0F4F6"/>
                    </a:solidFill>
                  </a:tcPr>
                </a:tc>
                <a:tc>
                  <a:txBody>
                    <a:bodyPr/>
                    <a:lstStyle/>
                    <a:p>
                      <a:r>
                        <a:rPr sz="1575">
                          <a:solidFill>
                            <a:srgbClr val="122D45"/>
                          </a:solidFill>
                          <a:latin typeface="Arial"/>
                          <a:ea typeface="Arial"/>
                          <a:cs typeface="Arial"/>
                        </a:rPr>
                        <a:t>−4.2</a:t>
                      </a:r>
                    </a:p>
                    <a:p>
                      <a:r>
                        <a:rPr sz="1575">
                          <a:solidFill>
                            <a:srgbClr val="122D45"/>
                          </a:solidFill>
                          <a:latin typeface="Arial"/>
                          <a:ea typeface="Arial"/>
                          <a:cs typeface="Arial"/>
                        </a:rPr>
                        <a:t>p = 0.058</a:t>
                      </a:r>
                    </a:p>
                  </a:txBody>
                  <a:tcPr marL="133350" marR="114300" marT="9525" marB="9525" anchor="ctr">
                    <a:solidFill>
                      <a:srgbClr val="F0F4F6"/>
                    </a:solidFill>
                  </a:tcPr>
                </a:tc>
                <a:extLst>
                  <a:ext uri="{0D108BD9-81ED-4DB2-BD59-A6C34878D82A}">
                    <a16:rowId xmlns:a16="http://schemas.microsoft.com/office/drawing/2014/main" val="10004"/>
                  </a:ext>
                </a:extLst>
              </a:tr>
              <a:tr h="560388">
                <a:tc>
                  <a:txBody>
                    <a:bodyPr/>
                    <a:lstStyle/>
                    <a:p>
                      <a:r>
                        <a:rPr sz="1575">
                          <a:solidFill>
                            <a:srgbClr val="122D45"/>
                          </a:solidFill>
                          <a:latin typeface="Arial"/>
                          <a:ea typeface="Arial"/>
                          <a:cs typeface="Arial"/>
                        </a:rPr>
                        <a:t>Weekly hours worked</a:t>
                      </a:r>
                    </a:p>
                  </a:txBody>
                  <a:tcPr marL="133350" marR="114300" marT="9525" marB="9525" anchor="ctr">
                    <a:solidFill>
                      <a:srgbClr val="FFFFFF"/>
                    </a:solidFill>
                  </a:tcPr>
                </a:tc>
                <a:tc>
                  <a:txBody>
                    <a:bodyPr/>
                    <a:lstStyle/>
                    <a:p>
                      <a:r>
                        <a:rPr sz="1575">
                          <a:solidFill>
                            <a:srgbClr val="122D45"/>
                          </a:solidFill>
                          <a:latin typeface="Arial"/>
                          <a:ea typeface="Arial"/>
                          <a:cs typeface="Arial"/>
                        </a:rPr>
                        <a:t>−1.46</a:t>
                      </a:r>
                    </a:p>
                    <a:p>
                      <a:r>
                        <a:rPr sz="1575">
                          <a:solidFill>
                            <a:srgbClr val="122D45"/>
                          </a:solidFill>
                          <a:latin typeface="Arial"/>
                          <a:ea typeface="Arial"/>
                          <a:cs typeface="Arial"/>
                        </a:rPr>
                        <a:t>p = 0.027</a:t>
                      </a:r>
                    </a:p>
                  </a:txBody>
                  <a:tcPr marL="133350" marR="114300" marT="9525" marB="9525" anchor="ctr">
                    <a:solidFill>
                      <a:srgbClr val="FFFFFF"/>
                    </a:solidFill>
                  </a:tcPr>
                </a:tc>
                <a:tc>
                  <a:txBody>
                    <a:bodyPr/>
                    <a:lstStyle/>
                    <a:p>
                      <a:r>
                        <a:rPr sz="1575">
                          <a:solidFill>
                            <a:srgbClr val="122D45"/>
                          </a:solidFill>
                          <a:latin typeface="Arial"/>
                          <a:ea typeface="Arial"/>
                          <a:cs typeface="Arial"/>
                        </a:rPr>
                        <a:t>−1.27</a:t>
                      </a:r>
                    </a:p>
                    <a:p>
                      <a:r>
                        <a:rPr sz="1575">
                          <a:solidFill>
                            <a:srgbClr val="122D45"/>
                          </a:solidFill>
                          <a:latin typeface="Arial"/>
                          <a:ea typeface="Arial"/>
                          <a:cs typeface="Arial"/>
                        </a:rPr>
                        <a:t>p = 0.042</a:t>
                      </a:r>
                    </a:p>
                  </a:txBody>
                  <a:tcPr marL="133350" marR="114300" marT="9525" marB="9525" anchor="ctr">
                    <a:solidFill>
                      <a:srgbClr val="FFFFFF"/>
                    </a:solidFill>
                  </a:tcPr>
                </a:tc>
                <a:tc>
                  <a:txBody>
                    <a:bodyPr/>
                    <a:lstStyle/>
                    <a:p>
                      <a:r>
                        <a:rPr sz="1575">
                          <a:solidFill>
                            <a:srgbClr val="122D45"/>
                          </a:solidFill>
                          <a:latin typeface="Arial"/>
                          <a:ea typeface="Arial"/>
                          <a:cs typeface="Arial"/>
                        </a:rPr>
                        <a:t>−1.47</a:t>
                      </a:r>
                    </a:p>
                    <a:p>
                      <a:r>
                        <a:rPr sz="1575">
                          <a:solidFill>
                            <a:srgbClr val="122D45"/>
                          </a:solidFill>
                          <a:latin typeface="Arial"/>
                          <a:ea typeface="Arial"/>
                          <a:cs typeface="Arial"/>
                        </a:rPr>
                        <a:t>p = 0.027</a:t>
                      </a:r>
                    </a:p>
                  </a:txBody>
                  <a:tcPr marL="133350" marR="114300" marT="9525" marB="9525" anchor="ctr">
                    <a:solidFill>
                      <a:srgbClr val="FFFFFF"/>
                    </a:solidFill>
                  </a:tcPr>
                </a:tc>
                <a:tc>
                  <a:txBody>
                    <a:bodyPr/>
                    <a:lstStyle/>
                    <a:p>
                      <a:r>
                        <a:rPr sz="1575">
                          <a:solidFill>
                            <a:srgbClr val="122D45"/>
                          </a:solidFill>
                          <a:latin typeface="Arial"/>
                          <a:ea typeface="Arial"/>
                          <a:cs typeface="Arial"/>
                        </a:rPr>
                        <a:t>−1.47</a:t>
                      </a:r>
                    </a:p>
                    <a:p>
                      <a:r>
                        <a:rPr sz="1575">
                          <a:solidFill>
                            <a:srgbClr val="122D45"/>
                          </a:solidFill>
                          <a:latin typeface="Arial"/>
                          <a:ea typeface="Arial"/>
                          <a:cs typeface="Arial"/>
                        </a:rPr>
                        <a:t>p = 0.027</a:t>
                      </a:r>
                    </a:p>
                  </a:txBody>
                  <a:tcPr marL="133350" marR="114300" marT="9525" marB="9525" anchor="ct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1813FFAC-F418-44E9-B5D4-4B8BCF828B9E}"/>
              </a:ext>
            </a:extLst>
          </p:cNvPr>
          <p:cNvSpPr>
            <a:spLocks noGrp="1"/>
          </p:cNvSpPr>
          <p:nvPr/>
        </p:nvSpPr>
        <p:spPr>
          <a:xfrm>
            <a:off x="609600" y="5581650"/>
            <a:ext cx="10972800" cy="561975"/>
          </a:xfrm>
          <a:prstGeom prst="rect">
            <a:avLst/>
          </a:prstGeom>
          <a:noFill/>
          <a:ln w="0">
            <a:noFill/>
          </a:ln>
        </p:spPr>
        <p:txBody>
          <a:bodyPr anchor="ctr">
            <a:noAutofit/>
          </a:bodyPr>
          <a:lstStyle/>
          <a:p>
            <a:pPr>
              <a:defRPr sz="1800" b="1">
                <a:solidFill>
                  <a:srgbClr val="007E87"/>
                </a:solidFill>
                <a:latin typeface="Arial"/>
                <a:ea typeface="Arial"/>
                <a:cs typeface="Arial"/>
              </a:defRPr>
            </a:pPr>
            <a:r>
              <a:rPr sz="1800" b="1">
                <a:solidFill>
                  <a:srgbClr val="007E87"/>
                </a:solidFill>
                <a:latin typeface="Arial"/>
                <a:ea typeface="Arial"/>
                <a:cs typeface="Arial"/>
              </a:rPr>
              <a:t>The familywise evidence remains limited. Exclusion checks change the analysis sample and leave original records intact.</a:t>
            </a:r>
          </a:p>
        </p:txBody>
      </p:sp>
    </p:spTree>
    <p:extLst>
      <p:ext uri="{BB962C8B-B14F-4D97-AF65-F5344CB8AC3E}">
        <p14:creationId xmlns:p14="http://schemas.microsoft.com/office/powerpoint/2010/main" val="1802271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69062F-725B-4B53-BCF2-BE5B4EC0BE75}"/>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4: additional IV specifications</a:t>
            </a:r>
          </a:p>
        </p:txBody>
      </p:sp>
      <p:sp>
        <p:nvSpPr>
          <p:cNvPr id="2" name="Rectangle 1">
            <a:extLst>
              <a:ext uri="{FF2B5EF4-FFF2-40B4-BE49-F238E27FC236}">
                <a16:creationId xmlns:a16="http://schemas.microsoft.com/office/drawing/2014/main" id="{C096BD12-6C9A-4B22-ACA9-C5AE79CCF13B}"/>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First-stage p-values use HC2/t. AR p-values test zero IV effects. Both are unadjusted.</a:t>
            </a:r>
          </a:p>
        </p:txBody>
      </p:sp>
      <p:sp>
        <p:nvSpPr>
          <p:cNvPr id="3" name="Rectangle 2">
            <a:extLst>
              <a:ext uri="{FF2B5EF4-FFF2-40B4-BE49-F238E27FC236}">
                <a16:creationId xmlns:a16="http://schemas.microsoft.com/office/drawing/2014/main" id="{EB8F94EB-F275-4889-8E06-8C77D91D2BF0}"/>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19</a:t>
            </a:r>
          </a:p>
        </p:txBody>
      </p:sp>
      <p:sp>
        <p:nvSpPr>
          <p:cNvPr id="4" name="Rectangle 3">
            <a:extLst>
              <a:ext uri="{FF2B5EF4-FFF2-40B4-BE49-F238E27FC236}">
                <a16:creationId xmlns:a16="http://schemas.microsoft.com/office/drawing/2014/main" id="{F3650645-23DB-40C0-8491-CC13286AFCDB}"/>
              </a:ext>
            </a:extLst>
          </p:cNvPr>
          <p:cNvSpPr>
            <a:spLocks noGrp="1"/>
          </p:cNvSpPr>
          <p:nvPr/>
        </p:nvSpPr>
        <p:spPr>
          <a:xfrm>
            <a:off x="609600" y="1323975"/>
            <a:ext cx="10972800" cy="647700"/>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Dᵏ = π₀ + π₁Z + X′κ + u;  Y = α + βD̂ᵏ + X′γ + ε  (2SLS)</a:t>
            </a:r>
          </a:p>
          <a:p>
            <a:pPr>
              <a:defRPr sz="1725" b="0">
                <a:solidFill>
                  <a:srgbClr val="007E87"/>
                </a:solidFill>
                <a:latin typeface="Arial"/>
                <a:ea typeface="Arial"/>
                <a:cs typeface="Arial"/>
              </a:defRPr>
            </a:pPr>
            <a:r>
              <a:rPr sz="1725" b="0">
                <a:solidFill>
                  <a:srgbClr val="007E87"/>
                </a:solidFill>
                <a:latin typeface="Arial"/>
                <a:ea typeface="Arial"/>
                <a:cs typeface="Arial"/>
              </a:rPr>
              <a:t>X = baseline controls in adjusted row only. Dᵏ = the stated private-school measure.</a:t>
            </a:r>
          </a:p>
        </p:txBody>
      </p:sp>
      <p:graphicFrame>
        <p:nvGraphicFramePr>
          <p:cNvPr id="11" name="Table 10"/>
          <p:cNvGraphicFramePr/>
          <p:nvPr/>
        </p:nvGraphicFramePr>
        <p:xfrm>
          <a:off x="609600" y="2076450"/>
          <a:ext cx="10972800" cy="2981325"/>
        </p:xfrm>
        <a:graphic>
          <a:graphicData uri="http://schemas.openxmlformats.org/drawingml/2006/table">
            <a:tbl>
              <a:tblPr/>
              <a:tblGrid>
                <a:gridCol w="34290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596265">
                <a:tc>
                  <a:txBody>
                    <a:bodyPr/>
                    <a:lstStyle/>
                    <a:p>
                      <a:r>
                        <a:rPr sz="1575" b="1">
                          <a:solidFill>
                            <a:srgbClr val="FFFFFF"/>
                          </a:solidFill>
                          <a:latin typeface="Arial"/>
                          <a:ea typeface="Arial"/>
                          <a:cs typeface="Arial"/>
                        </a:rPr>
                        <a:t>Private-school measure</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First-stage F</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Hours IV</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95% robust AR set</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AR p-value</a:t>
                      </a:r>
                    </a:p>
                  </a:txBody>
                  <a:tcPr marL="133350" marR="114300" marT="38100" marB="38100" anchor="ctr">
                    <a:solidFill>
                      <a:srgbClr val="122D45"/>
                    </a:solidFill>
                  </a:tcPr>
                </a:tc>
                <a:extLst>
                  <a:ext uri="{0D108BD9-81ED-4DB2-BD59-A6C34878D82A}">
                    <a16:rowId xmlns:a16="http://schemas.microsoft.com/office/drawing/2014/main" val="10000"/>
                  </a:ext>
                </a:extLst>
              </a:tr>
              <a:tr h="596265">
                <a:tc>
                  <a:txBody>
                    <a:bodyPr/>
                    <a:lstStyle/>
                    <a:p>
                      <a:r>
                        <a:rPr sz="1575">
                          <a:solidFill>
                            <a:srgbClr val="122D45"/>
                          </a:solidFill>
                          <a:latin typeface="Arial"/>
                          <a:ea typeface="Arial"/>
                          <a:cs typeface="Arial"/>
                        </a:rPr>
                        <a:t>Current attendance</a:t>
                      </a:r>
                    </a:p>
                  </a:txBody>
                  <a:tcPr marL="133350" marR="114300" marT="38100" marB="38100" anchor="ctr">
                    <a:solidFill>
                      <a:srgbClr val="FFFFFF"/>
                    </a:solidFill>
                  </a:tcPr>
                </a:tc>
                <a:tc>
                  <a:txBody>
                    <a:bodyPr/>
                    <a:lstStyle/>
                    <a:p>
                      <a:r>
                        <a:rPr sz="1575">
                          <a:solidFill>
                            <a:srgbClr val="122D45"/>
                          </a:solidFill>
                          <a:latin typeface="Arial"/>
                          <a:ea typeface="Arial"/>
                          <a:cs typeface="Arial"/>
                        </a:rPr>
                        <a:t>32.2</a:t>
                      </a:r>
                    </a:p>
                    <a:p>
                      <a:r>
                        <a:rPr sz="1575">
                          <a:solidFill>
                            <a:srgbClr val="122D45"/>
                          </a:solidFill>
                          <a:latin typeface="Arial"/>
                          <a:ea typeface="Arial"/>
                          <a:cs typeface="Arial"/>
                        </a:rPr>
                        <a:t>(p &lt; .001)</a:t>
                      </a:r>
                    </a:p>
                  </a:txBody>
                  <a:tcPr marL="133350" marR="114300" marT="38100" marB="38100" anchor="ctr">
                    <a:solidFill>
                      <a:srgbClr val="FFFFFF"/>
                    </a:solidFill>
                  </a:tcPr>
                </a:tc>
                <a:tc>
                  <a:txBody>
                    <a:bodyPr/>
                    <a:lstStyle/>
                    <a:p>
                      <a:r>
                        <a:rPr sz="1575">
                          <a:solidFill>
                            <a:srgbClr val="122D45"/>
                          </a:solidFill>
                          <a:latin typeface="Arial"/>
                          <a:ea typeface="Arial"/>
                          <a:cs typeface="Arial"/>
                        </a:rPr>
                        <a:t>−8.98</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[−17.60, −0.88]</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0.032</a:t>
                      </a:r>
                    </a:p>
                  </a:txBody>
                  <a:tcPr marL="133350" marR="114300" marT="38100" marB="38100" anchor="ctr">
                    <a:solidFill>
                      <a:srgbClr val="FFFFFF"/>
                    </a:solidFill>
                  </a:tcPr>
                </a:tc>
                <a:extLst>
                  <a:ext uri="{0D108BD9-81ED-4DB2-BD59-A6C34878D82A}">
                    <a16:rowId xmlns:a16="http://schemas.microsoft.com/office/drawing/2014/main" val="10001"/>
                  </a:ext>
                </a:extLst>
              </a:tr>
              <a:tr h="596265">
                <a:tc>
                  <a:txBody>
                    <a:bodyPr/>
                    <a:lstStyle/>
                    <a:p>
                      <a:r>
                        <a:rPr sz="1575">
                          <a:solidFill>
                            <a:srgbClr val="122D45"/>
                          </a:solidFill>
                          <a:latin typeface="Arial"/>
                          <a:ea typeface="Arial"/>
                          <a:cs typeface="Arial"/>
                        </a:rPr>
                        <a:t>Current, baseline adjusted</a:t>
                      </a:r>
                    </a:p>
                  </a:txBody>
                  <a:tcPr marL="133350" marR="114300" marT="38100" marB="38100" anchor="ctr">
                    <a:solidFill>
                      <a:srgbClr val="F0F4F6"/>
                    </a:solidFill>
                  </a:tcPr>
                </a:tc>
                <a:tc>
                  <a:txBody>
                    <a:bodyPr/>
                    <a:lstStyle/>
                    <a:p>
                      <a:r>
                        <a:rPr sz="1575">
                          <a:solidFill>
                            <a:srgbClr val="122D45"/>
                          </a:solidFill>
                          <a:latin typeface="Arial"/>
                          <a:ea typeface="Arial"/>
                          <a:cs typeface="Arial"/>
                        </a:rPr>
                        <a:t>29.9</a:t>
                      </a:r>
                    </a:p>
                    <a:p>
                      <a:r>
                        <a:rPr sz="1575">
                          <a:solidFill>
                            <a:srgbClr val="122D45"/>
                          </a:solidFill>
                          <a:latin typeface="Arial"/>
                          <a:ea typeface="Arial"/>
                          <a:cs typeface="Arial"/>
                        </a:rPr>
                        <a:t>(p &lt; .001)</a:t>
                      </a:r>
                    </a:p>
                  </a:txBody>
                  <a:tcPr marL="133350" marR="114300" marT="38100" marB="38100" anchor="ctr">
                    <a:solidFill>
                      <a:srgbClr val="F0F4F6"/>
                    </a:solidFill>
                  </a:tcPr>
                </a:tc>
                <a:tc>
                  <a:txBody>
                    <a:bodyPr/>
                    <a:lstStyle/>
                    <a:p>
                      <a:r>
                        <a:rPr sz="1575">
                          <a:solidFill>
                            <a:srgbClr val="122D45"/>
                          </a:solidFill>
                          <a:latin typeface="Arial"/>
                          <a:ea typeface="Arial"/>
                          <a:cs typeface="Arial"/>
                        </a:rPr>
                        <a:t>−8.16</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[−17.08, 0.03]</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0.051</a:t>
                      </a:r>
                    </a:p>
                  </a:txBody>
                  <a:tcPr marL="133350" marR="114300" marT="38100" marB="38100" anchor="ctr">
                    <a:solidFill>
                      <a:srgbClr val="F0F4F6"/>
                    </a:solidFill>
                  </a:tcPr>
                </a:tc>
                <a:extLst>
                  <a:ext uri="{0D108BD9-81ED-4DB2-BD59-A6C34878D82A}">
                    <a16:rowId xmlns:a16="http://schemas.microsoft.com/office/drawing/2014/main" val="10002"/>
                  </a:ext>
                </a:extLst>
              </a:tr>
              <a:tr h="596265">
                <a:tc>
                  <a:txBody>
                    <a:bodyPr/>
                    <a:lstStyle/>
                    <a:p>
                      <a:r>
                        <a:rPr sz="1575">
                          <a:solidFill>
                            <a:srgbClr val="122D45"/>
                          </a:solidFill>
                          <a:latin typeface="Arial"/>
                          <a:ea typeface="Arial"/>
                          <a:cs typeface="Arial"/>
                        </a:rPr>
                        <a:t>Started grade 6 privately</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12.6</a:t>
                      </a:r>
                    </a:p>
                    <a:p>
                      <a:r>
                        <a:rPr sz="1575">
                          <a:solidFill>
                            <a:srgbClr val="122D45"/>
                          </a:solidFill>
                          <a:latin typeface="Arial"/>
                          <a:ea typeface="Arial"/>
                          <a:cs typeface="Arial"/>
                        </a:rPr>
                        <a:t>(p &lt; .001)</a:t>
                      </a:r>
                    </a:p>
                  </a:txBody>
                  <a:tcPr marL="133350" marR="114300" marT="38100" marB="38100" anchor="ctr">
                    <a:solidFill>
                      <a:srgbClr val="FFFFFF"/>
                    </a:solidFill>
                  </a:tcPr>
                </a:tc>
                <a:tc>
                  <a:txBody>
                    <a:bodyPr/>
                    <a:lstStyle/>
                    <a:p>
                      <a:r>
                        <a:rPr sz="1575">
                          <a:solidFill>
                            <a:srgbClr val="122D45"/>
                          </a:solidFill>
                          <a:latin typeface="Arial"/>
                          <a:ea typeface="Arial"/>
                          <a:cs typeface="Arial"/>
                        </a:rPr>
                        <a:t>−25.39</a:t>
                      </a:r>
                    </a:p>
                  </a:txBody>
                  <a:tcPr marL="133350" marR="114300" marT="38100" marB="38100" anchor="ctr">
                    <a:solidFill>
                      <a:srgbClr val="FFFFFF"/>
                    </a:solidFill>
                  </a:tcPr>
                </a:tc>
                <a:tc>
                  <a:txBody>
                    <a:bodyPr/>
                    <a:lstStyle/>
                    <a:p>
                      <a:r>
                        <a:rPr sz="1575">
                          <a:solidFill>
                            <a:srgbClr val="122D45"/>
                          </a:solidFill>
                          <a:latin typeface="Arial"/>
                          <a:ea typeface="Arial"/>
                          <a:cs typeface="Arial"/>
                        </a:rPr>
                        <a:t>[−67.55, −3.65]</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0.022</a:t>
                      </a:r>
                    </a:p>
                  </a:txBody>
                  <a:tcPr marL="133350" marR="114300" marT="38100" marB="38100" anchor="ctr">
                    <a:solidFill>
                      <a:srgbClr val="FFFFFF"/>
                    </a:solidFill>
                  </a:tcPr>
                </a:tc>
                <a:extLst>
                  <a:ext uri="{0D108BD9-81ED-4DB2-BD59-A6C34878D82A}">
                    <a16:rowId xmlns:a16="http://schemas.microsoft.com/office/drawing/2014/main" val="10003"/>
                  </a:ext>
                </a:extLst>
              </a:tr>
              <a:tr h="596265">
                <a:tc>
                  <a:txBody>
                    <a:bodyPr/>
                    <a:lstStyle/>
                    <a:p>
                      <a:r>
                        <a:rPr sz="1575">
                          <a:solidFill>
                            <a:srgbClr val="122D45"/>
                          </a:solidFill>
                          <a:latin typeface="Arial"/>
                          <a:ea typeface="Arial"/>
                          <a:cs typeface="Arial"/>
                        </a:rPr>
                        <a:t>Started grade 7 privately</a:t>
                      </a:r>
                    </a:p>
                  </a:txBody>
                  <a:tcPr marL="133350" marR="114300" marT="38100" marB="38100" anchor="ctr">
                    <a:solidFill>
                      <a:srgbClr val="F0F4F6"/>
                    </a:solidFill>
                  </a:tcPr>
                </a:tc>
                <a:tc>
                  <a:txBody>
                    <a:bodyPr/>
                    <a:lstStyle/>
                    <a:p>
                      <a:r>
                        <a:rPr sz="1575">
                          <a:solidFill>
                            <a:srgbClr val="122D45"/>
                          </a:solidFill>
                          <a:latin typeface="Arial"/>
                          <a:ea typeface="Arial"/>
                          <a:cs typeface="Arial"/>
                        </a:rPr>
                        <a:t>46.7</a:t>
                      </a:r>
                    </a:p>
                    <a:p>
                      <a:r>
                        <a:rPr sz="1575">
                          <a:solidFill>
                            <a:srgbClr val="122D45"/>
                          </a:solidFill>
                          <a:latin typeface="Arial"/>
                          <a:ea typeface="Arial"/>
                          <a:cs typeface="Arial"/>
                        </a:rPr>
                        <a:t>(p &lt; .001)</a:t>
                      </a:r>
                    </a:p>
                  </a:txBody>
                  <a:tcPr marL="133350" marR="114300" marT="38100" marB="38100" anchor="ctr">
                    <a:solidFill>
                      <a:srgbClr val="F0F4F6"/>
                    </a:solidFill>
                  </a:tcPr>
                </a:tc>
                <a:tc>
                  <a:txBody>
                    <a:bodyPr/>
                    <a:lstStyle/>
                    <a:p>
                      <a:r>
                        <a:rPr sz="1575">
                          <a:solidFill>
                            <a:srgbClr val="122D45"/>
                          </a:solidFill>
                          <a:latin typeface="Arial"/>
                          <a:ea typeface="Arial"/>
                          <a:cs typeface="Arial"/>
                        </a:rPr>
                        <a:t>−9.04</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[−17.31, −1.37]</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0.022</a:t>
                      </a:r>
                    </a:p>
                  </a:txBody>
                  <a:tcPr marL="133350" marR="114300" marT="38100" marB="38100" anchor="ctr">
                    <a:solidFill>
                      <a:srgbClr val="F0F4F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D97E0BB4-DAF3-46BA-BB48-6ACB015DAEBE}"/>
              </a:ext>
            </a:extLst>
          </p:cNvPr>
          <p:cNvSpPr>
            <a:spLocks noGrp="1"/>
          </p:cNvSpPr>
          <p:nvPr/>
        </p:nvSpPr>
        <p:spPr>
          <a:xfrm>
            <a:off x="609600" y="5257800"/>
            <a:ext cx="10972800" cy="876300"/>
          </a:xfrm>
          <a:prstGeom prst="rect">
            <a:avLst/>
          </a:prstGeom>
          <a:noFill/>
          <a:ln w="0">
            <a:noFill/>
          </a:ln>
        </p:spPr>
        <p:txBody>
          <a:bodyPr anchor="ctr">
            <a:noAutofit/>
          </a:bodyPr>
          <a:lstStyle/>
          <a:p>
            <a:pPr>
              <a:defRPr sz="2025" b="1">
                <a:solidFill>
                  <a:srgbClr val="A56218"/>
                </a:solidFill>
                <a:latin typeface="Arial"/>
                <a:ea typeface="Arial"/>
                <a:cs typeface="Arial"/>
              </a:defRPr>
            </a:pPr>
            <a:r>
              <a:rPr sz="2025" b="1">
                <a:solidFill>
                  <a:srgbClr val="A56218"/>
                </a:solidFill>
                <a:latin typeface="Arial"/>
                <a:ea typeface="Arial"/>
                <a:cs typeface="Arial"/>
              </a:rPr>
              <a:t>The adjusted current-attendance AR set includes zero. The smaller cohorts have weaker first stages in the attendance comparison on slide 9.</a:t>
            </a:r>
          </a:p>
        </p:txBody>
      </p:sp>
    </p:spTree>
    <p:extLst>
      <p:ext uri="{BB962C8B-B14F-4D97-AF65-F5344CB8AC3E}">
        <p14:creationId xmlns:p14="http://schemas.microsoft.com/office/powerpoint/2010/main" val="1411962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0E00E96-ABA3-4ED7-B8F4-E7A27D9B61B1}"/>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5: effects for girls and boys</a:t>
            </a:r>
          </a:p>
        </p:txBody>
      </p:sp>
      <p:sp>
        <p:nvSpPr>
          <p:cNvPr id="2" name="Rectangle 1">
            <a:extLst>
              <a:ext uri="{FF2B5EF4-FFF2-40B4-BE49-F238E27FC236}">
                <a16:creationId xmlns:a16="http://schemas.microsoft.com/office/drawing/2014/main" id="{3778ECEA-9C67-4B6E-BF26-DA0C544E254A}"/>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Raw HC2/t p-values unless marked Holm. Difference = boys minus girls. Binary effects use pp.</a:t>
            </a:r>
          </a:p>
        </p:txBody>
      </p:sp>
      <p:sp>
        <p:nvSpPr>
          <p:cNvPr id="3" name="Rectangle 2">
            <a:extLst>
              <a:ext uri="{FF2B5EF4-FFF2-40B4-BE49-F238E27FC236}">
                <a16:creationId xmlns:a16="http://schemas.microsoft.com/office/drawing/2014/main" id="{5839B847-5240-4429-BB8D-51774F5B7409}"/>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20</a:t>
            </a:r>
          </a:p>
        </p:txBody>
      </p:sp>
      <p:sp>
        <p:nvSpPr>
          <p:cNvPr id="4" name="Rectangle 3">
            <a:extLst>
              <a:ext uri="{FF2B5EF4-FFF2-40B4-BE49-F238E27FC236}">
                <a16:creationId xmlns:a16="http://schemas.microsoft.com/office/drawing/2014/main" id="{D33B02A9-30F2-4466-9FA9-69367E1B72DB}"/>
              </a:ext>
            </a:extLst>
          </p:cNvPr>
          <p:cNvSpPr>
            <a:spLocks noGrp="1"/>
          </p:cNvSpPr>
          <p:nvPr/>
        </p:nvSpPr>
        <p:spPr>
          <a:xfrm>
            <a:off x="609600" y="1323975"/>
            <a:ext cx="10972800" cy="447675"/>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Y = α + τZ + γBoy + δ(Z × Boy) + ε     Girls: τ. Boys: τ + δ. Difference: δ.</a:t>
            </a:r>
          </a:p>
        </p:txBody>
      </p:sp>
      <p:graphicFrame>
        <p:nvGraphicFramePr>
          <p:cNvPr id="10" name="Table 9"/>
          <p:cNvGraphicFramePr/>
          <p:nvPr/>
        </p:nvGraphicFramePr>
        <p:xfrm>
          <a:off x="609600" y="1828800"/>
          <a:ext cx="10972800" cy="4133850"/>
        </p:xfrm>
        <a:graphic>
          <a:graphicData uri="http://schemas.openxmlformats.org/drawingml/2006/table">
            <a:tbl>
              <a:tblPr/>
              <a:tblGrid>
                <a:gridCol w="314325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413385">
                <a:tc>
                  <a:txBody>
                    <a:bodyPr/>
                    <a:lstStyle/>
                    <a:p>
                      <a:r>
                        <a:rPr sz="1500" b="1">
                          <a:solidFill>
                            <a:srgbClr val="FFFFFF"/>
                          </a:solidFill>
                          <a:latin typeface="Arial"/>
                          <a:ea typeface="Arial"/>
                          <a:cs typeface="Arial"/>
                        </a:rPr>
                        <a:t>Outcome</a:t>
                      </a:r>
                    </a:p>
                  </a:txBody>
                  <a:tcPr marL="133350" marR="114300" marT="38100" marB="38100" anchor="ctr">
                    <a:solidFill>
                      <a:srgbClr val="122D45"/>
                    </a:solidFill>
                  </a:tcPr>
                </a:tc>
                <a:tc>
                  <a:txBody>
                    <a:bodyPr/>
                    <a:lstStyle/>
                    <a:p>
                      <a:r>
                        <a:rPr sz="1500" b="1">
                          <a:solidFill>
                            <a:srgbClr val="FFFFFF"/>
                          </a:solidFill>
                          <a:latin typeface="Arial"/>
                          <a:ea typeface="Arial"/>
                          <a:cs typeface="Arial"/>
                        </a:rPr>
                        <a:t>Girls effect (p)</a:t>
                      </a:r>
                    </a:p>
                  </a:txBody>
                  <a:tcPr marL="133350" marR="114300" marT="38100" marB="38100" anchor="ctr">
                    <a:solidFill>
                      <a:srgbClr val="122D45"/>
                    </a:solidFill>
                  </a:tcPr>
                </a:tc>
                <a:tc>
                  <a:txBody>
                    <a:bodyPr/>
                    <a:lstStyle/>
                    <a:p>
                      <a:r>
                        <a:rPr sz="1500" b="1">
                          <a:solidFill>
                            <a:srgbClr val="FFFFFF"/>
                          </a:solidFill>
                          <a:latin typeface="Arial"/>
                          <a:ea typeface="Arial"/>
                          <a:cs typeface="Arial"/>
                        </a:rPr>
                        <a:t>Boys effect (p)</a:t>
                      </a:r>
                    </a:p>
                  </a:txBody>
                  <a:tcPr marL="133350" marR="114300" marT="38100" marB="38100" anchor="ctr">
                    <a:solidFill>
                      <a:srgbClr val="122D45"/>
                    </a:solidFill>
                  </a:tcPr>
                </a:tc>
                <a:tc>
                  <a:txBody>
                    <a:bodyPr/>
                    <a:lstStyle/>
                    <a:p>
                      <a:r>
                        <a:rPr sz="1500" b="1">
                          <a:solidFill>
                            <a:srgbClr val="FFFFFF"/>
                          </a:solidFill>
                          <a:latin typeface="Arial"/>
                          <a:ea typeface="Arial"/>
                          <a:cs typeface="Arial"/>
                        </a:rPr>
                        <a:t>Difference p</a:t>
                      </a:r>
                    </a:p>
                  </a:txBody>
                  <a:tcPr marL="133350" marR="114300" marT="38100" marB="38100" anchor="ctr">
                    <a:solidFill>
                      <a:srgbClr val="122D45"/>
                    </a:solidFill>
                  </a:tcPr>
                </a:tc>
                <a:tc>
                  <a:txBody>
                    <a:bodyPr/>
                    <a:lstStyle/>
                    <a:p>
                      <a:r>
                        <a:rPr sz="1500" b="1">
                          <a:solidFill>
                            <a:srgbClr val="FFFFFF"/>
                          </a:solidFill>
                          <a:latin typeface="Arial"/>
                          <a:ea typeface="Arial"/>
                          <a:cs typeface="Arial"/>
                        </a:rPr>
                        <a:t>Holm p</a:t>
                      </a:r>
                    </a:p>
                  </a:txBody>
                  <a:tcPr marL="133350" marR="114300" marT="38100" marB="38100" anchor="ctr">
                    <a:solidFill>
                      <a:srgbClr val="122D45"/>
                    </a:solidFill>
                  </a:tcPr>
                </a:tc>
                <a:extLst>
                  <a:ext uri="{0D108BD9-81ED-4DB2-BD59-A6C34878D82A}">
                    <a16:rowId xmlns:a16="http://schemas.microsoft.com/office/drawing/2014/main" val="10000"/>
                  </a:ext>
                </a:extLst>
              </a:tr>
              <a:tr h="413385">
                <a:tc>
                  <a:txBody>
                    <a:bodyPr/>
                    <a:lstStyle/>
                    <a:p>
                      <a:r>
                        <a:rPr sz="1500">
                          <a:solidFill>
                            <a:srgbClr val="122D45"/>
                          </a:solidFill>
                          <a:latin typeface="Arial"/>
                          <a:ea typeface="Arial"/>
                          <a:cs typeface="Arial"/>
                        </a:rPr>
                        <a:t>School years completed</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+0.174 (p=0.014)</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+0.013 (p=0.876)</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0.140</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0.702</a:t>
                      </a:r>
                    </a:p>
                  </a:txBody>
                  <a:tcPr marL="133350" marR="114300" marT="38100" marB="38100" anchor="ctr">
                    <a:solidFill>
                      <a:srgbClr val="FFFFFF"/>
                    </a:solidFill>
                  </a:tcPr>
                </a:tc>
                <a:extLst>
                  <a:ext uri="{0D108BD9-81ED-4DB2-BD59-A6C34878D82A}">
                    <a16:rowId xmlns:a16="http://schemas.microsoft.com/office/drawing/2014/main" val="10001"/>
                  </a:ext>
                </a:extLst>
              </a:tr>
              <a:tr h="413385">
                <a:tc>
                  <a:txBody>
                    <a:bodyPr/>
                    <a:lstStyle/>
                    <a:p>
                      <a:r>
                        <a:rPr sz="1500">
                          <a:solidFill>
                            <a:srgbClr val="122D45"/>
                          </a:solidFill>
                          <a:latin typeface="Arial"/>
                          <a:ea typeface="Arial"/>
                          <a:cs typeface="Arial"/>
                        </a:rPr>
                        <a:t>Married or cohabiting</a:t>
                      </a:r>
                    </a:p>
                  </a:txBody>
                  <a:tcPr marL="133350" marR="114300" marT="38100" marB="38100" anchor="ctr">
                    <a:solidFill>
                      <a:srgbClr val="F0F4F6"/>
                    </a:solidFill>
                  </a:tcPr>
                </a:tc>
                <a:tc>
                  <a:txBody>
                    <a:bodyPr/>
                    <a:lstStyle/>
                    <a:p>
                      <a:r>
                        <a:rPr sz="1500">
                          <a:solidFill>
                            <a:srgbClr val="122D45"/>
                          </a:solidFill>
                          <a:latin typeface="Arial"/>
                          <a:ea typeface="Arial"/>
                          <a:cs typeface="Arial"/>
                        </a:rPr>
                        <a:t>−1.4 (p=0.275)</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−0.3 (p=0.318)</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0.430</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0.860</a:t>
                      </a:r>
                    </a:p>
                  </a:txBody>
                  <a:tcPr marL="133350" marR="114300" marT="38100" marB="38100" anchor="ctr">
                    <a:solidFill>
                      <a:srgbClr val="F0F4F6"/>
                    </a:solidFill>
                  </a:tcPr>
                </a:tc>
                <a:extLst>
                  <a:ext uri="{0D108BD9-81ED-4DB2-BD59-A6C34878D82A}">
                    <a16:rowId xmlns:a16="http://schemas.microsoft.com/office/drawing/2014/main" val="10002"/>
                  </a:ext>
                </a:extLst>
              </a:tr>
              <a:tr h="413385">
                <a:tc>
                  <a:txBody>
                    <a:bodyPr/>
                    <a:lstStyle/>
                    <a:p>
                      <a:r>
                        <a:rPr sz="1500">
                          <a:solidFill>
                            <a:srgbClr val="122D45"/>
                          </a:solidFill>
                          <a:latin typeface="Arial"/>
                          <a:ea typeface="Arial"/>
                          <a:cs typeface="Arial"/>
                        </a:rPr>
                        <a:t>Has a child</a:t>
                      </a:r>
                    </a:p>
                  </a:txBody>
                  <a:tcPr marL="133350" marR="114300" marT="38100" marB="38100" anchor="ctr">
                    <a:solidFill>
                      <a:srgbClr val="FFFFFF"/>
                    </a:solidFill>
                  </a:tcPr>
                </a:tc>
                <a:tc>
                  <a:txBody>
                    <a:bodyPr/>
                    <a:lstStyle/>
                    <a:p>
                      <a:r>
                        <a:rPr sz="1500">
                          <a:solidFill>
                            <a:srgbClr val="122D45"/>
                          </a:solidFill>
                          <a:latin typeface="Arial"/>
                          <a:ea typeface="Arial"/>
                          <a:cs typeface="Arial"/>
                        </a:rPr>
                        <a:t>−2.4 (p=0.190)</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0.0 (p=0.970)</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0.224</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0.724</a:t>
                      </a:r>
                    </a:p>
                  </a:txBody>
                  <a:tcPr marL="133350" marR="114300" marT="38100" marB="38100" anchor="ctr">
                    <a:solidFill>
                      <a:srgbClr val="FFFFFF"/>
                    </a:solidFill>
                  </a:tcPr>
                </a:tc>
                <a:extLst>
                  <a:ext uri="{0D108BD9-81ED-4DB2-BD59-A6C34878D82A}">
                    <a16:rowId xmlns:a16="http://schemas.microsoft.com/office/drawing/2014/main" val="10003"/>
                  </a:ext>
                </a:extLst>
              </a:tr>
              <a:tr h="413385">
                <a:tc>
                  <a:txBody>
                    <a:bodyPr/>
                    <a:lstStyle/>
                    <a:p>
                      <a:r>
                        <a:rPr sz="1500">
                          <a:solidFill>
                            <a:srgbClr val="122D45"/>
                          </a:solidFill>
                          <a:latin typeface="Arial"/>
                          <a:ea typeface="Arial"/>
                          <a:cs typeface="Arial"/>
                        </a:rPr>
                        <a:t>Doing paid work</a:t>
                      </a:r>
                    </a:p>
                  </a:txBody>
                  <a:tcPr marL="133350" marR="114300" marT="38100" marB="38100" anchor="ctr">
                    <a:solidFill>
                      <a:srgbClr val="F0F4F6"/>
                    </a:solidFill>
                  </a:tcPr>
                </a:tc>
                <a:tc>
                  <a:txBody>
                    <a:bodyPr/>
                    <a:lstStyle/>
                    <a:p>
                      <a:r>
                        <a:rPr sz="1500">
                          <a:solidFill>
                            <a:srgbClr val="122D45"/>
                          </a:solidFill>
                          <a:latin typeface="Arial"/>
                          <a:ea typeface="Arial"/>
                          <a:cs typeface="Arial"/>
                        </a:rPr>
                        <a:t>−3.9 (p=0.110)</a:t>
                      </a:r>
                    </a:p>
                  </a:txBody>
                  <a:tcPr marL="133350" marR="114300" marT="38100" marB="38100" anchor="ctr">
                    <a:solidFill>
                      <a:srgbClr val="F0F4F6"/>
                    </a:solidFill>
                  </a:tcPr>
                </a:tc>
                <a:tc>
                  <a:txBody>
                    <a:bodyPr/>
                    <a:lstStyle/>
                    <a:p>
                      <a:r>
                        <a:rPr sz="1500">
                          <a:solidFill>
                            <a:srgbClr val="122D45"/>
                          </a:solidFill>
                          <a:latin typeface="Arial"/>
                          <a:ea typeface="Arial"/>
                          <a:cs typeface="Arial"/>
                        </a:rPr>
                        <a:t>−4.6 (p=0.197)</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0.865</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0.865</a:t>
                      </a:r>
                    </a:p>
                  </a:txBody>
                  <a:tcPr marL="133350" marR="114300" marT="38100" marB="38100" anchor="ctr">
                    <a:solidFill>
                      <a:srgbClr val="F0F4F6"/>
                    </a:solidFill>
                  </a:tcPr>
                </a:tc>
                <a:extLst>
                  <a:ext uri="{0D108BD9-81ED-4DB2-BD59-A6C34878D82A}">
                    <a16:rowId xmlns:a16="http://schemas.microsoft.com/office/drawing/2014/main" val="10004"/>
                  </a:ext>
                </a:extLst>
              </a:tr>
              <a:tr h="413385">
                <a:tc>
                  <a:txBody>
                    <a:bodyPr/>
                    <a:lstStyle/>
                    <a:p>
                      <a:r>
                        <a:rPr sz="1500">
                          <a:solidFill>
                            <a:srgbClr val="122D45"/>
                          </a:solidFill>
                          <a:latin typeface="Arial"/>
                          <a:ea typeface="Arial"/>
                          <a:cs typeface="Arial"/>
                        </a:rPr>
                        <a:t>Weekly hours worked</a:t>
                      </a:r>
                    </a:p>
                  </a:txBody>
                  <a:tcPr marL="133350" marR="114300" marT="38100" marB="38100" anchor="ctr">
                    <a:solidFill>
                      <a:srgbClr val="FFFFFF"/>
                    </a:solidFill>
                  </a:tcPr>
                </a:tc>
                <a:tc>
                  <a:txBody>
                    <a:bodyPr/>
                    <a:lstStyle/>
                    <a:p>
                      <a:r>
                        <a:rPr sz="1500">
                          <a:solidFill>
                            <a:srgbClr val="122D45"/>
                          </a:solidFill>
                          <a:latin typeface="Arial"/>
                          <a:ea typeface="Arial"/>
                          <a:cs typeface="Arial"/>
                        </a:rPr>
                        <a:t>−2.36 (p&lt;.001)</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−0.62 (p=0.580)</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0.181</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0.724</a:t>
                      </a:r>
                    </a:p>
                  </a:txBody>
                  <a:tcPr marL="133350" marR="114300" marT="38100" marB="38100" anchor="ctr">
                    <a:solidFill>
                      <a:srgbClr val="FFFFFF"/>
                    </a:solidFill>
                  </a:tcPr>
                </a:tc>
                <a:extLst>
                  <a:ext uri="{0D108BD9-81ED-4DB2-BD59-A6C34878D82A}">
                    <a16:rowId xmlns:a16="http://schemas.microsoft.com/office/drawing/2014/main" val="10005"/>
                  </a:ext>
                </a:extLst>
              </a:tr>
              <a:tr h="413385">
                <a:tc>
                  <a:txBody>
                    <a:bodyPr/>
                    <a:lstStyle/>
                    <a:p>
                      <a:r>
                        <a:rPr sz="1500">
                          <a:solidFill>
                            <a:srgbClr val="122D45"/>
                          </a:solidFill>
                          <a:latin typeface="Arial"/>
                          <a:ea typeface="Arial"/>
                          <a:cs typeface="Arial"/>
                        </a:rPr>
                        <a:t>Enrolled in any school</a:t>
                      </a:r>
                    </a:p>
                  </a:txBody>
                  <a:tcPr marL="133350" marR="114300" marT="38100" marB="38100" anchor="ctr">
                    <a:solidFill>
                      <a:srgbClr val="F0F4F6"/>
                    </a:solidFill>
                  </a:tcPr>
                </a:tc>
                <a:tc>
                  <a:txBody>
                    <a:bodyPr/>
                    <a:lstStyle/>
                    <a:p>
                      <a:r>
                        <a:rPr sz="1500">
                          <a:solidFill>
                            <a:srgbClr val="122D45"/>
                          </a:solidFill>
                          <a:latin typeface="Arial"/>
                          <a:ea typeface="Arial"/>
                          <a:cs typeface="Arial"/>
                        </a:rPr>
                        <a:t>+6.4 (p=0.033)</a:t>
                      </a:r>
                    </a:p>
                  </a:txBody>
                  <a:tcPr marL="133350" marR="114300" marT="38100" marB="38100" anchor="ctr">
                    <a:solidFill>
                      <a:srgbClr val="F0F4F6"/>
                    </a:solidFill>
                  </a:tcPr>
                </a:tc>
                <a:tc>
                  <a:txBody>
                    <a:bodyPr/>
                    <a:lstStyle/>
                    <a:p>
                      <a:r>
                        <a:rPr sz="1500">
                          <a:solidFill>
                            <a:srgbClr val="122D45"/>
                          </a:solidFill>
                          <a:latin typeface="Arial"/>
                          <a:ea typeface="Arial"/>
                          <a:cs typeface="Arial"/>
                        </a:rPr>
                        <a:t>−2.2 (p=0.484)</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0.048</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0.192</a:t>
                      </a:r>
                    </a:p>
                  </a:txBody>
                  <a:tcPr marL="133350" marR="114300" marT="38100" marB="38100" anchor="ctr">
                    <a:solidFill>
                      <a:srgbClr val="F0F4F6"/>
                    </a:solidFill>
                  </a:tcPr>
                </a:tc>
                <a:extLst>
                  <a:ext uri="{0D108BD9-81ED-4DB2-BD59-A6C34878D82A}">
                    <a16:rowId xmlns:a16="http://schemas.microsoft.com/office/drawing/2014/main" val="10006"/>
                  </a:ext>
                </a:extLst>
              </a:tr>
              <a:tr h="413385">
                <a:tc>
                  <a:txBody>
                    <a:bodyPr/>
                    <a:lstStyle/>
                    <a:p>
                      <a:r>
                        <a:rPr sz="1500">
                          <a:solidFill>
                            <a:srgbClr val="122D45"/>
                          </a:solidFill>
                          <a:latin typeface="Arial"/>
                          <a:ea typeface="Arial"/>
                          <a:cs typeface="Arial"/>
                        </a:rPr>
                        <a:t>Attending private school</a:t>
                      </a:r>
                    </a:p>
                  </a:txBody>
                  <a:tcPr marL="133350" marR="114300" marT="38100" marB="38100" anchor="ctr">
                    <a:solidFill>
                      <a:srgbClr val="FFFFFF"/>
                    </a:solidFill>
                  </a:tcPr>
                </a:tc>
                <a:tc>
                  <a:txBody>
                    <a:bodyPr/>
                    <a:lstStyle/>
                    <a:p>
                      <a:r>
                        <a:rPr sz="1500">
                          <a:solidFill>
                            <a:srgbClr val="122D45"/>
                          </a:solidFill>
                          <a:latin typeface="Arial"/>
                          <a:ea typeface="Arial"/>
                          <a:cs typeface="Arial"/>
                        </a:rPr>
                        <a:t>+18.4 (p&lt;.001)</a:t>
                      </a:r>
                    </a:p>
                  </a:txBody>
                  <a:tcPr marL="133350" marR="114300" marT="38100" marB="38100" anchor="ctr">
                    <a:solidFill>
                      <a:srgbClr val="FFFFFF"/>
                    </a:solidFill>
                  </a:tcPr>
                </a:tc>
                <a:tc>
                  <a:txBody>
                    <a:bodyPr/>
                    <a:lstStyle/>
                    <a:p>
                      <a:r>
                        <a:rPr sz="1500">
                          <a:solidFill>
                            <a:srgbClr val="122D45"/>
                          </a:solidFill>
                          <a:latin typeface="Arial"/>
                          <a:ea typeface="Arial"/>
                          <a:cs typeface="Arial"/>
                        </a:rPr>
                        <a:t>+13.5 (p&lt;.001)</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0.387</a:t>
                      </a:r>
                    </a:p>
                  </a:txBody>
                  <a:tcPr marL="133350" marR="114300" marT="38100" marB="38100" anchor="ctr">
                    <a:solidFill>
                      <a:srgbClr val="FFFFFF"/>
                    </a:solidFill>
                  </a:tcPr>
                </a:tc>
                <a:tc>
                  <a:txBody>
                    <a:bodyPr/>
                    <a:lstStyle/>
                    <a:p>
                      <a:r>
                        <a:rPr sz="1500">
                          <a:solidFill>
                            <a:srgbClr val="122D45"/>
                          </a:solidFill>
                          <a:latin typeface="Arial"/>
                          <a:ea typeface="Arial"/>
                          <a:cs typeface="Arial"/>
                        </a:rPr>
                        <a:t>1.000</a:t>
                      </a:r>
                    </a:p>
                  </a:txBody>
                  <a:tcPr marL="133350" marR="114300" marT="38100" marB="38100" anchor="ctr">
                    <a:solidFill>
                      <a:srgbClr val="FFFFFF"/>
                    </a:solidFill>
                  </a:tcPr>
                </a:tc>
                <a:extLst>
                  <a:ext uri="{0D108BD9-81ED-4DB2-BD59-A6C34878D82A}">
                    <a16:rowId xmlns:a16="http://schemas.microsoft.com/office/drawing/2014/main" val="10007"/>
                  </a:ext>
                </a:extLst>
              </a:tr>
              <a:tr h="413385">
                <a:tc>
                  <a:txBody>
                    <a:bodyPr/>
                    <a:lstStyle/>
                    <a:p>
                      <a:r>
                        <a:rPr sz="1500">
                          <a:solidFill>
                            <a:srgbClr val="122D45"/>
                          </a:solidFill>
                          <a:latin typeface="Arial"/>
                          <a:ea typeface="Arial"/>
                          <a:cs typeface="Arial"/>
                        </a:rPr>
                        <a:t>Highest grade completed</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+0.206 (p=0.004)</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+0.170 (p=0.042)</a:t>
                      </a:r>
                    </a:p>
                  </a:txBody>
                  <a:tcPr marL="133350" marR="114300" marT="38100" marB="38100" anchor="ctr">
                    <a:solidFill>
                      <a:srgbClr val="F0F4F6"/>
                    </a:solidFill>
                  </a:tcPr>
                </a:tc>
                <a:tc>
                  <a:txBody>
                    <a:bodyPr/>
                    <a:lstStyle/>
                    <a:p>
                      <a:r>
                        <a:rPr sz="1500">
                          <a:solidFill>
                            <a:srgbClr val="122D45"/>
                          </a:solidFill>
                          <a:latin typeface="Arial"/>
                          <a:ea typeface="Arial"/>
                          <a:cs typeface="Arial"/>
                        </a:rPr>
                        <a:t>0.744</a:t>
                      </a:r>
                    </a:p>
                  </a:txBody>
                  <a:tcPr marL="133350" marR="114300" marT="38100" marB="38100" anchor="ctr">
                    <a:solidFill>
                      <a:srgbClr val="F0F4F6"/>
                    </a:solidFill>
                  </a:tcPr>
                </a:tc>
                <a:tc>
                  <a:txBody>
                    <a:bodyPr/>
                    <a:lstStyle/>
                    <a:p>
                      <a:r>
                        <a:rPr sz="1500">
                          <a:solidFill>
                            <a:srgbClr val="122D45"/>
                          </a:solidFill>
                          <a:latin typeface="Arial"/>
                          <a:ea typeface="Arial"/>
                          <a:cs typeface="Arial"/>
                        </a:rPr>
                        <a:t>1.000</a:t>
                      </a:r>
                    </a:p>
                  </a:txBody>
                  <a:tcPr marL="133350" marR="114300" marT="38100" marB="38100" anchor="ctr">
                    <a:solidFill>
                      <a:srgbClr val="F0F4F6"/>
                    </a:solidFill>
                  </a:tcPr>
                </a:tc>
                <a:extLst>
                  <a:ext uri="{0D108BD9-81ED-4DB2-BD59-A6C34878D82A}">
                    <a16:rowId xmlns:a16="http://schemas.microsoft.com/office/drawing/2014/main" val="10008"/>
                  </a:ext>
                </a:extLst>
              </a:tr>
              <a:tr h="413385">
                <a:tc>
                  <a:txBody>
                    <a:bodyPr/>
                    <a:lstStyle/>
                    <a:p>
                      <a:r>
                        <a:rPr sz="1500">
                          <a:solidFill>
                            <a:srgbClr val="122D45"/>
                          </a:solidFill>
                          <a:latin typeface="Arial"/>
                          <a:ea typeface="Arial"/>
                          <a:cs typeface="Arial"/>
                        </a:rPr>
                        <a:t>Grade repetitions</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−0.040 (p=0.264)</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−0.090 (p=0.032)</a:t>
                      </a:r>
                    </a:p>
                  </a:txBody>
                  <a:tcPr marL="133350" marR="114300" marT="38100" marB="38100" anchor="ctr">
                    <a:solidFill>
                      <a:srgbClr val="FFFFFF"/>
                    </a:solidFill>
                  </a:tcPr>
                </a:tc>
                <a:tc>
                  <a:txBody>
                    <a:bodyPr/>
                    <a:lstStyle/>
                    <a:p>
                      <a:r>
                        <a:rPr sz="1500">
                          <a:solidFill>
                            <a:srgbClr val="122D45"/>
                          </a:solidFill>
                          <a:latin typeface="Arial"/>
                          <a:ea typeface="Arial"/>
                          <a:cs typeface="Arial"/>
                        </a:rPr>
                        <a:t>0.356</a:t>
                      </a:r>
                    </a:p>
                  </a:txBody>
                  <a:tcPr marL="133350" marR="114300" marT="38100" marB="38100" anchor="ctr">
                    <a:solidFill>
                      <a:srgbClr val="FFFFFF"/>
                    </a:solidFill>
                  </a:tcPr>
                </a:tc>
                <a:tc>
                  <a:txBody>
                    <a:bodyPr/>
                    <a:lstStyle/>
                    <a:p>
                      <a:r>
                        <a:rPr sz="1500">
                          <a:solidFill>
                            <a:srgbClr val="122D45"/>
                          </a:solidFill>
                          <a:latin typeface="Arial"/>
                          <a:ea typeface="Arial"/>
                          <a:cs typeface="Arial"/>
                        </a:rPr>
                        <a:t>1.000</a:t>
                      </a:r>
                    </a:p>
                  </a:txBody>
                  <a:tcPr marL="133350" marR="114300" marT="38100" marB="38100"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370032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E874B4-F08C-4421-9CD9-04E2215C9A77}"/>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6: estimation and assignment checks</a:t>
            </a:r>
          </a:p>
        </p:txBody>
      </p:sp>
      <p:sp>
        <p:nvSpPr>
          <p:cNvPr id="2" name="Rectangle 1">
            <a:extLst>
              <a:ext uri="{FF2B5EF4-FFF2-40B4-BE49-F238E27FC236}">
                <a16:creationId xmlns:a16="http://schemas.microsoft.com/office/drawing/2014/main" id="{E96A0CBA-A140-40C7-8C9A-83DBB250349D}"/>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Applicant is the unit of observation. Estimates use the cohort-specific lottery comparison.</a:t>
            </a:r>
          </a:p>
        </p:txBody>
      </p:sp>
      <p:sp>
        <p:nvSpPr>
          <p:cNvPr id="3" name="Rectangle 2">
            <a:extLst>
              <a:ext uri="{FF2B5EF4-FFF2-40B4-BE49-F238E27FC236}">
                <a16:creationId xmlns:a16="http://schemas.microsoft.com/office/drawing/2014/main" id="{128A99C3-E2B7-4D0B-AAFC-2488B7C73872}"/>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21</a:t>
            </a:r>
          </a:p>
        </p:txBody>
      </p:sp>
      <p:graphicFrame>
        <p:nvGraphicFramePr>
          <p:cNvPr id="10" name="Table 9"/>
          <p:cNvGraphicFramePr/>
          <p:nvPr/>
        </p:nvGraphicFramePr>
        <p:xfrm>
          <a:off x="609600" y="1457325"/>
          <a:ext cx="10972800" cy="2922270"/>
        </p:xfrm>
        <a:graphic>
          <a:graphicData uri="http://schemas.openxmlformats.org/drawingml/2006/table">
            <a:tbl>
              <a:tblPr/>
              <a:tblGrid>
                <a:gridCol w="2095500">
                  <a:extLst>
                    <a:ext uri="{9D8B030D-6E8A-4147-A177-3AD203B41FA5}">
                      <a16:colId xmlns:a16="http://schemas.microsoft.com/office/drawing/2014/main" val="20000"/>
                    </a:ext>
                  </a:extLst>
                </a:gridCol>
                <a:gridCol w="4438650">
                  <a:extLst>
                    <a:ext uri="{9D8B030D-6E8A-4147-A177-3AD203B41FA5}">
                      <a16:colId xmlns:a16="http://schemas.microsoft.com/office/drawing/2014/main" val="20001"/>
                    </a:ext>
                  </a:extLst>
                </a:gridCol>
                <a:gridCol w="4438650">
                  <a:extLst>
                    <a:ext uri="{9D8B030D-6E8A-4147-A177-3AD203B41FA5}">
                      <a16:colId xmlns:a16="http://schemas.microsoft.com/office/drawing/2014/main" val="20002"/>
                    </a:ext>
                  </a:extLst>
                </a:gridCol>
              </a:tblGrid>
              <a:tr h="704850">
                <a:tc>
                  <a:txBody>
                    <a:bodyPr/>
                    <a:lstStyle/>
                    <a:p>
                      <a:r>
                        <a:rPr sz="1800" b="1">
                          <a:solidFill>
                            <a:srgbClr val="FFFFFF"/>
                          </a:solidFill>
                          <a:latin typeface="Arial"/>
                          <a:ea typeface="Arial"/>
                          <a:cs typeface="Arial"/>
                        </a:rPr>
                        <a:t>Component</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Policy offer effect</a:t>
                      </a:r>
                    </a:p>
                  </a:txBody>
                  <a:tcPr marL="133350" marR="114300" marT="95250" marB="95250" anchor="ctr">
                    <a:solidFill>
                      <a:srgbClr val="122D45"/>
                    </a:solidFill>
                  </a:tcPr>
                </a:tc>
                <a:tc>
                  <a:txBody>
                    <a:bodyPr/>
                    <a:lstStyle/>
                    <a:p>
                      <a:r>
                        <a:rPr sz="1800" b="1">
                          <a:solidFill>
                            <a:srgbClr val="FFFFFF"/>
                          </a:solidFill>
                          <a:latin typeface="Arial"/>
                          <a:ea typeface="Arial"/>
                          <a:cs typeface="Arial"/>
                        </a:rPr>
                        <a:t>Private-school IV</a:t>
                      </a:r>
                    </a:p>
                  </a:txBody>
                  <a:tcPr marL="133350" marR="114300" marT="95250" marB="95250" anchor="ctr">
                    <a:solidFill>
                      <a:srgbClr val="122D45"/>
                    </a:solidFill>
                  </a:tcPr>
                </a:tc>
                <a:extLst>
                  <a:ext uri="{0D108BD9-81ED-4DB2-BD59-A6C34878D82A}">
                    <a16:rowId xmlns:a16="http://schemas.microsoft.com/office/drawing/2014/main" val="10000"/>
                  </a:ext>
                </a:extLst>
              </a:tr>
              <a:tr h="704850">
                <a:tc>
                  <a:txBody>
                    <a:bodyPr/>
                    <a:lstStyle/>
                    <a:p>
                      <a:r>
                        <a:rPr sz="1800">
                          <a:solidFill>
                            <a:srgbClr val="122D45"/>
                          </a:solidFill>
                          <a:latin typeface="Arial"/>
                          <a:ea typeface="Arial"/>
                          <a:cs typeface="Arial"/>
                        </a:rPr>
                        <a:t>Estimand</a:t>
                      </a:r>
                    </a:p>
                  </a:txBody>
                  <a:tcPr marL="133350" marR="114300" marT="95250" marB="95250" anchor="ctr">
                    <a:solidFill>
                      <a:srgbClr val="FFFFFF"/>
                    </a:solidFill>
                  </a:tcPr>
                </a:tc>
                <a:tc>
                  <a:txBody>
                    <a:bodyPr/>
                    <a:lstStyle/>
                    <a:p>
                      <a:r>
                        <a:rPr sz="1800">
                          <a:solidFill>
                            <a:srgbClr val="122D45"/>
                          </a:solidFill>
                          <a:latin typeface="Arial"/>
                          <a:ea typeface="Arial"/>
                          <a:cs typeface="Arial"/>
                        </a:rPr>
                        <a:t>Mean selected minus mean unselected</a:t>
                      </a:r>
                    </a:p>
                  </a:txBody>
                  <a:tcPr marL="133350" marR="114300" marT="95250" marB="95250" anchor="ctr">
                    <a:solidFill>
                      <a:srgbClr val="FFFFFF"/>
                    </a:solidFill>
                  </a:tcPr>
                </a:tc>
                <a:tc>
                  <a:txBody>
                    <a:bodyPr/>
                    <a:lstStyle/>
                    <a:p>
                      <a:r>
                        <a:rPr sz="1800">
                          <a:solidFill>
                            <a:srgbClr val="122D45"/>
                          </a:solidFill>
                          <a:latin typeface="Arial"/>
                          <a:ea typeface="Arial"/>
                          <a:cs typeface="Arial"/>
                        </a:rPr>
                        <a:t>Outcome offer effect / private-school offer effect</a:t>
                      </a:r>
                    </a:p>
                  </a:txBody>
                  <a:tcPr marL="133350" marR="114300" marT="95250" marB="9525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122D45"/>
                          </a:solidFill>
                          <a:latin typeface="Arial"/>
                          <a:ea typeface="Arial"/>
                          <a:cs typeface="Arial"/>
                        </a:rPr>
                        <a:t>Sample</a:t>
                      </a:r>
                    </a:p>
                  </a:txBody>
                  <a:tcPr marL="133350" marR="114300" marT="95250" marB="95250" anchor="ctr">
                    <a:solidFill>
                      <a:srgbClr val="F0F4F6"/>
                    </a:solidFill>
                  </a:tcPr>
                </a:tc>
                <a:tc>
                  <a:txBody>
                    <a:bodyPr/>
                    <a:lstStyle/>
                    <a:p>
                      <a:r>
                        <a:rPr sz="1800">
                          <a:solidFill>
                            <a:srgbClr val="122D45"/>
                          </a:solidFill>
                          <a:latin typeface="Arial"/>
                          <a:ea typeface="Arial"/>
                          <a:cs typeface="Arial"/>
                        </a:rPr>
                        <a:t>Observed Y and selection</a:t>
                      </a:r>
                    </a:p>
                  </a:txBody>
                  <a:tcPr marL="133350" marR="114300" marT="95250" marB="95250" anchor="ctr">
                    <a:solidFill>
                      <a:srgbClr val="F0F4F6"/>
                    </a:solidFill>
                  </a:tcPr>
                </a:tc>
                <a:tc>
                  <a:txBody>
                    <a:bodyPr/>
                    <a:lstStyle/>
                    <a:p>
                      <a:r>
                        <a:rPr sz="1800">
                          <a:solidFill>
                            <a:srgbClr val="122D45"/>
                          </a:solidFill>
                          <a:latin typeface="Arial"/>
                          <a:ea typeface="Arial"/>
                          <a:cs typeface="Arial"/>
                        </a:rPr>
                        <a:t>Same observed Y, D and selection in both stages</a:t>
                      </a:r>
                    </a:p>
                  </a:txBody>
                  <a:tcPr marL="133350" marR="114300" marT="95250" marB="95250" anchor="ctr">
                    <a:solidFill>
                      <a:srgbClr val="F0F4F6"/>
                    </a:solidFill>
                  </a:tcPr>
                </a:tc>
                <a:extLst>
                  <a:ext uri="{0D108BD9-81ED-4DB2-BD59-A6C34878D82A}">
                    <a16:rowId xmlns:a16="http://schemas.microsoft.com/office/drawing/2014/main" val="10002"/>
                  </a:ext>
                </a:extLst>
              </a:tr>
              <a:tr h="704850">
                <a:tc>
                  <a:txBody>
                    <a:bodyPr/>
                    <a:lstStyle/>
                    <a:p>
                      <a:r>
                        <a:rPr sz="1800">
                          <a:solidFill>
                            <a:srgbClr val="122D45"/>
                          </a:solidFill>
                          <a:latin typeface="Arial"/>
                          <a:ea typeface="Arial"/>
                          <a:cs typeface="Arial"/>
                        </a:rPr>
                        <a:t>Uncertainty</a:t>
                      </a:r>
                    </a:p>
                  </a:txBody>
                  <a:tcPr marL="133350" marR="114300" marT="95250" marB="95250" anchor="ctr">
                    <a:solidFill>
                      <a:srgbClr val="FFFFFF"/>
                    </a:solidFill>
                  </a:tcPr>
                </a:tc>
                <a:tc>
                  <a:txBody>
                    <a:bodyPr/>
                    <a:lstStyle/>
                    <a:p>
                      <a:r>
                        <a:rPr sz="1800">
                          <a:solidFill>
                            <a:srgbClr val="122D45"/>
                          </a:solidFill>
                          <a:latin typeface="Arial"/>
                          <a:ea typeface="Arial"/>
                          <a:cs typeface="Arial"/>
                        </a:rPr>
                        <a:t>HC2 standard errors, t intervals</a:t>
                      </a:r>
                    </a:p>
                  </a:txBody>
                  <a:tcPr marL="133350" marR="114300" marT="95250" marB="95250" anchor="ctr">
                    <a:solidFill>
                      <a:srgbClr val="FFFFFF"/>
                    </a:solidFill>
                  </a:tcPr>
                </a:tc>
                <a:tc>
                  <a:txBody>
                    <a:bodyPr/>
                    <a:lstStyle/>
                    <a:p>
                      <a:r>
                        <a:rPr sz="1800">
                          <a:solidFill>
                            <a:srgbClr val="122D45"/>
                          </a:solidFill>
                          <a:latin typeface="Arial"/>
                          <a:ea typeface="Arial"/>
                          <a:cs typeface="Arial"/>
                        </a:rPr>
                        <a:t>Joint RF/FS covariance and robust AR sets</a:t>
                      </a:r>
                    </a:p>
                  </a:txBody>
                  <a:tcPr marL="13335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ED06630E-7CE2-4EB2-BA2E-A8589D1C2BF3}"/>
              </a:ext>
            </a:extLst>
          </p:cNvPr>
          <p:cNvSpPr>
            <a:spLocks noGrp="1"/>
          </p:cNvSpPr>
          <p:nvPr/>
        </p:nvSpPr>
        <p:spPr>
          <a:xfrm>
            <a:off x="609600" y="4676775"/>
            <a:ext cx="10972800" cy="847725"/>
          </a:xfrm>
          <a:prstGeom prst="rect">
            <a:avLst/>
          </a:prstGeom>
          <a:noFill/>
          <a:ln w="0">
            <a:noFill/>
          </a:ln>
        </p:spPr>
        <p:txBody>
          <a:bodyPr anchor="ctr">
            <a:noAutofit/>
          </a:bodyPr>
          <a:lstStyle/>
          <a:p>
            <a:pPr>
              <a:defRPr sz="2175" b="1">
                <a:solidFill>
                  <a:srgbClr val="A56218"/>
                </a:solidFill>
                <a:latin typeface="Arial"/>
                <a:ea typeface="Arial"/>
                <a:cs typeface="Arial"/>
              </a:defRPr>
            </a:pPr>
            <a:r>
              <a:rPr sz="2175" b="1">
                <a:solidFill>
                  <a:srgbClr val="A56218"/>
                </a:solidFill>
                <a:latin typeface="Arial"/>
                <a:ea typeface="Arial"/>
                <a:cs typeface="Arial"/>
              </a:rPr>
              <a:t>Permutation balance p-values: A2020 0.604, A2022 .116 and B2018 .015. Baseline adjustment remains a check.</a:t>
            </a:r>
          </a:p>
        </p:txBody>
      </p:sp>
      <p:sp>
        <p:nvSpPr>
          <p:cNvPr id="6" name="Rectangle 5">
            <a:extLst>
              <a:ext uri="{FF2B5EF4-FFF2-40B4-BE49-F238E27FC236}">
                <a16:creationId xmlns:a16="http://schemas.microsoft.com/office/drawing/2014/main" id="{9F8959B2-9EF0-41E9-A949-392A76A9E6DB}"/>
              </a:ext>
            </a:extLst>
          </p:cNvPr>
          <p:cNvSpPr>
            <a:spLocks noGrp="1"/>
          </p:cNvSpPr>
          <p:nvPr/>
        </p:nvSpPr>
        <p:spPr>
          <a:xfrm>
            <a:off x="609600" y="5648325"/>
            <a:ext cx="10972800" cy="495300"/>
          </a:xfrm>
          <a:prstGeom prst="rect">
            <a:avLst/>
          </a:prstGeom>
          <a:noFill/>
          <a:ln w="0">
            <a:noFill/>
          </a:ln>
        </p:spPr>
        <p:txBody>
          <a:bodyPr anchor="ctr">
            <a:noAutofit/>
          </a:bodyPr>
          <a:lstStyle/>
          <a:p>
            <a:pPr>
              <a:defRPr sz="1725" b="0">
                <a:solidFill>
                  <a:srgbClr val="122D45"/>
                </a:solidFill>
                <a:latin typeface="Arial"/>
                <a:ea typeface="Arial"/>
                <a:cs typeface="Arial"/>
              </a:defRPr>
            </a:pPr>
            <a:r>
              <a:rPr sz="1725" b="0">
                <a:solidFill>
                  <a:srgbClr val="122D45"/>
                </a:solidFill>
                <a:latin typeface="Arial"/>
                <a:ea typeface="Arial"/>
                <a:cs typeface="Arial"/>
              </a:rPr>
              <a:t>Policy (five outcomes) and schooling (four outcomes) use separate multiple-testing families.</a:t>
            </a:r>
          </a:p>
        </p:txBody>
      </p:sp>
    </p:spTree>
    <p:extLst>
      <p:ext uri="{BB962C8B-B14F-4D97-AF65-F5344CB8AC3E}">
        <p14:creationId xmlns:p14="http://schemas.microsoft.com/office/powerpoint/2010/main" val="391300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C1E96F-A322-4A03-99D8-E04A8FAE806B}"/>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7: schooling effects by application age</a:t>
            </a:r>
          </a:p>
        </p:txBody>
      </p:sp>
      <p:sp>
        <p:nvSpPr>
          <p:cNvPr id="2" name="Rectangle 1">
            <a:extLst>
              <a:ext uri="{FF2B5EF4-FFF2-40B4-BE49-F238E27FC236}">
                <a16:creationId xmlns:a16="http://schemas.microsoft.com/office/drawing/2014/main" id="{1B10DB17-79BA-40F8-ADDC-CE385ECC4B9B}"/>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Each age cell: offer effect (raw HC2/t p), then 95% interval. Binary effects use pp.</a:t>
            </a:r>
          </a:p>
        </p:txBody>
      </p:sp>
      <p:sp>
        <p:nvSpPr>
          <p:cNvPr id="3" name="Rectangle 2">
            <a:extLst>
              <a:ext uri="{FF2B5EF4-FFF2-40B4-BE49-F238E27FC236}">
                <a16:creationId xmlns:a16="http://schemas.microsoft.com/office/drawing/2014/main" id="{92D4FC1B-5126-478D-A184-8F93A1B1B103}"/>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22</a:t>
            </a:r>
          </a:p>
        </p:txBody>
      </p:sp>
      <p:sp>
        <p:nvSpPr>
          <p:cNvPr id="4" name="Rectangle 3">
            <a:extLst>
              <a:ext uri="{FF2B5EF4-FFF2-40B4-BE49-F238E27FC236}">
                <a16:creationId xmlns:a16="http://schemas.microsoft.com/office/drawing/2014/main" id="{88236C5A-80B5-471F-96D9-7580796AD60C}"/>
              </a:ext>
            </a:extLst>
          </p:cNvPr>
          <p:cNvSpPr>
            <a:spLocks noGrp="1"/>
          </p:cNvSpPr>
          <p:nvPr/>
        </p:nvSpPr>
        <p:spPr>
          <a:xfrm>
            <a:off x="609600" y="1323975"/>
            <a:ext cx="10972800" cy="447675"/>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Within age group g: Y = α(g) + τ(g)Z + ε. Test equal τ(g) across the three groups.</a:t>
            </a:r>
          </a:p>
        </p:txBody>
      </p:sp>
      <p:graphicFrame>
        <p:nvGraphicFramePr>
          <p:cNvPr id="11" name="Table 10"/>
          <p:cNvGraphicFramePr/>
          <p:nvPr/>
        </p:nvGraphicFramePr>
        <p:xfrm>
          <a:off x="609600" y="1857375"/>
          <a:ext cx="10972800" cy="3105150"/>
        </p:xfrm>
        <a:graphic>
          <a:graphicData uri="http://schemas.openxmlformats.org/drawingml/2006/table">
            <a:tbl>
              <a:tblPr/>
              <a:tblGrid>
                <a:gridCol w="2667000">
                  <a:extLst>
                    <a:ext uri="{9D8B030D-6E8A-4147-A177-3AD203B41FA5}">
                      <a16:colId xmlns:a16="http://schemas.microsoft.com/office/drawing/2014/main" val="20000"/>
                    </a:ext>
                  </a:extLst>
                </a:gridCol>
                <a:gridCol w="2276475">
                  <a:extLst>
                    <a:ext uri="{9D8B030D-6E8A-4147-A177-3AD203B41FA5}">
                      <a16:colId xmlns:a16="http://schemas.microsoft.com/office/drawing/2014/main" val="20001"/>
                    </a:ext>
                  </a:extLst>
                </a:gridCol>
                <a:gridCol w="2276475">
                  <a:extLst>
                    <a:ext uri="{9D8B030D-6E8A-4147-A177-3AD203B41FA5}">
                      <a16:colId xmlns:a16="http://schemas.microsoft.com/office/drawing/2014/main" val="20002"/>
                    </a:ext>
                  </a:extLst>
                </a:gridCol>
                <a:gridCol w="2276475">
                  <a:extLst>
                    <a:ext uri="{9D8B030D-6E8A-4147-A177-3AD203B41FA5}">
                      <a16:colId xmlns:a16="http://schemas.microsoft.com/office/drawing/2014/main" val="20003"/>
                    </a:ext>
                  </a:extLst>
                </a:gridCol>
                <a:gridCol w="1476375">
                  <a:extLst>
                    <a:ext uri="{9D8B030D-6E8A-4147-A177-3AD203B41FA5}">
                      <a16:colId xmlns:a16="http://schemas.microsoft.com/office/drawing/2014/main" val="20004"/>
                    </a:ext>
                  </a:extLst>
                </a:gridCol>
              </a:tblGrid>
              <a:tr h="621030">
                <a:tc>
                  <a:txBody>
                    <a:bodyPr/>
                    <a:lstStyle/>
                    <a:p>
                      <a:r>
                        <a:rPr sz="1575" b="1">
                          <a:solidFill>
                            <a:srgbClr val="FFFFFF"/>
                          </a:solidFill>
                          <a:latin typeface="Arial"/>
                          <a:ea typeface="Arial"/>
                          <a:cs typeface="Arial"/>
                        </a:rPr>
                        <a:t>Outcome</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Ages 10–11</a:t>
                      </a:r>
                    </a:p>
                    <a:p>
                      <a:r>
                        <a:rPr sz="1575" b="1">
                          <a:solidFill>
                            <a:srgbClr val="FFFFFF"/>
                          </a:solidFill>
                          <a:latin typeface="Arial"/>
                          <a:ea typeface="Arial"/>
                          <a:cs typeface="Arial"/>
                        </a:rPr>
                        <a:t>Applicants = 215</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Ages 12–13</a:t>
                      </a:r>
                    </a:p>
                    <a:p>
                      <a:r>
                        <a:rPr sz="1575" b="1">
                          <a:solidFill>
                            <a:srgbClr val="FFFFFF"/>
                          </a:solidFill>
                          <a:latin typeface="Arial"/>
                          <a:ea typeface="Arial"/>
                          <a:cs typeface="Arial"/>
                        </a:rPr>
                        <a:t>Applicants = 634</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Ages 14–18</a:t>
                      </a:r>
                    </a:p>
                    <a:p>
                      <a:r>
                        <a:rPr sz="1575" b="1">
                          <a:solidFill>
                            <a:srgbClr val="FFFFFF"/>
                          </a:solidFill>
                          <a:latin typeface="Arial"/>
                          <a:ea typeface="Arial"/>
                          <a:cs typeface="Arial"/>
                        </a:rPr>
                        <a:t>Applicants = 271</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Equality p</a:t>
                      </a:r>
                    </a:p>
                  </a:txBody>
                  <a:tcPr marL="133350" marR="114300" marT="38100" marB="38100" anchor="ctr">
                    <a:solidFill>
                      <a:srgbClr val="122D45"/>
                    </a:solidFill>
                  </a:tcPr>
                </a:tc>
                <a:extLst>
                  <a:ext uri="{0D108BD9-81ED-4DB2-BD59-A6C34878D82A}">
                    <a16:rowId xmlns:a16="http://schemas.microsoft.com/office/drawing/2014/main" val="10000"/>
                  </a:ext>
                </a:extLst>
              </a:tr>
              <a:tr h="621030">
                <a:tc>
                  <a:txBody>
                    <a:bodyPr/>
                    <a:lstStyle/>
                    <a:p>
                      <a:r>
                        <a:rPr sz="1575">
                          <a:solidFill>
                            <a:srgbClr val="122D45"/>
                          </a:solidFill>
                          <a:latin typeface="Arial"/>
                          <a:ea typeface="Arial"/>
                          <a:cs typeface="Arial"/>
                        </a:rPr>
                        <a:t>Enrolled in any school</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−1.6 (p=0.479)</a:t>
                      </a:r>
                    </a:p>
                    <a:p>
                      <a:r>
                        <a:rPr sz="1575">
                          <a:solidFill>
                            <a:srgbClr val="122D45"/>
                          </a:solidFill>
                          <a:latin typeface="Arial"/>
                          <a:ea typeface="Arial"/>
                          <a:cs typeface="Arial"/>
                        </a:rPr>
                        <a:t>[−6.0, 2.8]</a:t>
                      </a:r>
                    </a:p>
                  </a:txBody>
                  <a:tcPr marL="133350" marR="114300" marT="38100" marB="38100" anchor="ctr">
                    <a:solidFill>
                      <a:srgbClr val="FFFFFF"/>
                    </a:solidFill>
                  </a:tcPr>
                </a:tc>
                <a:tc>
                  <a:txBody>
                    <a:bodyPr/>
                    <a:lstStyle/>
                    <a:p>
                      <a:r>
                        <a:rPr sz="1575">
                          <a:solidFill>
                            <a:srgbClr val="122D45"/>
                          </a:solidFill>
                          <a:latin typeface="Arial"/>
                          <a:ea typeface="Arial"/>
                          <a:cs typeface="Arial"/>
                        </a:rPr>
                        <a:t>+3.9 (p=0.124)</a:t>
                      </a:r>
                    </a:p>
                    <a:p>
                      <a:r>
                        <a:rPr sz="1575">
                          <a:solidFill>
                            <a:srgbClr val="122D45"/>
                          </a:solidFill>
                          <a:latin typeface="Arial"/>
                          <a:ea typeface="Arial"/>
                          <a:cs typeface="Arial"/>
                        </a:rPr>
                        <a:t>[−1.1, 8.8]</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+0.5 (p=0.937)</a:t>
                      </a:r>
                    </a:p>
                    <a:p>
                      <a:r>
                        <a:rPr sz="1575">
                          <a:solidFill>
                            <a:srgbClr val="122D45"/>
                          </a:solidFill>
                          <a:latin typeface="Arial"/>
                          <a:ea typeface="Arial"/>
                          <a:cs typeface="Arial"/>
                        </a:rPr>
                        <a:t>[−11.2, 12.2]</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0.267</a:t>
                      </a:r>
                    </a:p>
                  </a:txBody>
                  <a:tcPr marL="133350" marR="114300" marT="38100" marB="38100" anchor="ctr">
                    <a:solidFill>
                      <a:srgbClr val="FFFFFF"/>
                    </a:solidFill>
                  </a:tcPr>
                </a:tc>
                <a:extLst>
                  <a:ext uri="{0D108BD9-81ED-4DB2-BD59-A6C34878D82A}">
                    <a16:rowId xmlns:a16="http://schemas.microsoft.com/office/drawing/2014/main" val="10001"/>
                  </a:ext>
                </a:extLst>
              </a:tr>
              <a:tr h="621030">
                <a:tc>
                  <a:txBody>
                    <a:bodyPr/>
                    <a:lstStyle/>
                    <a:p>
                      <a:r>
                        <a:rPr sz="1575">
                          <a:solidFill>
                            <a:srgbClr val="122D45"/>
                          </a:solidFill>
                          <a:latin typeface="Arial"/>
                          <a:ea typeface="Arial"/>
                          <a:cs typeface="Arial"/>
                        </a:rPr>
                        <a:t>Attending private school</a:t>
                      </a:r>
                    </a:p>
                  </a:txBody>
                  <a:tcPr marL="133350" marR="114300" marT="38100" marB="38100" anchor="ctr">
                    <a:solidFill>
                      <a:srgbClr val="F0F4F6"/>
                    </a:solidFill>
                  </a:tcPr>
                </a:tc>
                <a:tc>
                  <a:txBody>
                    <a:bodyPr/>
                    <a:lstStyle/>
                    <a:p>
                      <a:r>
                        <a:rPr sz="1575">
                          <a:solidFill>
                            <a:srgbClr val="122D45"/>
                          </a:solidFill>
                          <a:latin typeface="Arial"/>
                          <a:ea typeface="Arial"/>
                          <a:cs typeface="Arial"/>
                        </a:rPr>
                        <a:t>+21.0 (p&lt;.001)</a:t>
                      </a:r>
                    </a:p>
                    <a:p>
                      <a:r>
                        <a:rPr sz="1575">
                          <a:solidFill>
                            <a:srgbClr val="122D45"/>
                          </a:solidFill>
                          <a:latin typeface="Arial"/>
                          <a:ea typeface="Arial"/>
                          <a:cs typeface="Arial"/>
                        </a:rPr>
                        <a:t>[9.3, 32.6]</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+15.8 (p&lt;.001)</a:t>
                      </a:r>
                    </a:p>
                    <a:p>
                      <a:r>
                        <a:rPr sz="1575">
                          <a:solidFill>
                            <a:srgbClr val="122D45"/>
                          </a:solidFill>
                          <a:latin typeface="Arial"/>
                          <a:ea typeface="Arial"/>
                          <a:cs typeface="Arial"/>
                        </a:rPr>
                        <a:t>[8.4, 23.3]</a:t>
                      </a:r>
                    </a:p>
                  </a:txBody>
                  <a:tcPr marL="133350" marR="114300" marT="38100" marB="38100" anchor="ctr">
                    <a:solidFill>
                      <a:srgbClr val="F0F4F6"/>
                    </a:solidFill>
                  </a:tcPr>
                </a:tc>
                <a:tc>
                  <a:txBody>
                    <a:bodyPr/>
                    <a:lstStyle/>
                    <a:p>
                      <a:r>
                        <a:rPr sz="1575">
                          <a:solidFill>
                            <a:srgbClr val="122D45"/>
                          </a:solidFill>
                          <a:latin typeface="Arial"/>
                          <a:ea typeface="Arial"/>
                          <a:cs typeface="Arial"/>
                        </a:rPr>
                        <a:t>+8.0 (p=0.191)</a:t>
                      </a:r>
                    </a:p>
                    <a:p>
                      <a:r>
                        <a:rPr sz="1575">
                          <a:solidFill>
                            <a:srgbClr val="122D45"/>
                          </a:solidFill>
                          <a:latin typeface="Arial"/>
                          <a:ea typeface="Arial"/>
                          <a:cs typeface="Arial"/>
                        </a:rPr>
                        <a:t>[−4.0, 20.0]</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0.306</a:t>
                      </a:r>
                    </a:p>
                  </a:txBody>
                  <a:tcPr marL="133350" marR="114300" marT="38100" marB="38100" anchor="ctr">
                    <a:solidFill>
                      <a:srgbClr val="F0F4F6"/>
                    </a:solidFill>
                  </a:tcPr>
                </a:tc>
                <a:extLst>
                  <a:ext uri="{0D108BD9-81ED-4DB2-BD59-A6C34878D82A}">
                    <a16:rowId xmlns:a16="http://schemas.microsoft.com/office/drawing/2014/main" val="10002"/>
                  </a:ext>
                </a:extLst>
              </a:tr>
              <a:tr h="621030">
                <a:tc>
                  <a:txBody>
                    <a:bodyPr/>
                    <a:lstStyle/>
                    <a:p>
                      <a:r>
                        <a:rPr sz="1575">
                          <a:solidFill>
                            <a:srgbClr val="122D45"/>
                          </a:solidFill>
                          <a:latin typeface="Arial"/>
                          <a:ea typeface="Arial"/>
                          <a:cs typeface="Arial"/>
                        </a:rPr>
                        <a:t>Highest grade completed</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+0.142 (p=0.096)</a:t>
                      </a:r>
                    </a:p>
                    <a:p>
                      <a:r>
                        <a:rPr sz="1575">
                          <a:solidFill>
                            <a:srgbClr val="122D45"/>
                          </a:solidFill>
                          <a:latin typeface="Arial"/>
                          <a:ea typeface="Arial"/>
                          <a:cs typeface="Arial"/>
                        </a:rPr>
                        <a:t>[−0.025, 0.309]</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+0.158 (p=0.020)</a:t>
                      </a:r>
                    </a:p>
                    <a:p>
                      <a:r>
                        <a:rPr sz="1575">
                          <a:solidFill>
                            <a:srgbClr val="122D45"/>
                          </a:solidFill>
                          <a:latin typeface="Arial"/>
                          <a:ea typeface="Arial"/>
                          <a:cs typeface="Arial"/>
                        </a:rPr>
                        <a:t>[0.025, 0.290]</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+0.193 (p=0.204)</a:t>
                      </a:r>
                    </a:p>
                    <a:p>
                      <a:r>
                        <a:rPr sz="1575">
                          <a:solidFill>
                            <a:srgbClr val="122D45"/>
                          </a:solidFill>
                          <a:latin typeface="Arial"/>
                          <a:ea typeface="Arial"/>
                          <a:cs typeface="Arial"/>
                        </a:rPr>
                        <a:t>[−0.106, 0.492]</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0.957</a:t>
                      </a:r>
                    </a:p>
                  </a:txBody>
                  <a:tcPr marL="133350" marR="114300" marT="38100" marB="38100" anchor="ctr">
                    <a:solidFill>
                      <a:srgbClr val="FFFFFF"/>
                    </a:solidFill>
                  </a:tcPr>
                </a:tc>
                <a:extLst>
                  <a:ext uri="{0D108BD9-81ED-4DB2-BD59-A6C34878D82A}">
                    <a16:rowId xmlns:a16="http://schemas.microsoft.com/office/drawing/2014/main" val="10003"/>
                  </a:ext>
                </a:extLst>
              </a:tr>
              <a:tr h="621030">
                <a:tc>
                  <a:txBody>
                    <a:bodyPr/>
                    <a:lstStyle/>
                    <a:p>
                      <a:r>
                        <a:rPr sz="1575">
                          <a:solidFill>
                            <a:srgbClr val="122D45"/>
                          </a:solidFill>
                          <a:latin typeface="Arial"/>
                          <a:ea typeface="Arial"/>
                          <a:cs typeface="Arial"/>
                        </a:rPr>
                        <a:t>Grade repetitions</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−0.030 (p=0.641)</a:t>
                      </a:r>
                    </a:p>
                    <a:p>
                      <a:r>
                        <a:rPr sz="1575">
                          <a:solidFill>
                            <a:srgbClr val="122D45"/>
                          </a:solidFill>
                          <a:latin typeface="Arial"/>
                          <a:ea typeface="Arial"/>
                          <a:cs typeface="Arial"/>
                        </a:rPr>
                        <a:t>[−0.156, 0.096]</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−0.040 (p=0.286)</a:t>
                      </a:r>
                    </a:p>
                    <a:p>
                      <a:r>
                        <a:rPr sz="1575">
                          <a:solidFill>
                            <a:srgbClr val="122D45"/>
                          </a:solidFill>
                          <a:latin typeface="Arial"/>
                          <a:ea typeface="Arial"/>
                          <a:cs typeface="Arial"/>
                        </a:rPr>
                        <a:t>[−0.113, 0.033]</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−0.140 (p=0.017)</a:t>
                      </a:r>
                    </a:p>
                    <a:p>
                      <a:r>
                        <a:rPr sz="1575">
                          <a:solidFill>
                            <a:srgbClr val="122D45"/>
                          </a:solidFill>
                          <a:latin typeface="Arial"/>
                          <a:ea typeface="Arial"/>
                          <a:cs typeface="Arial"/>
                        </a:rPr>
                        <a:t>[−0.254, −0.025]</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0.304</a:t>
                      </a:r>
                    </a:p>
                  </a:txBody>
                  <a:tcPr marL="133350" marR="114300" marT="38100" marB="38100" anchor="ctr">
                    <a:solidFill>
                      <a:srgbClr val="F0F4F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A367941F-6FC6-4D39-A803-544B6DB36C6F}"/>
              </a:ext>
            </a:extLst>
          </p:cNvPr>
          <p:cNvSpPr>
            <a:spLocks noGrp="1"/>
          </p:cNvSpPr>
          <p:nvPr/>
        </p:nvSpPr>
        <p:spPr>
          <a:xfrm>
            <a:off x="609600" y="5276850"/>
            <a:ext cx="10972800" cy="838200"/>
          </a:xfrm>
          <a:prstGeom prst="rect">
            <a:avLst/>
          </a:prstGeom>
          <a:noFill/>
          <a:ln w="0">
            <a:noFill/>
          </a:ln>
        </p:spPr>
        <p:txBody>
          <a:bodyPr anchor="ctr">
            <a:noAutofit/>
          </a:bodyPr>
          <a:lstStyle/>
          <a:p>
            <a:pPr>
              <a:defRPr sz="2100" b="1">
                <a:solidFill>
                  <a:srgbClr val="007E87"/>
                </a:solidFill>
                <a:latin typeface="Arial"/>
                <a:ea typeface="Arial"/>
                <a:cs typeface="Arial"/>
              </a:defRPr>
            </a:pPr>
            <a:r>
              <a:rPr sz="2100" b="1">
                <a:solidFill>
                  <a:srgbClr val="007E87"/>
                </a:solidFill>
                <a:latin typeface="Arial"/>
                <a:ea typeface="Arial"/>
                <a:cs typeface="Arial"/>
              </a:rPr>
              <a:t>All four direct equality tests have p &gt; .05 and Holm p = 1. These baseline-age groups do not identify grade-specific effects.</a:t>
            </a:r>
          </a:p>
        </p:txBody>
      </p:sp>
    </p:spTree>
    <p:extLst>
      <p:ext uri="{BB962C8B-B14F-4D97-AF65-F5344CB8AC3E}">
        <p14:creationId xmlns:p14="http://schemas.microsoft.com/office/powerpoint/2010/main" val="1145927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F1A2854-DA79-4A69-B747-BE317E045A2C}"/>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8: offer effects with controls and fixed effects</a:t>
            </a:r>
          </a:p>
        </p:txBody>
      </p:sp>
      <p:sp>
        <p:nvSpPr>
          <p:cNvPr id="2" name="Rectangle 1">
            <a:extLst>
              <a:ext uri="{FF2B5EF4-FFF2-40B4-BE49-F238E27FC236}">
                <a16:creationId xmlns:a16="http://schemas.microsoft.com/office/drawing/2014/main" id="{B4C8C7CB-40F7-41E2-B051-8575DAB712BE}"/>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X: sex, application age and missing-age indicator. Phone is constant. p = raw HC2/t.</a:t>
            </a:r>
          </a:p>
        </p:txBody>
      </p:sp>
      <p:sp>
        <p:nvSpPr>
          <p:cNvPr id="3" name="Rectangle 2">
            <a:extLst>
              <a:ext uri="{FF2B5EF4-FFF2-40B4-BE49-F238E27FC236}">
                <a16:creationId xmlns:a16="http://schemas.microsoft.com/office/drawing/2014/main" id="{18ED5E73-A36A-4298-8F2B-F4D1C8EEF6B5}"/>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23</a:t>
            </a:r>
          </a:p>
        </p:txBody>
      </p:sp>
      <p:sp>
        <p:nvSpPr>
          <p:cNvPr id="4" name="Rectangle 3">
            <a:extLst>
              <a:ext uri="{FF2B5EF4-FFF2-40B4-BE49-F238E27FC236}">
                <a16:creationId xmlns:a16="http://schemas.microsoft.com/office/drawing/2014/main" id="{14F683F7-F99C-473A-9F95-062FC2C82FF2}"/>
              </a:ext>
            </a:extLst>
          </p:cNvPr>
          <p:cNvSpPr>
            <a:spLocks noGrp="1"/>
          </p:cNvSpPr>
          <p:nvPr/>
        </p:nvSpPr>
        <p:spPr>
          <a:xfrm>
            <a:off x="609600" y="1323975"/>
            <a:ext cx="10972800" cy="447675"/>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Y = α + τZ + X′γ + SES fixed effects + neighborhood fixed effects + ε</a:t>
            </a:r>
          </a:p>
        </p:txBody>
      </p:sp>
      <p:graphicFrame>
        <p:nvGraphicFramePr>
          <p:cNvPr id="10" name="Table 9"/>
          <p:cNvGraphicFramePr/>
          <p:nvPr/>
        </p:nvGraphicFramePr>
        <p:xfrm>
          <a:off x="609600" y="1838325"/>
          <a:ext cx="10972800" cy="4133850"/>
        </p:xfrm>
        <a:graphic>
          <a:graphicData uri="http://schemas.openxmlformats.org/drawingml/2006/table">
            <a:tbl>
              <a:tblPr/>
              <a:tblGrid>
                <a:gridCol w="3143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638300">
                  <a:extLst>
                    <a:ext uri="{9D8B030D-6E8A-4147-A177-3AD203B41FA5}">
                      <a16:colId xmlns:a16="http://schemas.microsoft.com/office/drawing/2014/main" val="20004"/>
                    </a:ext>
                  </a:extLst>
                </a:gridCol>
              </a:tblGrid>
              <a:tr h="413385">
                <a:tc>
                  <a:txBody>
                    <a:bodyPr/>
                    <a:lstStyle/>
                    <a:p>
                      <a:r>
                        <a:rPr sz="1575" b="1">
                          <a:solidFill>
                            <a:srgbClr val="FFFFFF"/>
                          </a:solidFill>
                          <a:latin typeface="Arial"/>
                          <a:ea typeface="Arial"/>
                          <a:cs typeface="Arial"/>
                        </a:rPr>
                        <a:t>Outcome</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Offer effect</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95% interval</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p-value</a:t>
                      </a:r>
                    </a:p>
                  </a:txBody>
                  <a:tcPr marL="133350" marR="114300" marT="38100" marB="38100" anchor="ctr">
                    <a:solidFill>
                      <a:srgbClr val="122D45"/>
                    </a:solidFill>
                  </a:tcPr>
                </a:tc>
                <a:tc>
                  <a:txBody>
                    <a:bodyPr/>
                    <a:lstStyle/>
                    <a:p>
                      <a:r>
                        <a:rPr sz="1575" b="1">
                          <a:solidFill>
                            <a:srgbClr val="FFFFFF"/>
                          </a:solidFill>
                          <a:latin typeface="Arial"/>
                          <a:ea typeface="Arial"/>
                          <a:cs typeface="Arial"/>
                        </a:rPr>
                        <a:t>N</a:t>
                      </a:r>
                    </a:p>
                  </a:txBody>
                  <a:tcPr marL="133350" marR="114300" marT="38100" marB="38100" anchor="ctr">
                    <a:solidFill>
                      <a:srgbClr val="122D45"/>
                    </a:solidFill>
                  </a:tcPr>
                </a:tc>
                <a:extLst>
                  <a:ext uri="{0D108BD9-81ED-4DB2-BD59-A6C34878D82A}">
                    <a16:rowId xmlns:a16="http://schemas.microsoft.com/office/drawing/2014/main" val="10000"/>
                  </a:ext>
                </a:extLst>
              </a:tr>
              <a:tr h="413385">
                <a:tc>
                  <a:txBody>
                    <a:bodyPr/>
                    <a:lstStyle/>
                    <a:p>
                      <a:r>
                        <a:rPr sz="1575">
                          <a:solidFill>
                            <a:srgbClr val="122D45"/>
                          </a:solidFill>
                          <a:latin typeface="Arial"/>
                          <a:ea typeface="Arial"/>
                          <a:cs typeface="Arial"/>
                        </a:rPr>
                        <a:t>School years completed</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+0.069</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[−0.035, 0.172]</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0.192</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1,171</a:t>
                      </a:r>
                    </a:p>
                  </a:txBody>
                  <a:tcPr marL="133350" marR="114300" marT="38100" marB="38100" anchor="ctr">
                    <a:solidFill>
                      <a:srgbClr val="FFFFFF"/>
                    </a:solidFill>
                  </a:tcPr>
                </a:tc>
                <a:extLst>
                  <a:ext uri="{0D108BD9-81ED-4DB2-BD59-A6C34878D82A}">
                    <a16:rowId xmlns:a16="http://schemas.microsoft.com/office/drawing/2014/main" val="10001"/>
                  </a:ext>
                </a:extLst>
              </a:tr>
              <a:tr h="413385">
                <a:tc>
                  <a:txBody>
                    <a:bodyPr/>
                    <a:lstStyle/>
                    <a:p>
                      <a:r>
                        <a:rPr sz="1575">
                          <a:solidFill>
                            <a:srgbClr val="122D45"/>
                          </a:solidFill>
                          <a:latin typeface="Arial"/>
                          <a:ea typeface="Arial"/>
                          <a:cs typeface="Arial"/>
                        </a:rPr>
                        <a:t>Married or cohabiting</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−0.9 pp</a:t>
                      </a:r>
                    </a:p>
                  </a:txBody>
                  <a:tcPr marL="133350" marR="114300" marT="38100" marB="38100" anchor="ctr">
                    <a:solidFill>
                      <a:srgbClr val="F0F4F6"/>
                    </a:solidFill>
                  </a:tcPr>
                </a:tc>
                <a:tc>
                  <a:txBody>
                    <a:bodyPr/>
                    <a:lstStyle/>
                    <a:p>
                      <a:r>
                        <a:rPr sz="1575">
                          <a:solidFill>
                            <a:srgbClr val="122D45"/>
                          </a:solidFill>
                          <a:latin typeface="Arial"/>
                          <a:ea typeface="Arial"/>
                          <a:cs typeface="Arial"/>
                        </a:rPr>
                        <a:t>[−2.2, 0.4]</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0.171</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1,169</a:t>
                      </a:r>
                    </a:p>
                  </a:txBody>
                  <a:tcPr marL="133350" marR="114300" marT="38100" marB="38100" anchor="ctr">
                    <a:solidFill>
                      <a:srgbClr val="F0F4F6"/>
                    </a:solidFill>
                  </a:tcPr>
                </a:tc>
                <a:extLst>
                  <a:ext uri="{0D108BD9-81ED-4DB2-BD59-A6C34878D82A}">
                    <a16:rowId xmlns:a16="http://schemas.microsoft.com/office/drawing/2014/main" val="10002"/>
                  </a:ext>
                </a:extLst>
              </a:tr>
              <a:tr h="413385">
                <a:tc>
                  <a:txBody>
                    <a:bodyPr/>
                    <a:lstStyle/>
                    <a:p>
                      <a:r>
                        <a:rPr sz="1575">
                          <a:solidFill>
                            <a:srgbClr val="122D45"/>
                          </a:solidFill>
                          <a:latin typeface="Arial"/>
                          <a:ea typeface="Arial"/>
                          <a:cs typeface="Arial"/>
                        </a:rPr>
                        <a:t>Has a child</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 pp</a:t>
                      </a:r>
                    </a:p>
                  </a:txBody>
                  <a:tcPr marL="133350" marR="114300" marT="38100" marB="38100" anchor="ctr">
                    <a:solidFill>
                      <a:srgbClr val="FFFFFF"/>
                    </a:solidFill>
                  </a:tcPr>
                </a:tc>
                <a:tc>
                  <a:txBody>
                    <a:bodyPr/>
                    <a:lstStyle/>
                    <a:p>
                      <a:r>
                        <a:rPr sz="1575">
                          <a:solidFill>
                            <a:srgbClr val="122D45"/>
                          </a:solidFill>
                          <a:latin typeface="Arial"/>
                          <a:ea typeface="Arial"/>
                          <a:cs typeface="Arial"/>
                        </a:rPr>
                        <a:t>[−3.0, 0.8]</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0.243</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1,169</a:t>
                      </a:r>
                    </a:p>
                  </a:txBody>
                  <a:tcPr marL="133350" marR="114300" marT="38100" marB="38100" anchor="ctr">
                    <a:solidFill>
                      <a:srgbClr val="FFFFFF"/>
                    </a:solidFill>
                  </a:tcPr>
                </a:tc>
                <a:extLst>
                  <a:ext uri="{0D108BD9-81ED-4DB2-BD59-A6C34878D82A}">
                    <a16:rowId xmlns:a16="http://schemas.microsoft.com/office/drawing/2014/main" val="10003"/>
                  </a:ext>
                </a:extLst>
              </a:tr>
              <a:tr h="413385">
                <a:tc>
                  <a:txBody>
                    <a:bodyPr/>
                    <a:lstStyle/>
                    <a:p>
                      <a:r>
                        <a:rPr sz="1575">
                          <a:solidFill>
                            <a:srgbClr val="122D45"/>
                          </a:solidFill>
                          <a:latin typeface="Arial"/>
                          <a:ea typeface="Arial"/>
                          <a:cs typeface="Arial"/>
                        </a:rPr>
                        <a:t>Doing paid work</a:t>
                      </a:r>
                    </a:p>
                  </a:txBody>
                  <a:tcPr marL="133350" marR="114300" marT="38100" marB="38100" anchor="ctr">
                    <a:solidFill>
                      <a:srgbClr val="F0F4F6"/>
                    </a:solidFill>
                  </a:tcPr>
                </a:tc>
                <a:tc>
                  <a:txBody>
                    <a:bodyPr/>
                    <a:lstStyle/>
                    <a:p>
                      <a:r>
                        <a:rPr sz="1575">
                          <a:solidFill>
                            <a:srgbClr val="122D45"/>
                          </a:solidFill>
                          <a:latin typeface="Arial"/>
                          <a:ea typeface="Arial"/>
                          <a:cs typeface="Arial"/>
                        </a:rPr>
                        <a:t>−3.3 pp</a:t>
                      </a:r>
                    </a:p>
                  </a:txBody>
                  <a:tcPr marL="133350" marR="114300" marT="38100" marB="38100" anchor="ctr">
                    <a:solidFill>
                      <a:srgbClr val="F0F4F6"/>
                    </a:solidFill>
                  </a:tcPr>
                </a:tc>
                <a:tc>
                  <a:txBody>
                    <a:bodyPr/>
                    <a:lstStyle/>
                    <a:p>
                      <a:r>
                        <a:rPr sz="1575">
                          <a:solidFill>
                            <a:srgbClr val="122D45"/>
                          </a:solidFill>
                          <a:latin typeface="Arial"/>
                          <a:ea typeface="Arial"/>
                          <a:cs typeface="Arial"/>
                        </a:rPr>
                        <a:t>[−7.4, 0.8]</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0.114</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1,171</a:t>
                      </a:r>
                    </a:p>
                  </a:txBody>
                  <a:tcPr marL="133350" marR="114300" marT="38100" marB="38100" anchor="ctr">
                    <a:solidFill>
                      <a:srgbClr val="F0F4F6"/>
                    </a:solidFill>
                  </a:tcPr>
                </a:tc>
                <a:extLst>
                  <a:ext uri="{0D108BD9-81ED-4DB2-BD59-A6C34878D82A}">
                    <a16:rowId xmlns:a16="http://schemas.microsoft.com/office/drawing/2014/main" val="10004"/>
                  </a:ext>
                </a:extLst>
              </a:tr>
              <a:tr h="413385">
                <a:tc>
                  <a:txBody>
                    <a:bodyPr/>
                    <a:lstStyle/>
                    <a:p>
                      <a:r>
                        <a:rPr sz="1575">
                          <a:solidFill>
                            <a:srgbClr val="122D45"/>
                          </a:solidFill>
                          <a:latin typeface="Arial"/>
                          <a:ea typeface="Arial"/>
                          <a:cs typeface="Arial"/>
                        </a:rPr>
                        <a:t>Weekly hours worked</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−1.25</a:t>
                      </a:r>
                    </a:p>
                  </a:txBody>
                  <a:tcPr marL="133350" marR="114300" marT="38100" marB="38100" anchor="ctr">
                    <a:solidFill>
                      <a:srgbClr val="FFFFFF"/>
                    </a:solidFill>
                  </a:tcPr>
                </a:tc>
                <a:tc>
                  <a:txBody>
                    <a:bodyPr/>
                    <a:lstStyle/>
                    <a:p>
                      <a:r>
                        <a:rPr sz="1575">
                          <a:solidFill>
                            <a:srgbClr val="122D45"/>
                          </a:solidFill>
                          <a:latin typeface="Arial"/>
                          <a:ea typeface="Arial"/>
                          <a:cs typeface="Arial"/>
                        </a:rPr>
                        <a:t>[−2.48, −0.02]</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0.046</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1,171</a:t>
                      </a:r>
                    </a:p>
                  </a:txBody>
                  <a:tcPr marL="133350" marR="114300" marT="38100" marB="38100" anchor="ctr">
                    <a:solidFill>
                      <a:srgbClr val="FFFFFF"/>
                    </a:solidFill>
                  </a:tcPr>
                </a:tc>
                <a:extLst>
                  <a:ext uri="{0D108BD9-81ED-4DB2-BD59-A6C34878D82A}">
                    <a16:rowId xmlns:a16="http://schemas.microsoft.com/office/drawing/2014/main" val="10005"/>
                  </a:ext>
                </a:extLst>
              </a:tr>
              <a:tr h="413385">
                <a:tc>
                  <a:txBody>
                    <a:bodyPr/>
                    <a:lstStyle/>
                    <a:p>
                      <a:r>
                        <a:rPr sz="1575">
                          <a:solidFill>
                            <a:srgbClr val="122D45"/>
                          </a:solidFill>
                          <a:latin typeface="Arial"/>
                          <a:ea typeface="Arial"/>
                          <a:cs typeface="Arial"/>
                        </a:rPr>
                        <a:t>Enrolled in any school</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+1.2 pp</a:t>
                      </a:r>
                    </a:p>
                  </a:txBody>
                  <a:tcPr marL="133350" marR="114300" marT="38100" marB="38100" anchor="ctr">
                    <a:solidFill>
                      <a:srgbClr val="F0F4F6"/>
                    </a:solidFill>
                  </a:tcPr>
                </a:tc>
                <a:tc>
                  <a:txBody>
                    <a:bodyPr/>
                    <a:lstStyle/>
                    <a:p>
                      <a:r>
                        <a:rPr sz="1575">
                          <a:solidFill>
                            <a:srgbClr val="122D45"/>
                          </a:solidFill>
                          <a:latin typeface="Arial"/>
                          <a:ea typeface="Arial"/>
                          <a:cs typeface="Arial"/>
                        </a:rPr>
                        <a:t>[−2.8, 5.1]</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0.564</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1,169</a:t>
                      </a:r>
                    </a:p>
                  </a:txBody>
                  <a:tcPr marL="133350" marR="114300" marT="38100" marB="38100" anchor="ctr">
                    <a:solidFill>
                      <a:srgbClr val="F0F4F6"/>
                    </a:solidFill>
                  </a:tcPr>
                </a:tc>
                <a:extLst>
                  <a:ext uri="{0D108BD9-81ED-4DB2-BD59-A6C34878D82A}">
                    <a16:rowId xmlns:a16="http://schemas.microsoft.com/office/drawing/2014/main" val="10006"/>
                  </a:ext>
                </a:extLst>
              </a:tr>
              <a:tr h="413385">
                <a:tc>
                  <a:txBody>
                    <a:bodyPr/>
                    <a:lstStyle/>
                    <a:p>
                      <a:r>
                        <a:rPr sz="1575">
                          <a:solidFill>
                            <a:srgbClr val="122D45"/>
                          </a:solidFill>
                          <a:latin typeface="Arial"/>
                          <a:ea typeface="Arial"/>
                          <a:cs typeface="Arial"/>
                        </a:rPr>
                        <a:t>Attending private school</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+15.7 pp</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[10.4, 21.1]</a:t>
                      </a:r>
                    </a:p>
                  </a:txBody>
                  <a:tcPr marL="133350" marR="114300" marT="38100" marB="38100" anchor="ctr">
                    <a:solidFill>
                      <a:srgbClr val="FFFFFF"/>
                    </a:solidFill>
                  </a:tcPr>
                </a:tc>
                <a:tc>
                  <a:txBody>
                    <a:bodyPr/>
                    <a:lstStyle/>
                    <a:p>
                      <a:r>
                        <a:rPr sz="1575">
                          <a:solidFill>
                            <a:srgbClr val="122D45"/>
                          </a:solidFill>
                          <a:latin typeface="Arial"/>
                          <a:ea typeface="Arial"/>
                          <a:cs typeface="Arial"/>
                        </a:rPr>
                        <a:t>&lt;.001</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1,163</a:t>
                      </a:r>
                    </a:p>
                  </a:txBody>
                  <a:tcPr marL="133350" marR="114300" marT="38100" marB="38100" anchor="ctr">
                    <a:solidFill>
                      <a:srgbClr val="FFFFFF"/>
                    </a:solidFill>
                  </a:tcPr>
                </a:tc>
                <a:extLst>
                  <a:ext uri="{0D108BD9-81ED-4DB2-BD59-A6C34878D82A}">
                    <a16:rowId xmlns:a16="http://schemas.microsoft.com/office/drawing/2014/main" val="10007"/>
                  </a:ext>
                </a:extLst>
              </a:tr>
              <a:tr h="413385">
                <a:tc>
                  <a:txBody>
                    <a:bodyPr/>
                    <a:lstStyle/>
                    <a:p>
                      <a:r>
                        <a:rPr sz="1575">
                          <a:solidFill>
                            <a:srgbClr val="122D45"/>
                          </a:solidFill>
                          <a:latin typeface="Arial"/>
                          <a:ea typeface="Arial"/>
                          <a:cs typeface="Arial"/>
                        </a:rPr>
                        <a:t>Highest grade completed</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+0.161</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[0.055, 0.267]</a:t>
                      </a:r>
                    </a:p>
                  </a:txBody>
                  <a:tcPr marL="133350" marR="114300" marT="38100" marB="38100" anchor="ctr">
                    <a:solidFill>
                      <a:srgbClr val="F0F4F6"/>
                    </a:solidFill>
                  </a:tcPr>
                </a:tc>
                <a:tc>
                  <a:txBody>
                    <a:bodyPr/>
                    <a:lstStyle/>
                    <a:p>
                      <a:r>
                        <a:rPr sz="1575">
                          <a:solidFill>
                            <a:srgbClr val="122D45"/>
                          </a:solidFill>
                          <a:latin typeface="Arial"/>
                          <a:ea typeface="Arial"/>
                          <a:cs typeface="Arial"/>
                        </a:rPr>
                        <a:t>0.003</a:t>
                      </a:r>
                    </a:p>
                  </a:txBody>
                  <a:tcPr marL="133350" marR="114300" marT="38100" marB="38100" anchor="ctr">
                    <a:solidFill>
                      <a:srgbClr val="F0F4F6"/>
                    </a:solidFill>
                  </a:tcPr>
                </a:tc>
                <a:tc>
                  <a:txBody>
                    <a:bodyPr/>
                    <a:lstStyle/>
                    <a:p>
                      <a:r>
                        <a:rPr sz="1575">
                          <a:solidFill>
                            <a:srgbClr val="122D45"/>
                          </a:solidFill>
                          <a:latin typeface="Arial"/>
                          <a:ea typeface="Arial"/>
                          <a:cs typeface="Arial"/>
                        </a:rPr>
                        <a:t>1,176</a:t>
                      </a:r>
                    </a:p>
                  </a:txBody>
                  <a:tcPr marL="133350" marR="114300" marT="38100" marB="38100" anchor="ctr">
                    <a:solidFill>
                      <a:srgbClr val="F0F4F6"/>
                    </a:solidFill>
                  </a:tcPr>
                </a:tc>
                <a:extLst>
                  <a:ext uri="{0D108BD9-81ED-4DB2-BD59-A6C34878D82A}">
                    <a16:rowId xmlns:a16="http://schemas.microsoft.com/office/drawing/2014/main" val="10008"/>
                  </a:ext>
                </a:extLst>
              </a:tr>
              <a:tr h="413385">
                <a:tc>
                  <a:txBody>
                    <a:bodyPr/>
                    <a:lstStyle/>
                    <a:p>
                      <a:r>
                        <a:rPr sz="1575">
                          <a:solidFill>
                            <a:srgbClr val="122D45"/>
                          </a:solidFill>
                          <a:latin typeface="Arial"/>
                          <a:ea typeface="Arial"/>
                          <a:cs typeface="Arial"/>
                        </a:rPr>
                        <a:t>Grade repetitions</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−0.062</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[−0.116, −0.007]</a:t>
                      </a:r>
                    </a:p>
                  </a:txBody>
                  <a:tcPr marL="133350" marR="114300" marT="38100" marB="38100" anchor="ctr">
                    <a:solidFill>
                      <a:srgbClr val="FFFFFF"/>
                    </a:solidFill>
                  </a:tcPr>
                </a:tc>
                <a:tc>
                  <a:txBody>
                    <a:bodyPr/>
                    <a:lstStyle/>
                    <a:p>
                      <a:r>
                        <a:rPr sz="1575">
                          <a:solidFill>
                            <a:srgbClr val="122D45"/>
                          </a:solidFill>
                          <a:latin typeface="Arial"/>
                          <a:ea typeface="Arial"/>
                          <a:cs typeface="Arial"/>
                        </a:rPr>
                        <a:t>0.026</a:t>
                      </a:r>
                    </a:p>
                  </a:txBody>
                  <a:tcPr marL="133350" marR="114300" marT="38100" marB="38100" anchor="ctr">
                    <a:solidFill>
                      <a:srgbClr val="FFFFFF"/>
                    </a:solidFill>
                  </a:tcPr>
                </a:tc>
                <a:tc>
                  <a:txBody>
                    <a:bodyPr/>
                    <a:lstStyle/>
                    <a:p>
                      <a:r>
                        <a:rPr sz="1575">
                          <a:solidFill>
                            <a:srgbClr val="122D45"/>
                          </a:solidFill>
                          <a:latin typeface="Arial"/>
                          <a:ea typeface="Arial"/>
                          <a:cs typeface="Arial"/>
                        </a:rPr>
                        <a:t>1,171</a:t>
                      </a:r>
                    </a:p>
                  </a:txBody>
                  <a:tcPr marL="133350" marR="114300" marT="38100" marB="38100" anchor="ctr">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866169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45535B-C733-4FFF-B6C2-DECDD198CE6A}"/>
              </a:ext>
            </a:extLst>
          </p:cNvPr>
          <p:cNvSpPr>
            <a:spLocks noGrp="1"/>
          </p:cNvSpPr>
          <p:nvPr/>
        </p:nvSpPr>
        <p:spPr>
          <a:xfrm>
            <a:off x="609600" y="342900"/>
            <a:ext cx="10972800" cy="933450"/>
          </a:xfrm>
          <a:prstGeom prst="rect">
            <a:avLst/>
          </a:prstGeom>
          <a:noFill/>
          <a:ln w="0">
            <a:noFill/>
          </a:ln>
        </p:spPr>
        <p:txBody>
          <a:bodyPr anchor="ctr">
            <a:noAutofit/>
          </a:bodyPr>
          <a:lstStyle/>
          <a:p>
            <a:pPr>
              <a:defRPr sz="3150" b="1">
                <a:solidFill>
                  <a:srgbClr val="122D45"/>
                </a:solidFill>
                <a:latin typeface="Arial"/>
                <a:ea typeface="Arial"/>
                <a:cs typeface="Arial"/>
              </a:defRPr>
            </a:pPr>
            <a:r>
              <a:rPr sz="3150" b="1">
                <a:solidFill>
                  <a:srgbClr val="122D45"/>
                </a:solidFill>
                <a:latin typeface="Arial"/>
                <a:ea typeface="Arial"/>
                <a:cs typeface="Arial"/>
              </a:rPr>
              <a:t>Appendix 9: IV with controls and fixed effects</a:t>
            </a:r>
          </a:p>
        </p:txBody>
      </p:sp>
      <p:sp>
        <p:nvSpPr>
          <p:cNvPr id="2" name="Rectangle 1">
            <a:extLst>
              <a:ext uri="{FF2B5EF4-FFF2-40B4-BE49-F238E27FC236}">
                <a16:creationId xmlns:a16="http://schemas.microsoft.com/office/drawing/2014/main" id="{0BAE6633-015A-4B3B-8FBC-624B0835CAE2}"/>
              </a:ext>
            </a:extLst>
          </p:cNvPr>
          <p:cNvSpPr>
            <a:spLocks noGrp="1"/>
          </p:cNvSpPr>
          <p:nvPr/>
        </p:nvSpPr>
        <p:spPr>
          <a:xfrm>
            <a:off x="609600" y="6181725"/>
            <a:ext cx="10382250" cy="4286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A2020. X matches slide 23. Binary effects use pp. AR p-values are unadjusted.</a:t>
            </a:r>
          </a:p>
        </p:txBody>
      </p:sp>
      <p:sp>
        <p:nvSpPr>
          <p:cNvPr id="3" name="Rectangle 2">
            <a:extLst>
              <a:ext uri="{FF2B5EF4-FFF2-40B4-BE49-F238E27FC236}">
                <a16:creationId xmlns:a16="http://schemas.microsoft.com/office/drawing/2014/main" id="{225D351B-147E-4C09-8A7E-97104369C5A9}"/>
              </a:ext>
            </a:extLst>
          </p:cNvPr>
          <p:cNvSpPr>
            <a:spLocks noGrp="1"/>
          </p:cNvSpPr>
          <p:nvPr/>
        </p:nvSpPr>
        <p:spPr>
          <a:xfrm>
            <a:off x="11144250" y="6296025"/>
            <a:ext cx="419100" cy="238125"/>
          </a:xfrm>
          <a:prstGeom prst="rect">
            <a:avLst/>
          </a:prstGeom>
          <a:noFill/>
          <a:ln w="0">
            <a:noFill/>
          </a:ln>
        </p:spPr>
        <p:txBody>
          <a:bodyPr anchor="ctr">
            <a:noAutofit/>
          </a:bodyPr>
          <a:lstStyle/>
          <a:p>
            <a:pPr>
              <a:defRPr sz="1275" b="0">
                <a:solidFill>
                  <a:srgbClr val="526272"/>
                </a:solidFill>
                <a:latin typeface="Arial"/>
                <a:ea typeface="Arial"/>
                <a:cs typeface="Arial"/>
              </a:defRPr>
            </a:pPr>
            <a:r>
              <a:rPr sz="1275" b="0">
                <a:solidFill>
                  <a:srgbClr val="526272"/>
                </a:solidFill>
                <a:latin typeface="Arial"/>
                <a:ea typeface="Arial"/>
                <a:cs typeface="Arial"/>
              </a:rPr>
              <a:t>24</a:t>
            </a:r>
          </a:p>
        </p:txBody>
      </p:sp>
      <p:sp>
        <p:nvSpPr>
          <p:cNvPr id="4" name="Rectangle 3">
            <a:extLst>
              <a:ext uri="{FF2B5EF4-FFF2-40B4-BE49-F238E27FC236}">
                <a16:creationId xmlns:a16="http://schemas.microsoft.com/office/drawing/2014/main" id="{60F7FB9F-203A-4E84-9CAB-A2D0AE9198E1}"/>
              </a:ext>
            </a:extLst>
          </p:cNvPr>
          <p:cNvSpPr>
            <a:spLocks noGrp="1"/>
          </p:cNvSpPr>
          <p:nvPr/>
        </p:nvSpPr>
        <p:spPr>
          <a:xfrm>
            <a:off x="609600" y="1323975"/>
            <a:ext cx="10972800" cy="647700"/>
          </a:xfrm>
          <a:prstGeom prst="rect">
            <a:avLst/>
          </a:prstGeom>
          <a:noFill/>
          <a:ln w="0">
            <a:noFill/>
          </a:ln>
        </p:spPr>
        <p:txBody>
          <a:bodyPr anchor="ctr">
            <a:noAutofit/>
          </a:bodyPr>
          <a:lstStyle/>
          <a:p>
            <a:pPr>
              <a:defRPr sz="1725" b="0">
                <a:solidFill>
                  <a:srgbClr val="007E87"/>
                </a:solidFill>
                <a:latin typeface="Arial"/>
                <a:ea typeface="Arial"/>
                <a:cs typeface="Arial"/>
              </a:defRPr>
            </a:pPr>
            <a:r>
              <a:rPr sz="1725" b="0">
                <a:solidFill>
                  <a:srgbClr val="007E87"/>
                </a:solidFill>
                <a:latin typeface="Arial"/>
                <a:ea typeface="Arial"/>
                <a:cs typeface="Arial"/>
              </a:rPr>
              <a:t>D = π₀ + π₁Z + X′κ + FE + u</a:t>
            </a:r>
          </a:p>
          <a:p>
            <a:pPr>
              <a:defRPr sz="1725" b="0">
                <a:solidFill>
                  <a:srgbClr val="007E87"/>
                </a:solidFill>
                <a:latin typeface="Arial"/>
                <a:ea typeface="Arial"/>
                <a:cs typeface="Arial"/>
              </a:defRPr>
            </a:pPr>
            <a:r>
              <a:rPr sz="1725" b="0">
                <a:solidFill>
                  <a:srgbClr val="007E87"/>
                </a:solidFill>
                <a:latin typeface="Arial"/>
                <a:ea typeface="Arial"/>
                <a:cs typeface="Arial"/>
              </a:rPr>
              <a:t>Y = α + βD̂ + X′γ + FE + ε  (2SLS). FE = SES and neighborhood indicators.</a:t>
            </a:r>
          </a:p>
        </p:txBody>
      </p:sp>
      <p:graphicFrame>
        <p:nvGraphicFramePr>
          <p:cNvPr id="11" name="Table 10"/>
          <p:cNvGraphicFramePr/>
          <p:nvPr/>
        </p:nvGraphicFramePr>
        <p:xfrm>
          <a:off x="609600" y="2076450"/>
          <a:ext cx="10972800" cy="3333750"/>
        </p:xfrm>
        <a:graphic>
          <a:graphicData uri="http://schemas.openxmlformats.org/drawingml/2006/table">
            <a:tbl>
              <a:tblPr/>
              <a:tblGrid>
                <a:gridCol w="257175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gridCol w="1733550">
                  <a:extLst>
                    <a:ext uri="{9D8B030D-6E8A-4147-A177-3AD203B41FA5}">
                      <a16:colId xmlns:a16="http://schemas.microsoft.com/office/drawing/2014/main" val="20005"/>
                    </a:ext>
                  </a:extLst>
                </a:gridCol>
              </a:tblGrid>
              <a:tr h="555625">
                <a:tc>
                  <a:txBody>
                    <a:bodyPr/>
                    <a:lstStyle/>
                    <a:p>
                      <a:r>
                        <a:rPr sz="1575" b="1">
                          <a:solidFill>
                            <a:srgbClr val="FFFFFF"/>
                          </a:solidFill>
                          <a:latin typeface="Arial"/>
                          <a:ea typeface="Arial"/>
                          <a:cs typeface="Arial"/>
                        </a:rPr>
                        <a:t>Outcome</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IV estimate</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95% robust AR set</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AR p-value</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N</a:t>
                      </a:r>
                    </a:p>
                  </a:txBody>
                  <a:tcPr marL="133350" marR="114300" marT="9525" marB="9525" anchor="ctr">
                    <a:solidFill>
                      <a:srgbClr val="122D45"/>
                    </a:solidFill>
                  </a:tcPr>
                </a:tc>
                <a:tc>
                  <a:txBody>
                    <a:bodyPr/>
                    <a:lstStyle/>
                    <a:p>
                      <a:r>
                        <a:rPr sz="1575" b="1">
                          <a:solidFill>
                            <a:srgbClr val="FFFFFF"/>
                          </a:solidFill>
                          <a:latin typeface="Arial"/>
                          <a:ea typeface="Arial"/>
                          <a:cs typeface="Arial"/>
                        </a:rPr>
                        <a:t>First-stage F (p)</a:t>
                      </a:r>
                    </a:p>
                  </a:txBody>
                  <a:tcPr marL="133350" marR="114300" marT="9525" marB="9525" anchor="ctr">
                    <a:solidFill>
                      <a:srgbClr val="122D45"/>
                    </a:solidFill>
                  </a:tcPr>
                </a:tc>
                <a:extLst>
                  <a:ext uri="{0D108BD9-81ED-4DB2-BD59-A6C34878D82A}">
                    <a16:rowId xmlns:a16="http://schemas.microsoft.com/office/drawing/2014/main" val="10000"/>
                  </a:ext>
                </a:extLst>
              </a:tr>
              <a:tr h="555625">
                <a:tc>
                  <a:txBody>
                    <a:bodyPr/>
                    <a:lstStyle/>
                    <a:p>
                      <a:r>
                        <a:rPr sz="1575">
                          <a:solidFill>
                            <a:srgbClr val="122D45"/>
                          </a:solidFill>
                          <a:latin typeface="Arial"/>
                          <a:ea typeface="Arial"/>
                          <a:cs typeface="Arial"/>
                        </a:rPr>
                        <a:t>School years completed</a:t>
                      </a:r>
                    </a:p>
                  </a:txBody>
                  <a:tcPr marL="133350" marR="114300" marT="9525" marB="9525" anchor="ctr">
                    <a:solidFill>
                      <a:srgbClr val="FFFFFF"/>
                    </a:solidFill>
                  </a:tcPr>
                </a:tc>
                <a:tc>
                  <a:txBody>
                    <a:bodyPr/>
                    <a:lstStyle/>
                    <a:p>
                      <a:r>
                        <a:rPr sz="1575">
                          <a:solidFill>
                            <a:srgbClr val="122D45"/>
                          </a:solidFill>
                          <a:latin typeface="Arial"/>
                          <a:ea typeface="Arial"/>
                          <a:cs typeface="Arial"/>
                        </a:rPr>
                        <a:t>+0.340</a:t>
                      </a:r>
                    </a:p>
                  </a:txBody>
                  <a:tcPr marL="133350" marR="114300" marT="9525" marB="9525" anchor="ctr">
                    <a:solidFill>
                      <a:srgbClr val="FFFFFF"/>
                    </a:solidFill>
                  </a:tcPr>
                </a:tc>
                <a:tc>
                  <a:txBody>
                    <a:bodyPr/>
                    <a:lstStyle/>
                    <a:p>
                      <a:r>
                        <a:rPr sz="1575">
                          <a:solidFill>
                            <a:srgbClr val="122D45"/>
                          </a:solidFill>
                          <a:latin typeface="Arial"/>
                          <a:ea typeface="Arial"/>
                          <a:cs typeface="Arial"/>
                        </a:rPr>
                        <a:t>[−0.373, 0.934]</a:t>
                      </a:r>
                    </a:p>
                  </a:txBody>
                  <a:tcPr marL="133350" marR="114300" marT="9525" marB="9525" anchor="ctr">
                    <a:solidFill>
                      <a:srgbClr val="FFFFFF"/>
                    </a:solidFill>
                  </a:tcPr>
                </a:tc>
                <a:tc>
                  <a:txBody>
                    <a:bodyPr/>
                    <a:lstStyle/>
                    <a:p>
                      <a:r>
                        <a:rPr sz="1575">
                          <a:solidFill>
                            <a:srgbClr val="122D45"/>
                          </a:solidFill>
                          <a:latin typeface="Arial"/>
                          <a:ea typeface="Arial"/>
                          <a:cs typeface="Arial"/>
                        </a:rPr>
                        <a:t>0.305</a:t>
                      </a:r>
                    </a:p>
                  </a:txBody>
                  <a:tcPr marL="133350" marR="114300" marT="9525" marB="9525" anchor="ctr">
                    <a:solidFill>
                      <a:srgbClr val="FFFFFF"/>
                    </a:solidFill>
                  </a:tcPr>
                </a:tc>
                <a:tc>
                  <a:txBody>
                    <a:bodyPr/>
                    <a:lstStyle/>
                    <a:p>
                      <a:r>
                        <a:rPr sz="1575">
                          <a:solidFill>
                            <a:srgbClr val="122D45"/>
                          </a:solidFill>
                          <a:latin typeface="Arial"/>
                          <a:ea typeface="Arial"/>
                          <a:cs typeface="Arial"/>
                        </a:rPr>
                        <a:t>1,162</a:t>
                      </a:r>
                    </a:p>
                  </a:txBody>
                  <a:tcPr marL="133350" marR="114300" marT="9525" marB="9525" anchor="ctr">
                    <a:solidFill>
                      <a:srgbClr val="FFFFFF"/>
                    </a:solidFill>
                  </a:tcPr>
                </a:tc>
                <a:tc>
                  <a:txBody>
                    <a:bodyPr/>
                    <a:lstStyle/>
                    <a:p>
                      <a:r>
                        <a:rPr sz="1575">
                          <a:solidFill>
                            <a:srgbClr val="122D45"/>
                          </a:solidFill>
                          <a:latin typeface="Arial"/>
                          <a:ea typeface="Arial"/>
                          <a:cs typeface="Arial"/>
                        </a:rPr>
                        <a:t>33.4</a:t>
                      </a:r>
                    </a:p>
                    <a:p>
                      <a:r>
                        <a:rPr sz="1575">
                          <a:solidFill>
                            <a:srgbClr val="122D45"/>
                          </a:solidFill>
                          <a:latin typeface="Arial"/>
                          <a:ea typeface="Arial"/>
                          <a:cs typeface="Arial"/>
                        </a:rPr>
                        <a:t>p &lt; .001</a:t>
                      </a:r>
                    </a:p>
                  </a:txBody>
                  <a:tcPr marL="133350" marR="114300" marT="9525" marB="9525" anchor="ctr">
                    <a:solidFill>
                      <a:srgbClr val="FFFFFF"/>
                    </a:solidFill>
                  </a:tcPr>
                </a:tc>
                <a:extLst>
                  <a:ext uri="{0D108BD9-81ED-4DB2-BD59-A6C34878D82A}">
                    <a16:rowId xmlns:a16="http://schemas.microsoft.com/office/drawing/2014/main" val="10001"/>
                  </a:ext>
                </a:extLst>
              </a:tr>
              <a:tr h="555625">
                <a:tc>
                  <a:txBody>
                    <a:bodyPr/>
                    <a:lstStyle/>
                    <a:p>
                      <a:r>
                        <a:rPr sz="1575">
                          <a:solidFill>
                            <a:srgbClr val="122D45"/>
                          </a:solidFill>
                          <a:latin typeface="Arial"/>
                          <a:ea typeface="Arial"/>
                          <a:cs typeface="Arial"/>
                        </a:rPr>
                        <a:t>Married or cohabiting</a:t>
                      </a:r>
                    </a:p>
                  </a:txBody>
                  <a:tcPr marL="133350" marR="114300" marT="9525" marB="9525" anchor="ctr">
                    <a:solidFill>
                      <a:srgbClr val="F0F4F6"/>
                    </a:solidFill>
                  </a:tcPr>
                </a:tc>
                <a:tc>
                  <a:txBody>
                    <a:bodyPr/>
                    <a:lstStyle/>
                    <a:p>
                      <a:r>
                        <a:rPr sz="1575">
                          <a:solidFill>
                            <a:srgbClr val="122D45"/>
                          </a:solidFill>
                          <a:latin typeface="Arial"/>
                          <a:ea typeface="Arial"/>
                          <a:cs typeface="Arial"/>
                        </a:rPr>
                        <a:t>−6.4</a:t>
                      </a:r>
                    </a:p>
                  </a:txBody>
                  <a:tcPr marL="133350" marR="114300" marT="9525" marB="9525" anchor="ctr">
                    <a:solidFill>
                      <a:srgbClr val="F0F4F6"/>
                    </a:solidFill>
                  </a:tcPr>
                </a:tc>
                <a:tc>
                  <a:txBody>
                    <a:bodyPr/>
                    <a:lstStyle/>
                    <a:p>
                      <a:r>
                        <a:rPr sz="1575">
                          <a:solidFill>
                            <a:srgbClr val="122D45"/>
                          </a:solidFill>
                          <a:latin typeface="Arial"/>
                          <a:ea typeface="Arial"/>
                          <a:cs typeface="Arial"/>
                        </a:rPr>
                        <a:t>[−15.4, 1.5]</a:t>
                      </a:r>
                    </a:p>
                  </a:txBody>
                  <a:tcPr marL="133350" marR="114300" marT="9525" marB="9525" anchor="ctr">
                    <a:solidFill>
                      <a:srgbClr val="F0F4F6"/>
                    </a:solidFill>
                  </a:tcPr>
                </a:tc>
                <a:tc>
                  <a:txBody>
                    <a:bodyPr/>
                    <a:lstStyle/>
                    <a:p>
                      <a:r>
                        <a:rPr sz="1575">
                          <a:solidFill>
                            <a:srgbClr val="122D45"/>
                          </a:solidFill>
                          <a:latin typeface="Arial"/>
                          <a:ea typeface="Arial"/>
                          <a:cs typeface="Arial"/>
                        </a:rPr>
                        <a:t>0.110</a:t>
                      </a:r>
                    </a:p>
                  </a:txBody>
                  <a:tcPr marL="133350" marR="114300" marT="9525" marB="9525" anchor="ctr">
                    <a:solidFill>
                      <a:srgbClr val="F0F4F6"/>
                    </a:solidFill>
                  </a:tcPr>
                </a:tc>
                <a:tc>
                  <a:txBody>
                    <a:bodyPr/>
                    <a:lstStyle/>
                    <a:p>
                      <a:r>
                        <a:rPr sz="1575">
                          <a:solidFill>
                            <a:srgbClr val="122D45"/>
                          </a:solidFill>
                          <a:latin typeface="Arial"/>
                          <a:ea typeface="Arial"/>
                          <a:cs typeface="Arial"/>
                        </a:rPr>
                        <a:t>1,161</a:t>
                      </a:r>
                    </a:p>
                  </a:txBody>
                  <a:tcPr marL="133350" marR="114300" marT="9525" marB="9525" anchor="ctr">
                    <a:solidFill>
                      <a:srgbClr val="F0F4F6"/>
                    </a:solidFill>
                  </a:tcPr>
                </a:tc>
                <a:tc>
                  <a:txBody>
                    <a:bodyPr/>
                    <a:lstStyle/>
                    <a:p>
                      <a:r>
                        <a:rPr sz="1575">
                          <a:solidFill>
                            <a:srgbClr val="122D45"/>
                          </a:solidFill>
                          <a:latin typeface="Arial"/>
                          <a:ea typeface="Arial"/>
                          <a:cs typeface="Arial"/>
                        </a:rPr>
                        <a:t>34.0</a:t>
                      </a:r>
                    </a:p>
                    <a:p>
                      <a:r>
                        <a:rPr sz="1575">
                          <a:solidFill>
                            <a:srgbClr val="122D45"/>
                          </a:solidFill>
                          <a:latin typeface="Arial"/>
                          <a:ea typeface="Arial"/>
                          <a:cs typeface="Arial"/>
                        </a:rPr>
                        <a:t>p &lt; .001</a:t>
                      </a:r>
                    </a:p>
                  </a:txBody>
                  <a:tcPr marL="133350" marR="114300" marT="9525" marB="9525" anchor="ctr">
                    <a:solidFill>
                      <a:srgbClr val="F0F4F6"/>
                    </a:solidFill>
                  </a:tcPr>
                </a:tc>
                <a:extLst>
                  <a:ext uri="{0D108BD9-81ED-4DB2-BD59-A6C34878D82A}">
                    <a16:rowId xmlns:a16="http://schemas.microsoft.com/office/drawing/2014/main" val="10002"/>
                  </a:ext>
                </a:extLst>
              </a:tr>
              <a:tr h="555625">
                <a:tc>
                  <a:txBody>
                    <a:bodyPr/>
                    <a:lstStyle/>
                    <a:p>
                      <a:r>
                        <a:rPr sz="1575">
                          <a:solidFill>
                            <a:srgbClr val="122D45"/>
                          </a:solidFill>
                          <a:latin typeface="Arial"/>
                          <a:ea typeface="Arial"/>
                          <a:cs typeface="Arial"/>
                        </a:rPr>
                        <a:t>Has a child</a:t>
                      </a:r>
                    </a:p>
                  </a:txBody>
                  <a:tcPr marL="133350" marR="114300" marT="9525" marB="9525" anchor="ctr">
                    <a:solidFill>
                      <a:srgbClr val="FFFFFF"/>
                    </a:solidFill>
                  </a:tcPr>
                </a:tc>
                <a:tc>
                  <a:txBody>
                    <a:bodyPr/>
                    <a:lstStyle/>
                    <a:p>
                      <a:r>
                        <a:rPr sz="1575">
                          <a:solidFill>
                            <a:srgbClr val="122D45"/>
                          </a:solidFill>
                          <a:latin typeface="Arial"/>
                          <a:ea typeface="Arial"/>
                          <a:cs typeface="Arial"/>
                        </a:rPr>
                        <a:t>−7.8</a:t>
                      </a:r>
                    </a:p>
                  </a:txBody>
                  <a:tcPr marL="133350" marR="114300" marT="9525" marB="9525" anchor="ctr">
                    <a:solidFill>
                      <a:srgbClr val="FFFFFF"/>
                    </a:solidFill>
                  </a:tcPr>
                </a:tc>
                <a:tc>
                  <a:txBody>
                    <a:bodyPr/>
                    <a:lstStyle/>
                    <a:p>
                      <a:r>
                        <a:rPr sz="1575">
                          <a:solidFill>
                            <a:srgbClr val="122D45"/>
                          </a:solidFill>
                          <a:latin typeface="Arial"/>
                          <a:ea typeface="Arial"/>
                          <a:cs typeface="Arial"/>
                        </a:rPr>
                        <a:t>[−20.3, 4.2]</a:t>
                      </a:r>
                    </a:p>
                  </a:txBody>
                  <a:tcPr marL="133350" marR="114300" marT="9525" marB="9525" anchor="ctr">
                    <a:solidFill>
                      <a:srgbClr val="FFFFFF"/>
                    </a:solidFill>
                  </a:tcPr>
                </a:tc>
                <a:tc>
                  <a:txBody>
                    <a:bodyPr/>
                    <a:lstStyle/>
                    <a:p>
                      <a:r>
                        <a:rPr sz="1575">
                          <a:solidFill>
                            <a:srgbClr val="122D45"/>
                          </a:solidFill>
                          <a:latin typeface="Arial"/>
                          <a:ea typeface="Arial"/>
                          <a:cs typeface="Arial"/>
                        </a:rPr>
                        <a:t>0.193</a:t>
                      </a:r>
                    </a:p>
                  </a:txBody>
                  <a:tcPr marL="133350" marR="114300" marT="9525" marB="9525" anchor="ctr">
                    <a:solidFill>
                      <a:srgbClr val="FFFFFF"/>
                    </a:solidFill>
                  </a:tcPr>
                </a:tc>
                <a:tc>
                  <a:txBody>
                    <a:bodyPr/>
                    <a:lstStyle/>
                    <a:p>
                      <a:r>
                        <a:rPr sz="1575">
                          <a:solidFill>
                            <a:srgbClr val="122D45"/>
                          </a:solidFill>
                          <a:latin typeface="Arial"/>
                          <a:ea typeface="Arial"/>
                          <a:cs typeface="Arial"/>
                        </a:rPr>
                        <a:t>1,161</a:t>
                      </a:r>
                    </a:p>
                  </a:txBody>
                  <a:tcPr marL="133350" marR="114300" marT="9525" marB="9525" anchor="ctr">
                    <a:solidFill>
                      <a:srgbClr val="FFFFFF"/>
                    </a:solidFill>
                  </a:tcPr>
                </a:tc>
                <a:tc>
                  <a:txBody>
                    <a:bodyPr/>
                    <a:lstStyle/>
                    <a:p>
                      <a:r>
                        <a:rPr sz="1575">
                          <a:solidFill>
                            <a:srgbClr val="122D45"/>
                          </a:solidFill>
                          <a:latin typeface="Arial"/>
                          <a:ea typeface="Arial"/>
                          <a:cs typeface="Arial"/>
                        </a:rPr>
                        <a:t>34.0</a:t>
                      </a:r>
                    </a:p>
                    <a:p>
                      <a:r>
                        <a:rPr sz="1575">
                          <a:solidFill>
                            <a:srgbClr val="122D45"/>
                          </a:solidFill>
                          <a:latin typeface="Arial"/>
                          <a:ea typeface="Arial"/>
                          <a:cs typeface="Arial"/>
                        </a:rPr>
                        <a:t>p &lt; .001</a:t>
                      </a:r>
                    </a:p>
                  </a:txBody>
                  <a:tcPr marL="133350" marR="114300" marT="9525" marB="9525" anchor="ctr">
                    <a:solidFill>
                      <a:srgbClr val="FFFFFF"/>
                    </a:solidFill>
                  </a:tcPr>
                </a:tc>
                <a:extLst>
                  <a:ext uri="{0D108BD9-81ED-4DB2-BD59-A6C34878D82A}">
                    <a16:rowId xmlns:a16="http://schemas.microsoft.com/office/drawing/2014/main" val="10003"/>
                  </a:ext>
                </a:extLst>
              </a:tr>
              <a:tr h="555625">
                <a:tc>
                  <a:txBody>
                    <a:bodyPr/>
                    <a:lstStyle/>
                    <a:p>
                      <a:r>
                        <a:rPr sz="1575">
                          <a:solidFill>
                            <a:srgbClr val="122D45"/>
                          </a:solidFill>
                          <a:latin typeface="Arial"/>
                          <a:ea typeface="Arial"/>
                          <a:cs typeface="Arial"/>
                        </a:rPr>
                        <a:t>Doing paid work</a:t>
                      </a:r>
                    </a:p>
                  </a:txBody>
                  <a:tcPr marL="133350" marR="114300" marT="9525" marB="9525" anchor="ctr">
                    <a:solidFill>
                      <a:srgbClr val="F0F4F6"/>
                    </a:solidFill>
                  </a:tcPr>
                </a:tc>
                <a:tc>
                  <a:txBody>
                    <a:bodyPr/>
                    <a:lstStyle/>
                    <a:p>
                      <a:r>
                        <a:rPr sz="1575">
                          <a:solidFill>
                            <a:srgbClr val="122D45"/>
                          </a:solidFill>
                          <a:latin typeface="Arial"/>
                          <a:ea typeface="Arial"/>
                          <a:cs typeface="Arial"/>
                        </a:rPr>
                        <a:t>−19.2</a:t>
                      </a:r>
                    </a:p>
                  </a:txBody>
                  <a:tcPr marL="133350" marR="114300" marT="9525" marB="9525" anchor="ctr">
                    <a:solidFill>
                      <a:srgbClr val="F0F4F6"/>
                    </a:solidFill>
                  </a:tcPr>
                </a:tc>
                <a:tc>
                  <a:txBody>
                    <a:bodyPr/>
                    <a:lstStyle/>
                    <a:p>
                      <a:r>
                        <a:rPr sz="1575">
                          <a:solidFill>
                            <a:srgbClr val="122D45"/>
                          </a:solidFill>
                          <a:latin typeface="Arial"/>
                          <a:ea typeface="Arial"/>
                          <a:cs typeface="Arial"/>
                        </a:rPr>
                        <a:t>[−46.1, 7.3]</a:t>
                      </a:r>
                    </a:p>
                  </a:txBody>
                  <a:tcPr marL="133350" marR="114300" marT="9525" marB="9525" anchor="ctr">
                    <a:solidFill>
                      <a:srgbClr val="F0F4F6"/>
                    </a:solidFill>
                  </a:tcPr>
                </a:tc>
                <a:tc>
                  <a:txBody>
                    <a:bodyPr/>
                    <a:lstStyle/>
                    <a:p>
                      <a:r>
                        <a:rPr sz="1575">
                          <a:solidFill>
                            <a:srgbClr val="122D45"/>
                          </a:solidFill>
                          <a:latin typeface="Arial"/>
                          <a:ea typeface="Arial"/>
                          <a:cs typeface="Arial"/>
                        </a:rPr>
                        <a:t>0.144</a:t>
                      </a:r>
                    </a:p>
                  </a:txBody>
                  <a:tcPr marL="133350" marR="114300" marT="9525" marB="9525" anchor="ctr">
                    <a:solidFill>
                      <a:srgbClr val="F0F4F6"/>
                    </a:solidFill>
                  </a:tcPr>
                </a:tc>
                <a:tc>
                  <a:txBody>
                    <a:bodyPr/>
                    <a:lstStyle/>
                    <a:p>
                      <a:r>
                        <a:rPr sz="1575">
                          <a:solidFill>
                            <a:srgbClr val="122D45"/>
                          </a:solidFill>
                          <a:latin typeface="Arial"/>
                          <a:ea typeface="Arial"/>
                          <a:cs typeface="Arial"/>
                        </a:rPr>
                        <a:t>1,162</a:t>
                      </a:r>
                    </a:p>
                  </a:txBody>
                  <a:tcPr marL="133350" marR="114300" marT="9525" marB="9525" anchor="ctr">
                    <a:solidFill>
                      <a:srgbClr val="F0F4F6"/>
                    </a:solidFill>
                  </a:tcPr>
                </a:tc>
                <a:tc>
                  <a:txBody>
                    <a:bodyPr/>
                    <a:lstStyle/>
                    <a:p>
                      <a:r>
                        <a:rPr sz="1575">
                          <a:solidFill>
                            <a:srgbClr val="122D45"/>
                          </a:solidFill>
                          <a:latin typeface="Arial"/>
                          <a:ea typeface="Arial"/>
                          <a:cs typeface="Arial"/>
                        </a:rPr>
                        <a:t>33.4</a:t>
                      </a:r>
                    </a:p>
                    <a:p>
                      <a:r>
                        <a:rPr sz="1575">
                          <a:solidFill>
                            <a:srgbClr val="122D45"/>
                          </a:solidFill>
                          <a:latin typeface="Arial"/>
                          <a:ea typeface="Arial"/>
                          <a:cs typeface="Arial"/>
                        </a:rPr>
                        <a:t>p &lt; .001</a:t>
                      </a:r>
                    </a:p>
                  </a:txBody>
                  <a:tcPr marL="133350" marR="114300" marT="9525" marB="9525" anchor="ctr">
                    <a:solidFill>
                      <a:srgbClr val="F0F4F6"/>
                    </a:solidFill>
                  </a:tcPr>
                </a:tc>
                <a:extLst>
                  <a:ext uri="{0D108BD9-81ED-4DB2-BD59-A6C34878D82A}">
                    <a16:rowId xmlns:a16="http://schemas.microsoft.com/office/drawing/2014/main" val="10004"/>
                  </a:ext>
                </a:extLst>
              </a:tr>
              <a:tr h="555625">
                <a:tc>
                  <a:txBody>
                    <a:bodyPr/>
                    <a:lstStyle/>
                    <a:p>
                      <a:r>
                        <a:rPr sz="1575">
                          <a:solidFill>
                            <a:srgbClr val="122D45"/>
                          </a:solidFill>
                          <a:latin typeface="Arial"/>
                          <a:ea typeface="Arial"/>
                          <a:cs typeface="Arial"/>
                        </a:rPr>
                        <a:t>Weekly hours worked</a:t>
                      </a:r>
                    </a:p>
                  </a:txBody>
                  <a:tcPr marL="133350" marR="114300" marT="9525" marB="9525" anchor="ctr">
                    <a:solidFill>
                      <a:srgbClr val="FFFFFF"/>
                    </a:solidFill>
                  </a:tcPr>
                </a:tc>
                <a:tc>
                  <a:txBody>
                    <a:bodyPr/>
                    <a:lstStyle/>
                    <a:p>
                      <a:r>
                        <a:rPr sz="1575">
                          <a:solidFill>
                            <a:srgbClr val="122D45"/>
                          </a:solidFill>
                          <a:latin typeface="Arial"/>
                          <a:ea typeface="Arial"/>
                          <a:cs typeface="Arial"/>
                        </a:rPr>
                        <a:t>−7.58</a:t>
                      </a:r>
                    </a:p>
                  </a:txBody>
                  <a:tcPr marL="133350" marR="114300" marT="9525" marB="9525" anchor="ctr">
                    <a:solidFill>
                      <a:srgbClr val="FFFFFF"/>
                    </a:solidFill>
                  </a:tcPr>
                </a:tc>
                <a:tc>
                  <a:txBody>
                    <a:bodyPr/>
                    <a:lstStyle/>
                    <a:p>
                      <a:r>
                        <a:rPr sz="1575">
                          <a:solidFill>
                            <a:srgbClr val="122D45"/>
                          </a:solidFill>
                          <a:latin typeface="Arial"/>
                          <a:ea typeface="Arial"/>
                          <a:cs typeface="Arial"/>
                        </a:rPr>
                        <a:t>[−15.91, 0.25]</a:t>
                      </a:r>
                    </a:p>
                  </a:txBody>
                  <a:tcPr marL="133350" marR="114300" marT="9525" marB="9525" anchor="ctr">
                    <a:solidFill>
                      <a:srgbClr val="FFFFFF"/>
                    </a:solidFill>
                  </a:tcPr>
                </a:tc>
                <a:tc>
                  <a:txBody>
                    <a:bodyPr/>
                    <a:lstStyle/>
                    <a:p>
                      <a:r>
                        <a:rPr sz="1575">
                          <a:solidFill>
                            <a:srgbClr val="122D45"/>
                          </a:solidFill>
                          <a:latin typeface="Arial"/>
                          <a:ea typeface="Arial"/>
                          <a:cs typeface="Arial"/>
                        </a:rPr>
                        <a:t>0.057</a:t>
                      </a:r>
                    </a:p>
                  </a:txBody>
                  <a:tcPr marL="133350" marR="114300" marT="9525" marB="9525" anchor="ctr">
                    <a:solidFill>
                      <a:srgbClr val="FFFFFF"/>
                    </a:solidFill>
                  </a:tcPr>
                </a:tc>
                <a:tc>
                  <a:txBody>
                    <a:bodyPr/>
                    <a:lstStyle/>
                    <a:p>
                      <a:r>
                        <a:rPr sz="1575">
                          <a:solidFill>
                            <a:srgbClr val="122D45"/>
                          </a:solidFill>
                          <a:latin typeface="Arial"/>
                          <a:ea typeface="Arial"/>
                          <a:cs typeface="Arial"/>
                        </a:rPr>
                        <a:t>1,162</a:t>
                      </a:r>
                    </a:p>
                  </a:txBody>
                  <a:tcPr marL="133350" marR="114300" marT="9525" marB="9525" anchor="ctr">
                    <a:solidFill>
                      <a:srgbClr val="FFFFFF"/>
                    </a:solidFill>
                  </a:tcPr>
                </a:tc>
                <a:tc>
                  <a:txBody>
                    <a:bodyPr/>
                    <a:lstStyle/>
                    <a:p>
                      <a:r>
                        <a:rPr sz="1575">
                          <a:solidFill>
                            <a:srgbClr val="122D45"/>
                          </a:solidFill>
                          <a:latin typeface="Arial"/>
                          <a:ea typeface="Arial"/>
                          <a:cs typeface="Arial"/>
                        </a:rPr>
                        <a:t>33.4</a:t>
                      </a:r>
                    </a:p>
                    <a:p>
                      <a:r>
                        <a:rPr sz="1575">
                          <a:solidFill>
                            <a:srgbClr val="122D45"/>
                          </a:solidFill>
                          <a:latin typeface="Arial"/>
                          <a:ea typeface="Arial"/>
                          <a:cs typeface="Arial"/>
                        </a:rPr>
                        <a:t>p &lt; .001</a:t>
                      </a:r>
                    </a:p>
                  </a:txBody>
                  <a:tcPr marL="133350" marR="114300" marT="9525" marB="9525" anchor="ctr">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86B88514-D8C2-41D8-A169-B4273A887ED8}"/>
              </a:ext>
            </a:extLst>
          </p:cNvPr>
          <p:cNvSpPr>
            <a:spLocks noGrp="1"/>
          </p:cNvSpPr>
          <p:nvPr/>
        </p:nvSpPr>
        <p:spPr>
          <a:xfrm>
            <a:off x="609600" y="5562600"/>
            <a:ext cx="10972800" cy="571500"/>
          </a:xfrm>
          <a:prstGeom prst="rect">
            <a:avLst/>
          </a:prstGeom>
          <a:noFill/>
          <a:ln w="0">
            <a:noFill/>
          </a:ln>
        </p:spPr>
        <p:txBody>
          <a:bodyPr anchor="ctr">
            <a:noAutofit/>
          </a:bodyPr>
          <a:lstStyle/>
          <a:p>
            <a:pPr>
              <a:defRPr sz="1950" b="1">
                <a:solidFill>
                  <a:srgbClr val="A56218"/>
                </a:solidFill>
                <a:latin typeface="Arial"/>
                <a:ea typeface="Arial"/>
                <a:cs typeface="Arial"/>
              </a:defRPr>
            </a:pPr>
            <a:r>
              <a:rPr sz="1950" b="1">
                <a:solidFill>
                  <a:srgbClr val="A56218"/>
                </a:solidFill>
                <a:latin typeface="Arial"/>
                <a:ea typeface="Arial"/>
                <a:cs typeface="Arial"/>
              </a:rPr>
              <a:t>Controlled hours AR includes zero. Controls do not establish instrument validity.</a:t>
            </a:r>
          </a:p>
        </p:txBody>
      </p:sp>
    </p:spTree>
    <p:extLst>
      <p:ext uri="{BB962C8B-B14F-4D97-AF65-F5344CB8AC3E}">
        <p14:creationId xmlns:p14="http://schemas.microsoft.com/office/powerpoint/2010/main" val="18705511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13134</Words>
  <Application>Microsoft Macintosh PowerPoint</Application>
  <DocSecurity>0</DocSecurity>
  <PresentationFormat>Widescreen</PresentationFormat>
  <Paragraphs>804</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Qin Xie</cp:lastModifiedBy>
  <cp:revision>2</cp:revision>
  <dcterms:created xsi:type="dcterms:W3CDTF">2026-09-22T21:53:06Z</dcterms:created>
  <dcterms:modified xsi:type="dcterms:W3CDTF">2026-09-22T22:08:39Z</dcterms:modified>
</cp:coreProperties>
</file>